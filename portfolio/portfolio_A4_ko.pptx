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fc8ddd85-f8ce-a3f8-8fe5-212784961f24}">
          <p14:sldIdLst>
            <p14:sldId id="256"/>
          </p14:sldIdLst>
        </p14:section>
        <p14:section name="목차" id="{fefa98ad-9ae6-f077-5ae7-9971933798c0}">
          <p14:sldIdLst>
            <p14:sldId id="257"/>
          </p14:sldIdLst>
        </p14:section>
        <p14:section name="01 터널" id="{fe7bbb2d-917e-e705-bf10-4fcd2214890f}">
          <p14:sldIdLst>
            <p14:sldId id="258"/>
            <p14:sldId id="259"/>
            <p14:sldId id="260"/>
            <p14:sldId id="261"/>
            <p14:sldId id="262"/>
            <p14:sldId id="263"/>
            <p14:sldId id="264"/>
            <p14:sldId id="265"/>
            <p14:sldId id="266"/>
          </p14:sldIdLst>
        </p14:section>
        <p14:section name="02 해리" id="{c1331ddb-029f-d4ce-1216-237b253e905b}">
          <p14:sldIdLst>
            <p14:sldId id="267"/>
            <p14:sldId id="268"/>
            <p14:sldId id="269"/>
            <p14:sldId id="270"/>
            <p14:sldId id="271"/>
            <p14:sldId id="272"/>
            <p14:sldId id="273"/>
            <p14:sldId id="274"/>
          </p14:sldIdLst>
        </p14:section>
        <p14:section name="마무리" id="{4447d33d-4f8b-d37b-2b5a-87f852a2c809}">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per">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7004304"/>
            <a:ext cx="4572000" cy="237744"/>
          </a:xfrm>
          <a:prstGeom prst="rect">
            <a:avLst/>
          </a:prstGeom>
          <a:noFill/>
          <a:ln/>
        </p:spPr>
        <p:txBody>
          <a:bodyPr wrap="square" rtlCol="0"/>
          <a:lstStyle>
            <a:lvl1pPr algn="l" indent="0" marL="0">
              <a:buNone/>
              <a:defRPr lang="en-US" sz="800" dirty="0">
                <a:solidFill>
                  <a:schemeClr val="accent3"/>
                </a:solidFill>
              </a:defRPr>
            </a:lvl1pPr>
          </a:lstStyle>
          <a:p>
            <a:pPr algn="l" indent="0" marL="0">
              <a:buNone/>
            </a:pPr>
            <a:endParaRPr lang="en-US" sz="800" dirty="0"/>
          </a:p>
        </p:txBody>
      </p:sp>
      <p:sp>
        <p:nvSpPr>
          <p:cNvPr id="25" name="Slide Number Placeholder 0"/>
          <p:cNvSpPr>
            <a:spLocks noGrp="1"/>
          </p:cNvSpPr>
          <p:nvPr>
            <p:ph type="sldNum" sz="quarter" idx="4294967295"/>
          </p:nvPr>
        </p:nvSpPr>
        <p:spPr>
          <a:xfrm>
            <a:off x="9592056" y="700430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Cambria"/>
                <a:ea typeface="Cambria"/>
                <a:cs typeface="Cambri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ight">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7004304"/>
            <a:ext cx="4572000" cy="237744"/>
          </a:xfrm>
          <a:prstGeom prst="rect">
            <a:avLst/>
          </a:prstGeom>
          <a:noFill/>
          <a:ln/>
        </p:spPr>
        <p:txBody>
          <a:bodyPr wrap="square" rtlCol="0"/>
          <a:lstStyle>
            <a:lvl1pPr algn="l" indent="0" marL="0">
              <a:buNone/>
              <a:defRPr lang="en-US" sz="800" dirty="0">
                <a:solidFill>
                  <a:schemeClr val="accent5"/>
                </a:solidFill>
              </a:defRPr>
            </a:lvl1pPr>
          </a:lstStyle>
          <a:p>
            <a:pPr algn="l" indent="0" marL="0">
              <a:buNone/>
            </a:pPr>
            <a:endParaRPr lang="en-US" sz="800" dirty="0"/>
          </a:p>
        </p:txBody>
      </p:sp>
      <p:sp>
        <p:nvSpPr>
          <p:cNvPr id="25" name="Slide Number Placeholder 0"/>
          <p:cNvSpPr>
            <a:spLocks noGrp="1"/>
          </p:cNvSpPr>
          <p:nvPr>
            <p:ph type="sldNum" sz="quarter" idx="4294967295"/>
          </p:nvPr>
        </p:nvSpPr>
        <p:spPr>
          <a:xfrm>
            <a:off x="9592056" y="700430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5"/>
                </a:solidFill>
                <a:latin typeface="Cambria"/>
                <a:ea typeface="Cambria"/>
                <a:cs typeface="Cambria"/>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aper Plain">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Night Plain">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592056" y="700430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Cambria"/>
                <a:ea typeface="Cambria"/>
                <a:cs typeface="Camb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5.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g"/><Relationship Id="rId3" Type="http://schemas.openxmlformats.org/officeDocument/2006/relationships/slideLayout" Target="../slideLayouts/slideLayout5.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566928"/>
            <a:ext cx="5486400" cy="237744"/>
          </a:xfrm>
          <a:prstGeom prst="rect">
            <a:avLst/>
          </a:prstGeom>
          <a:noFill/>
          <a:ln/>
        </p:spPr>
        <p:txBody>
          <a:bodyPr wrap="square" lIns="0" tIns="0" rIns="0" bIns="0" rtlCol="0" anchor="ctr"/>
          <a:lstStyle/>
          <a:p>
            <a:pPr indent="0" marL="0">
              <a:buNone/>
            </a:pPr>
            <a:r>
              <a:rPr lang="en-US" sz="900" spc="600" kern="0" dirty="0">
                <a:solidFill>
                  <a:schemeClr val="accent5"/>
                </a:solidFill>
                <a:latin typeface="Cambria" pitchFamily="34" charset="0"/>
                <a:ea typeface="Cambria" pitchFamily="34" charset="-122"/>
                <a:cs typeface="Cambria" pitchFamily="34" charset="-120"/>
              </a:rPr>
              <a:t>PHOTOGRAPHY PORTFOLIO</a:t>
            </a:r>
            <a:endParaRPr lang="en-US" sz="900" dirty="0"/>
          </a:p>
        </p:txBody>
      </p:sp>
      <p:sp>
        <p:nvSpPr>
          <p:cNvPr id="3" name="Title"/>
          <p:cNvSpPr txBox="1"/>
          <p:nvPr/>
        </p:nvSpPr>
        <p:spPr>
          <a:xfrm>
            <a:off x="548640" y="914400"/>
            <a:ext cx="6400800" cy="1143000"/>
          </a:xfrm>
          <a:prstGeom prst="rect">
            <a:avLst/>
          </a:prstGeom>
          <a:noFill/>
          <a:ln/>
        </p:spPr>
        <p:txBody>
          <a:bodyPr wrap="square" lIns="0" tIns="0" rIns="0" bIns="0" rtlCol="0" anchor="b"/>
          <a:lstStyle/>
          <a:p>
            <a:pPr indent="0" marL="0">
              <a:buNone/>
            </a:pPr>
            <a:r>
              <a:rPr lang="en-US" sz="5200" b="1" dirty="0">
                <a:solidFill>
                  <a:schemeClr val="bg1"/>
                </a:solidFill>
              </a:rPr>
              <a:t>포 트 폴 리 오</a:t>
            </a:r>
            <a:endParaRPr lang="en-US" sz="5200" dirty="0"/>
          </a:p>
        </p:txBody>
      </p:sp>
      <p:pic>
        <p:nvPicPr>
          <p:cNvPr id="4" name="Cover — Tunnel" descr="Cover — Tunnel">    </p:cNvPr>
          <p:cNvPicPr>
            <a:picLocks noChangeAspect="1"/>
          </p:cNvPicPr>
          <p:nvPr/>
        </p:nvPicPr>
        <p:blipFill>
          <a:blip r:embed="rId1"/>
          <a:stretch>
            <a:fillRect/>
          </a:stretch>
        </p:blipFill>
        <p:spPr>
          <a:xfrm>
            <a:off x="0" y="2514600"/>
            <a:ext cx="6629400" cy="2926080"/>
          </a:xfrm>
          <a:prstGeom prst="rect">
            <a:avLst/>
          </a:prstGeom>
        </p:spPr>
      </p:pic>
      <p:pic>
        <p:nvPicPr>
          <p:cNvPr id="5" name="Cover — Dissociation" descr="Cover — Dissociation">    </p:cNvPr>
          <p:cNvPicPr>
            <a:picLocks noChangeAspect="1"/>
          </p:cNvPicPr>
          <p:nvPr/>
        </p:nvPicPr>
        <p:blipFill>
          <a:blip r:embed="rId2"/>
          <a:stretch>
            <a:fillRect/>
          </a:stretch>
        </p:blipFill>
        <p:spPr>
          <a:xfrm>
            <a:off x="6702552" y="2514600"/>
            <a:ext cx="3986784" cy="2926080"/>
          </a:xfrm>
          <a:prstGeom prst="rect">
            <a:avLst/>
          </a:prstGeom>
        </p:spPr>
      </p:pic>
      <p:sp>
        <p:nvSpPr>
          <p:cNvPr id="6" name="터널 tag"/>
          <p:cNvSpPr txBox="1"/>
          <p:nvPr/>
        </p:nvSpPr>
        <p:spPr>
          <a:xfrm>
            <a:off x="548640" y="5715000"/>
            <a:ext cx="3840480" cy="329184"/>
          </a:xfrm>
          <a:prstGeom prst="rect">
            <a:avLst/>
          </a:prstGeom>
          <a:noFill/>
          <a:ln/>
        </p:spPr>
        <p:txBody>
          <a:bodyPr wrap="square" lIns="0" tIns="0" rIns="0" bIns="0" rtlCol="0" anchor="ctr"/>
          <a:lstStyle/>
          <a:p>
            <a:pPr indent="0" marL="0">
              <a:buNone/>
            </a:pPr>
            <a:r>
              <a:rPr lang="en-US" sz="1300" b="1" dirty="0">
                <a:solidFill>
                  <a:schemeClr val="accent1"/>
                </a:solidFill>
                <a:latin typeface="Cambria" pitchFamily="34" charset="0"/>
                <a:ea typeface="Cambria" pitchFamily="34" charset="-122"/>
                <a:cs typeface="Cambria" pitchFamily="34" charset="-120"/>
              </a:rPr>
              <a:t>01   </a:t>
            </a:r>
            <a:pPr indent="0" marL="0">
              <a:buNone/>
            </a:pPr>
            <a:r>
              <a:rPr lang="en-US" sz="1300" b="1" dirty="0">
                <a:solidFill>
                  <a:schemeClr val="bg1"/>
                </a:solidFill>
              </a:rPr>
              <a:t>《터널》</a:t>
            </a:r>
            <a:pPr indent="0" marL="0">
              <a:buNone/>
            </a:pPr>
            <a:r>
              <a:rPr lang="en-US" sz="1300" i="1" dirty="0">
                <a:solidFill>
                  <a:schemeClr val="accent5"/>
                </a:solidFill>
                <a:latin typeface="Cambria" pitchFamily="34" charset="0"/>
                <a:ea typeface="Cambria" pitchFamily="34" charset="-122"/>
                <a:cs typeface="Cambria" pitchFamily="34" charset="-120"/>
              </a:rPr>
              <a:t>  Tunnel</a:t>
            </a:r>
            <a:endParaRPr lang="en-US" sz="1300" dirty="0"/>
          </a:p>
        </p:txBody>
      </p:sp>
      <p:sp>
        <p:nvSpPr>
          <p:cNvPr id="7" name="터널 line"/>
          <p:cNvSpPr txBox="1"/>
          <p:nvPr/>
        </p:nvSpPr>
        <p:spPr>
          <a:xfrm>
            <a:off x="548640" y="6108192"/>
            <a:ext cx="3840480" cy="274320"/>
          </a:xfrm>
          <a:prstGeom prst="rect">
            <a:avLst/>
          </a:prstGeom>
          <a:noFill/>
          <a:ln/>
        </p:spPr>
        <p:txBody>
          <a:bodyPr wrap="square" lIns="0" tIns="0" rIns="0" bIns="0" rtlCol="0" anchor="t"/>
          <a:lstStyle/>
          <a:p>
            <a:pPr indent="0" marL="0">
              <a:buNone/>
            </a:pPr>
            <a:r>
              <a:rPr lang="en-US" sz="950" dirty="0">
                <a:solidFill>
                  <a:schemeClr val="accent5"/>
                </a:solidFill>
              </a:rPr>
              <a:t>돌아갈 수도, 선뜻 나아갈 수도 없는 순간</a:t>
            </a:r>
            <a:endParaRPr lang="en-US" sz="950" dirty="0"/>
          </a:p>
        </p:txBody>
      </p:sp>
      <p:sp>
        <p:nvSpPr>
          <p:cNvPr id="8" name="해리 tag"/>
          <p:cNvSpPr txBox="1"/>
          <p:nvPr/>
        </p:nvSpPr>
        <p:spPr>
          <a:xfrm>
            <a:off x="7022592" y="5715000"/>
            <a:ext cx="3840480" cy="329184"/>
          </a:xfrm>
          <a:prstGeom prst="rect">
            <a:avLst/>
          </a:prstGeom>
          <a:noFill/>
          <a:ln/>
        </p:spPr>
        <p:txBody>
          <a:bodyPr wrap="square" lIns="0" tIns="0" rIns="0" bIns="0" rtlCol="0" anchor="ctr"/>
          <a:lstStyle/>
          <a:p>
            <a:pPr indent="0" marL="0">
              <a:buNone/>
            </a:pPr>
            <a:r>
              <a:rPr lang="en-US" sz="1300" b="1" dirty="0">
                <a:solidFill>
                  <a:schemeClr val="accent2"/>
                </a:solidFill>
                <a:latin typeface="Cambria" pitchFamily="34" charset="0"/>
                <a:ea typeface="Cambria" pitchFamily="34" charset="-122"/>
                <a:cs typeface="Cambria" pitchFamily="34" charset="-120"/>
              </a:rPr>
              <a:t>02   </a:t>
            </a:r>
            <a:pPr indent="0" marL="0">
              <a:buNone/>
            </a:pPr>
            <a:r>
              <a:rPr lang="en-US" sz="1300" b="1" dirty="0">
                <a:solidFill>
                  <a:schemeClr val="bg1"/>
                </a:solidFill>
              </a:rPr>
              <a:t>《해리》</a:t>
            </a:r>
            <a:pPr indent="0" marL="0">
              <a:buNone/>
            </a:pPr>
            <a:r>
              <a:rPr lang="en-US" sz="1300" i="1" dirty="0">
                <a:solidFill>
                  <a:schemeClr val="accent5"/>
                </a:solidFill>
                <a:latin typeface="Cambria" pitchFamily="34" charset="0"/>
                <a:ea typeface="Cambria" pitchFamily="34" charset="-122"/>
                <a:cs typeface="Cambria" pitchFamily="34" charset="-120"/>
              </a:rPr>
              <a:t>  Dissociation</a:t>
            </a:r>
            <a:endParaRPr lang="en-US" sz="1300" dirty="0"/>
          </a:p>
        </p:txBody>
      </p:sp>
      <p:sp>
        <p:nvSpPr>
          <p:cNvPr id="9" name="해리 line"/>
          <p:cNvSpPr txBox="1"/>
          <p:nvPr/>
        </p:nvSpPr>
        <p:spPr>
          <a:xfrm>
            <a:off x="7022592" y="6108192"/>
            <a:ext cx="3840480" cy="274320"/>
          </a:xfrm>
          <a:prstGeom prst="rect">
            <a:avLst/>
          </a:prstGeom>
          <a:noFill/>
          <a:ln/>
        </p:spPr>
        <p:txBody>
          <a:bodyPr wrap="square" lIns="0" tIns="0" rIns="0" bIns="0" rtlCol="0" anchor="t"/>
          <a:lstStyle/>
          <a:p>
            <a:pPr indent="0" marL="0">
              <a:buNone/>
            </a:pPr>
            <a:r>
              <a:rPr lang="en-US" sz="950" dirty="0">
                <a:solidFill>
                  <a:schemeClr val="accent5"/>
                </a:solidFill>
              </a:rPr>
              <a:t>현실과 자신 사이에 보이지 않는 거리</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7004304"/>
            <a:ext cx="4572000" cy="237744"/>
          </a:xfrm>
          <a:prstGeom prst="rect">
            <a:avLst/>
          </a:prstGeom>
          <a:noFill/>
          <a:ln/>
        </p:spPr>
        <p:txBody>
          <a:bodyPr wrap="square" lIns="0" tIns="0" rIns="0" bIns="0" rtlCol="0" anchor="ctr"/>
          <a:lstStyle/>
          <a:p>
            <a:pPr algn="l" indent="0" marL="0">
              <a:buNone/>
            </a:pPr>
            <a:r>
              <a:rPr lang="en-US" sz="800" b="1" dirty="0">
                <a:solidFill>
                  <a:schemeClr val="tx1"/>
                </a:solidFill>
              </a:rPr>
              <a:t>목차   </a:t>
            </a:r>
            <a:pPr algn="l" indent="0" marL="0">
              <a:buNone/>
            </a:pPr>
            <a:r>
              <a:rPr lang="en-US" sz="800" spc="300" kern="0" dirty="0">
                <a:solidFill>
                  <a:schemeClr val="accent3"/>
                </a:solidFill>
                <a:latin typeface="Cambria" pitchFamily="34" charset="0"/>
                <a:ea typeface="Cambria" pitchFamily="34" charset="-122"/>
                <a:cs typeface="Cambria" pitchFamily="34" charset="-120"/>
              </a:rPr>
              <a:t>CONTENTS</a:t>
            </a:r>
            <a:endParaRPr lang="en-US" sz="800" dirty="0"/>
          </a:p>
        </p:txBody>
      </p:sp>
      <p:sp>
        <p:nvSpPr>
          <p:cNvPr id="3" name="Dark half"/>
          <p:cNvSpPr/>
          <p:nvPr/>
        </p:nvSpPr>
        <p:spPr>
          <a:xfrm>
            <a:off x="5344668" y="0"/>
            <a:ext cx="5344668" cy="7562088"/>
          </a:xfrm>
          <a:prstGeom prst="rect">
            <a:avLst/>
          </a:prstGeom>
          <a:solidFill>
            <a:schemeClr val="tx2"/>
          </a:solidFill>
          <a:ln/>
        </p:spPr>
      </p:sp>
      <p:sp>
        <p:nvSpPr>
          <p:cNvPr id="4" name="터널 number"/>
          <p:cNvSpPr txBox="1"/>
          <p:nvPr/>
        </p:nvSpPr>
        <p:spPr>
          <a:xfrm>
            <a:off x="548640" y="548640"/>
            <a:ext cx="1828800" cy="868680"/>
          </a:xfrm>
          <a:prstGeom prst="rect">
            <a:avLst/>
          </a:prstGeom>
          <a:noFill/>
          <a:ln/>
        </p:spPr>
        <p:txBody>
          <a:bodyPr wrap="square" lIns="0" tIns="0" rIns="0" bIns="0" rtlCol="0" anchor="b"/>
          <a:lstStyle/>
          <a:p>
            <a:pPr indent="0" marL="0">
              <a:buNone/>
            </a:pPr>
            <a:r>
              <a:rPr lang="en-US" sz="6000" dirty="0">
                <a:solidFill>
                  <a:schemeClr val="accent1"/>
                </a:solidFill>
                <a:latin typeface="Cambria" pitchFamily="34" charset="0"/>
                <a:ea typeface="Cambria" pitchFamily="34" charset="-122"/>
                <a:cs typeface="Cambria" pitchFamily="34" charset="-120"/>
              </a:rPr>
              <a:t>01</a:t>
            </a:r>
            <a:endParaRPr lang="en-US" sz="6000" dirty="0"/>
          </a:p>
        </p:txBody>
      </p:sp>
      <p:sp>
        <p:nvSpPr>
          <p:cNvPr id="5" name="터널 title"/>
          <p:cNvSpPr txBox="1"/>
          <p:nvPr/>
        </p:nvSpPr>
        <p:spPr>
          <a:xfrm>
            <a:off x="548640" y="1600200"/>
            <a:ext cx="4247388" cy="502920"/>
          </a:xfrm>
          <a:prstGeom prst="rect">
            <a:avLst/>
          </a:prstGeom>
          <a:noFill/>
          <a:ln/>
        </p:spPr>
        <p:txBody>
          <a:bodyPr wrap="square" lIns="0" tIns="0" rIns="0" bIns="0" rtlCol="0" anchor="ctr"/>
          <a:lstStyle/>
          <a:p>
            <a:pPr indent="0" marL="0">
              <a:buNone/>
            </a:pPr>
            <a:r>
              <a:rPr lang="en-US" sz="2400" b="1" dirty="0">
                <a:solidFill>
                  <a:schemeClr val="tx1"/>
                </a:solidFill>
              </a:rPr>
              <a:t>《터널》</a:t>
            </a:r>
            <a:pPr indent="0" marL="0">
              <a:buNone/>
            </a:pPr>
            <a:r>
              <a:rPr lang="en-US" sz="1300" i="1" dirty="0">
                <a:solidFill>
                  <a:schemeClr val="accent3"/>
                </a:solidFill>
                <a:latin typeface="Cambria" pitchFamily="34" charset="0"/>
                <a:ea typeface="Cambria" pitchFamily="34" charset="-122"/>
                <a:cs typeface="Cambria" pitchFamily="34" charset="-120"/>
              </a:rPr>
              <a:t>  Tunnel</a:t>
            </a:r>
            <a:endParaRPr lang="en-US" sz="2400" dirty="0"/>
          </a:p>
        </p:txBody>
      </p:sp>
      <p:sp>
        <p:nvSpPr>
          <p:cNvPr id="6" name="터널 line"/>
          <p:cNvSpPr txBox="1"/>
          <p:nvPr/>
        </p:nvSpPr>
        <p:spPr>
          <a:xfrm>
            <a:off x="548640" y="2194560"/>
            <a:ext cx="4247388" cy="292608"/>
          </a:xfrm>
          <a:prstGeom prst="rect">
            <a:avLst/>
          </a:prstGeom>
          <a:noFill/>
          <a:ln/>
        </p:spPr>
        <p:txBody>
          <a:bodyPr wrap="square" lIns="0" tIns="0" rIns="0" bIns="0" rtlCol="0" anchor="t"/>
          <a:lstStyle/>
          <a:p>
            <a:pPr indent="0" marL="0">
              <a:buNone/>
            </a:pPr>
            <a:r>
              <a:rPr lang="en-US" sz="1100" dirty="0">
                <a:solidFill>
                  <a:schemeClr val="tx1"/>
                </a:solidFill>
              </a:rPr>
              <a:t>돌아갈 수도, 선뜻 나아갈 수도 없는 순간</a:t>
            </a:r>
            <a:endParaRPr lang="en-US" sz="1100" dirty="0"/>
          </a:p>
        </p:txBody>
      </p:sp>
      <p:sp>
        <p:nvSpPr>
          <p:cNvPr id="7" name="터널 pages"/>
          <p:cNvSpPr txBox="1"/>
          <p:nvPr/>
        </p:nvSpPr>
        <p:spPr>
          <a:xfrm>
            <a:off x="548640" y="2542032"/>
            <a:ext cx="1828800" cy="256032"/>
          </a:xfrm>
          <a:prstGeom prst="rect">
            <a:avLst/>
          </a:prstGeom>
          <a:noFill/>
          <a:ln/>
        </p:spPr>
        <p:txBody>
          <a:bodyPr wrap="square" lIns="0" tIns="0" rIns="0" bIns="0" rtlCol="0" anchor="t"/>
          <a:lstStyle/>
          <a:p>
            <a:pPr indent="0" marL="0">
              <a:buNone/>
            </a:pPr>
            <a:r>
              <a:rPr lang="en-US" sz="900" dirty="0">
                <a:solidFill>
                  <a:schemeClr val="accent3"/>
                </a:solidFill>
                <a:latin typeface="Cambria" pitchFamily="34" charset="0"/>
                <a:ea typeface="Cambria" pitchFamily="34" charset="-122"/>
                <a:cs typeface="Cambria" pitchFamily="34" charset="-120"/>
              </a:rPr>
              <a:t>p. 03 — 11</a:t>
            </a:r>
            <a:endParaRPr lang="en-US" sz="900" dirty="0"/>
          </a:p>
        </p:txBody>
      </p:sp>
      <p:pic>
        <p:nvPicPr>
          <p:cNvPr id="8" name="터널 preview" descr="터널 preview">    </p:cNvPr>
          <p:cNvPicPr>
            <a:picLocks noChangeAspect="1"/>
          </p:cNvPicPr>
          <p:nvPr/>
        </p:nvPicPr>
        <p:blipFill>
          <a:blip r:embed="rId1"/>
          <a:stretch>
            <a:fillRect/>
          </a:stretch>
        </p:blipFill>
        <p:spPr>
          <a:xfrm>
            <a:off x="548640" y="3520440"/>
            <a:ext cx="4247388" cy="2831897"/>
          </a:xfrm>
          <a:prstGeom prst="rect">
            <a:avLst/>
          </a:prstGeom>
        </p:spPr>
      </p:pic>
      <p:sp>
        <p:nvSpPr>
          <p:cNvPr id="9" name="해리 number"/>
          <p:cNvSpPr txBox="1"/>
          <p:nvPr/>
        </p:nvSpPr>
        <p:spPr>
          <a:xfrm>
            <a:off x="5893308" y="548640"/>
            <a:ext cx="1828800" cy="868680"/>
          </a:xfrm>
          <a:prstGeom prst="rect">
            <a:avLst/>
          </a:prstGeom>
          <a:noFill/>
          <a:ln/>
        </p:spPr>
        <p:txBody>
          <a:bodyPr wrap="square" lIns="0" tIns="0" rIns="0" bIns="0" rtlCol="0" anchor="b"/>
          <a:lstStyle/>
          <a:p>
            <a:pPr indent="0" marL="0">
              <a:buNone/>
            </a:pPr>
            <a:r>
              <a:rPr lang="en-US" sz="6000" dirty="0">
                <a:solidFill>
                  <a:schemeClr val="accent2"/>
                </a:solidFill>
                <a:latin typeface="Cambria" pitchFamily="34" charset="0"/>
                <a:ea typeface="Cambria" pitchFamily="34" charset="-122"/>
                <a:cs typeface="Cambria" pitchFamily="34" charset="-120"/>
              </a:rPr>
              <a:t>02</a:t>
            </a:r>
            <a:endParaRPr lang="en-US" sz="6000" dirty="0"/>
          </a:p>
        </p:txBody>
      </p:sp>
      <p:sp>
        <p:nvSpPr>
          <p:cNvPr id="10" name="해리 title"/>
          <p:cNvSpPr txBox="1"/>
          <p:nvPr/>
        </p:nvSpPr>
        <p:spPr>
          <a:xfrm>
            <a:off x="5893308" y="1600200"/>
            <a:ext cx="4247388" cy="502920"/>
          </a:xfrm>
          <a:prstGeom prst="rect">
            <a:avLst/>
          </a:prstGeom>
          <a:noFill/>
          <a:ln/>
        </p:spPr>
        <p:txBody>
          <a:bodyPr wrap="square" lIns="0" tIns="0" rIns="0" bIns="0" rtlCol="0" anchor="ctr"/>
          <a:lstStyle/>
          <a:p>
            <a:pPr indent="0" marL="0">
              <a:buNone/>
            </a:pPr>
            <a:r>
              <a:rPr lang="en-US" sz="2400" b="1" dirty="0">
                <a:solidFill>
                  <a:schemeClr val="bg1"/>
                </a:solidFill>
              </a:rPr>
              <a:t>《해리》</a:t>
            </a:r>
            <a:pPr indent="0" marL="0">
              <a:buNone/>
            </a:pPr>
            <a:r>
              <a:rPr lang="en-US" sz="1300" i="1" dirty="0">
                <a:solidFill>
                  <a:schemeClr val="accent5"/>
                </a:solidFill>
                <a:latin typeface="Cambria" pitchFamily="34" charset="0"/>
                <a:ea typeface="Cambria" pitchFamily="34" charset="-122"/>
                <a:cs typeface="Cambria" pitchFamily="34" charset="-120"/>
              </a:rPr>
              <a:t>  Dissociation</a:t>
            </a:r>
            <a:endParaRPr lang="en-US" sz="2400" dirty="0"/>
          </a:p>
        </p:txBody>
      </p:sp>
      <p:sp>
        <p:nvSpPr>
          <p:cNvPr id="11" name="해리 line"/>
          <p:cNvSpPr txBox="1"/>
          <p:nvPr/>
        </p:nvSpPr>
        <p:spPr>
          <a:xfrm>
            <a:off x="5893308" y="2194560"/>
            <a:ext cx="4247388" cy="292608"/>
          </a:xfrm>
          <a:prstGeom prst="rect">
            <a:avLst/>
          </a:prstGeom>
          <a:noFill/>
          <a:ln/>
        </p:spPr>
        <p:txBody>
          <a:bodyPr wrap="square" lIns="0" tIns="0" rIns="0" bIns="0" rtlCol="0" anchor="t"/>
          <a:lstStyle/>
          <a:p>
            <a:pPr indent="0" marL="0">
              <a:buNone/>
            </a:pPr>
            <a:r>
              <a:rPr lang="en-US" sz="1100" dirty="0">
                <a:solidFill>
                  <a:schemeClr val="accent6"/>
                </a:solidFill>
              </a:rPr>
              <a:t>현실과 자신 사이에 보이지 않는 거리</a:t>
            </a:r>
            <a:endParaRPr lang="en-US" sz="1100" dirty="0"/>
          </a:p>
        </p:txBody>
      </p:sp>
      <p:sp>
        <p:nvSpPr>
          <p:cNvPr id="12" name="해리 pages"/>
          <p:cNvSpPr txBox="1"/>
          <p:nvPr/>
        </p:nvSpPr>
        <p:spPr>
          <a:xfrm>
            <a:off x="5893308" y="2542032"/>
            <a:ext cx="1828800" cy="256032"/>
          </a:xfrm>
          <a:prstGeom prst="rect">
            <a:avLst/>
          </a:prstGeom>
          <a:noFill/>
          <a:ln/>
        </p:spPr>
        <p:txBody>
          <a:bodyPr wrap="square" lIns="0" tIns="0" rIns="0" bIns="0" rtlCol="0" anchor="t"/>
          <a:lstStyle/>
          <a:p>
            <a:pPr indent="0" marL="0">
              <a:buNone/>
            </a:pPr>
            <a:r>
              <a:rPr lang="en-US" sz="900" dirty="0">
                <a:solidFill>
                  <a:schemeClr val="accent5"/>
                </a:solidFill>
                <a:latin typeface="Cambria" pitchFamily="34" charset="0"/>
                <a:ea typeface="Cambria" pitchFamily="34" charset="-122"/>
                <a:cs typeface="Cambria" pitchFamily="34" charset="-120"/>
              </a:rPr>
              <a:t>p. 12 — 19</a:t>
            </a:r>
            <a:endParaRPr lang="en-US" sz="900" dirty="0"/>
          </a:p>
        </p:txBody>
      </p:sp>
      <p:pic>
        <p:nvPicPr>
          <p:cNvPr id="13" name="해리 preview" descr="해리 preview">    </p:cNvPr>
          <p:cNvPicPr>
            <a:picLocks noChangeAspect="1"/>
          </p:cNvPicPr>
          <p:nvPr/>
        </p:nvPicPr>
        <p:blipFill>
          <a:blip r:embed="rId2"/>
          <a:stretch>
            <a:fillRect/>
          </a:stretch>
        </p:blipFill>
        <p:spPr>
          <a:xfrm>
            <a:off x="5893308" y="3520440"/>
            <a:ext cx="4247388" cy="2831897"/>
          </a:xfrm>
          <a:prstGeom prst="rect">
            <a:avLst/>
          </a:prstGeom>
        </p:spPr>
      </p:pic>
      <p:sp>
        <p:nvSpPr>
          <p:cNvPr id="25" name="Slide Number Placeholder 0"/>
          <p:cNvSpPr>
            <a:spLocks noGrp="1"/>
          </p:cNvSpPr>
          <p:nvPr>
            <p:ph type="sldNum" sz="quarter" idx="4294967295"/>
          </p:nvPr>
        </p:nvSpPr>
        <p:spPr>
          <a:xfrm>
            <a:off x="9592056" y="700430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Cambria"/>
                <a:ea typeface="Cambria"/>
                <a:cs typeface="Camb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Tunnel — opener" descr="Tunnel — opener">    </p:cNvPr>
          <p:cNvPicPr>
            <a:picLocks noChangeAspect="1"/>
          </p:cNvPicPr>
          <p:nvPr/>
        </p:nvPicPr>
        <p:blipFill>
          <a:blip r:embed="rId1"/>
          <a:stretch>
            <a:fillRect/>
          </a:stretch>
        </p:blipFill>
        <p:spPr>
          <a:xfrm>
            <a:off x="6675120" y="0"/>
            <a:ext cx="4014216" cy="7562088"/>
          </a:xfrm>
          <a:prstGeom prst="rect">
            <a:avLst/>
          </a:prstGeom>
        </p:spPr>
      </p:pic>
      <p:sp>
        <p:nvSpPr>
          <p:cNvPr id="3" name="Series label"/>
          <p:cNvSpPr txBox="1"/>
          <p:nvPr/>
        </p:nvSpPr>
        <p:spPr>
          <a:xfrm>
            <a:off x="1874520" y="2148840"/>
            <a:ext cx="2743200" cy="274320"/>
          </a:xfrm>
          <a:prstGeom prst="rect">
            <a:avLst/>
          </a:prstGeom>
          <a:noFill/>
          <a:ln/>
        </p:spPr>
        <p:txBody>
          <a:bodyPr wrap="square" lIns="0" tIns="0" rIns="0" bIns="0" rtlCol="0" anchor="ctr"/>
          <a:lstStyle/>
          <a:p>
            <a:pPr indent="0" marL="0">
              <a:buNone/>
            </a:pPr>
            <a:r>
              <a:rPr lang="en-US" sz="1000" b="1" spc="500" kern="0" dirty="0">
                <a:solidFill>
                  <a:schemeClr val="accent1"/>
                </a:solidFill>
                <a:latin typeface="Cambria" pitchFamily="34" charset="0"/>
                <a:ea typeface="Cambria" pitchFamily="34" charset="-122"/>
                <a:cs typeface="Cambria" pitchFamily="34" charset="-120"/>
              </a:rPr>
              <a:t>SERIES 01</a:t>
            </a:r>
            <a:endParaRPr lang="en-US" sz="1000" dirty="0"/>
          </a:p>
        </p:txBody>
      </p:sp>
      <p:pic>
        <p:nvPicPr>
          <p:cNvPr id="4" name="Title motion streak" descr="/tmp/claude-0/-home-user-smartview/28b45ce5-40de-5ee4-b30a-3c030ca5890e/scratchpad/img/x_title_streak.png">    </p:cNvPr>
          <p:cNvPicPr>
            <a:picLocks noChangeAspect="1"/>
          </p:cNvPicPr>
          <p:nvPr/>
        </p:nvPicPr>
        <p:blipFill>
          <a:blip r:embed="rId2"/>
          <a:stretch>
            <a:fillRect/>
          </a:stretch>
        </p:blipFill>
        <p:spPr>
          <a:xfrm>
            <a:off x="182880" y="2468880"/>
            <a:ext cx="5852160" cy="1920240"/>
          </a:xfrm>
          <a:prstGeom prst="rect">
            <a:avLst/>
          </a:prstGeom>
        </p:spPr>
      </p:pic>
      <p:sp>
        <p:nvSpPr>
          <p:cNvPr id="5" name="Title"/>
          <p:cNvSpPr txBox="1"/>
          <p:nvPr/>
        </p:nvSpPr>
        <p:spPr>
          <a:xfrm>
            <a:off x="1828800" y="2468880"/>
            <a:ext cx="4206240" cy="1920240"/>
          </a:xfrm>
          <a:prstGeom prst="rect">
            <a:avLst/>
          </a:prstGeom>
          <a:noFill/>
          <a:ln/>
        </p:spPr>
        <p:txBody>
          <a:bodyPr wrap="square" lIns="0" tIns="0" rIns="0" bIns="0" rtlCol="0" anchor="ctr"/>
          <a:lstStyle/>
          <a:p>
            <a:pPr indent="0" marL="0">
              <a:buNone/>
            </a:pPr>
            <a:r>
              <a:rPr lang="en-US" sz="13200" b="1" dirty="0">
                <a:solidFill>
                  <a:schemeClr val="tx1"/>
                </a:solidFill>
              </a:rPr>
              <a:t>터널</a:t>
            </a:r>
            <a:endParaRPr lang="en-US" sz="13200" dirty="0"/>
          </a:p>
        </p:txBody>
      </p:sp>
      <p:sp>
        <p:nvSpPr>
          <p:cNvPr id="6" name="English title"/>
          <p:cNvSpPr txBox="1"/>
          <p:nvPr/>
        </p:nvSpPr>
        <p:spPr>
          <a:xfrm>
            <a:off x="1874520" y="4434840"/>
            <a:ext cx="3657600" cy="457200"/>
          </a:xfrm>
          <a:prstGeom prst="rect">
            <a:avLst/>
          </a:prstGeom>
          <a:noFill/>
          <a:ln/>
        </p:spPr>
        <p:txBody>
          <a:bodyPr wrap="square" lIns="0" tIns="0" rIns="0" bIns="0" rtlCol="0" anchor="t"/>
          <a:lstStyle/>
          <a:p>
            <a:pPr indent="0" marL="0">
              <a:buNone/>
            </a:pPr>
            <a:r>
              <a:rPr lang="en-US" sz="2200" i="1" dirty="0">
                <a:solidFill>
                  <a:schemeClr val="accent3"/>
                </a:solidFill>
                <a:latin typeface="Cambria" pitchFamily="34" charset="0"/>
                <a:ea typeface="Cambria" pitchFamily="34" charset="-122"/>
                <a:cs typeface="Cambria" pitchFamily="34" charset="-120"/>
              </a:rPr>
              <a:t>Tunnel</a:t>
            </a:r>
            <a:endParaRPr lang="en-US" sz="2200" dirty="0"/>
          </a:p>
        </p:txBody>
      </p:sp>
      <p:sp>
        <p:nvSpPr>
          <p:cNvPr id="7" name="Tagline"/>
          <p:cNvSpPr txBox="1"/>
          <p:nvPr/>
        </p:nvSpPr>
        <p:spPr>
          <a:xfrm>
            <a:off x="1874520" y="5074920"/>
            <a:ext cx="4389120" cy="320040"/>
          </a:xfrm>
          <a:prstGeom prst="rect">
            <a:avLst/>
          </a:prstGeom>
          <a:noFill/>
          <a:ln/>
        </p:spPr>
        <p:txBody>
          <a:bodyPr wrap="square" lIns="0" tIns="0" rIns="0" bIns="0" rtlCol="0" anchor="t"/>
          <a:lstStyle/>
          <a:p>
            <a:pPr indent="0" marL="0">
              <a:buNone/>
            </a:pPr>
            <a:r>
              <a:rPr lang="en-US" sz="1200" dirty="0">
                <a:solidFill>
                  <a:schemeClr val="tx1"/>
                </a:solidFill>
              </a:rPr>
              <a:t>돌아갈 수도, 선뜻 나아갈 수도 없는 순간</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7004304"/>
            <a:ext cx="4572000" cy="237744"/>
          </a:xfrm>
          <a:prstGeom prst="rect">
            <a:avLst/>
          </a:prstGeom>
          <a:noFill/>
          <a:ln/>
        </p:spPr>
        <p:txBody>
          <a:bodyPr wrap="square" lIns="0" tIns="0" rIns="0" bIns="0" rtlCol="0" anchor="ctr"/>
          <a:lstStyle/>
          <a:p>
            <a:pPr algn="l" indent="0" marL="0">
              <a:buNone/>
            </a:pPr>
            <a:r>
              <a:rPr lang="en-US" sz="800" b="1" dirty="0">
                <a:solidFill>
                  <a:schemeClr val="accent1"/>
                </a:solidFill>
                <a:latin typeface="Cambria" pitchFamily="34" charset="0"/>
                <a:ea typeface="Cambria" pitchFamily="34" charset="-122"/>
                <a:cs typeface="Cambria" pitchFamily="34" charset="-120"/>
              </a:rPr>
              <a:t>01   </a:t>
            </a:r>
            <a:pPr algn="l" indent="0" marL="0">
              <a:buNone/>
            </a:pPr>
            <a:r>
              <a:rPr lang="en-US" sz="800" b="1" dirty="0">
                <a:solidFill>
                  <a:schemeClr val="accent3"/>
                </a:solidFill>
              </a:rPr>
              <a:t>터널   </a:t>
            </a:r>
            <a:pPr algn="l" indent="0" marL="0">
              <a:buNone/>
            </a:pPr>
            <a:r>
              <a:rPr lang="en-US" sz="800" spc="300" kern="0" dirty="0">
                <a:solidFill>
                  <a:schemeClr val="accent3"/>
                </a:solidFill>
                <a:latin typeface="Cambria" pitchFamily="34" charset="0"/>
                <a:ea typeface="Cambria" pitchFamily="34" charset="-122"/>
                <a:cs typeface="Cambria" pitchFamily="34" charset="-120"/>
              </a:rPr>
              <a:t>TUNNEL</a:t>
            </a:r>
            <a:endParaRPr lang="en-US" sz="800" dirty="0"/>
          </a:p>
        </p:txBody>
      </p:sp>
      <p:pic>
        <p:nvPicPr>
          <p:cNvPr id="3" name="Tunnel — panorama" descr="Tunnel — panorama">    </p:cNvPr>
          <p:cNvPicPr>
            <a:picLocks noChangeAspect="1"/>
          </p:cNvPicPr>
          <p:nvPr/>
        </p:nvPicPr>
        <p:blipFill>
          <a:blip r:embed="rId1"/>
          <a:stretch>
            <a:fillRect/>
          </a:stretch>
        </p:blipFill>
        <p:spPr>
          <a:xfrm>
            <a:off x="0" y="0"/>
            <a:ext cx="10689336" cy="3108960"/>
          </a:xfrm>
          <a:prstGeom prst="rect">
            <a:avLst/>
          </a:prstGeom>
        </p:spPr>
      </p:pic>
      <p:sp>
        <p:nvSpPr>
          <p:cNvPr id="4" name="Eyebrow"/>
          <p:cNvSpPr txBox="1"/>
          <p:nvPr/>
        </p:nvSpPr>
        <p:spPr>
          <a:xfrm>
            <a:off x="548640" y="3611880"/>
            <a:ext cx="3657600" cy="256032"/>
          </a:xfrm>
          <a:prstGeom prst="rect">
            <a:avLst/>
          </a:prstGeom>
          <a:noFill/>
          <a:ln/>
        </p:spPr>
        <p:txBody>
          <a:bodyPr wrap="square" lIns="0" tIns="0" rIns="0" bIns="0" rtlCol="0" anchor="ctr"/>
          <a:lstStyle/>
          <a:p>
            <a:pPr indent="0" marL="0">
              <a:buNone/>
            </a:pPr>
            <a:r>
              <a:rPr lang="en-US" sz="850" spc="300" kern="0" dirty="0">
                <a:solidFill>
                  <a:schemeClr val="accent1"/>
                </a:solidFill>
                <a:latin typeface="Cambria" pitchFamily="34" charset="0"/>
                <a:ea typeface="Cambria" pitchFamily="34" charset="-122"/>
                <a:cs typeface="Cambria" pitchFamily="34" charset="-120"/>
              </a:rPr>
              <a:t>SERIES 01  ·  ARTIST STATEMENT</a:t>
            </a:r>
            <a:endParaRPr lang="en-US" sz="850" dirty="0"/>
          </a:p>
        </p:txBody>
      </p:sp>
      <p:sp>
        <p:nvSpPr>
          <p:cNvPr id="5" name="Title"/>
          <p:cNvSpPr txBox="1"/>
          <p:nvPr/>
        </p:nvSpPr>
        <p:spPr>
          <a:xfrm>
            <a:off x="548640" y="3977640"/>
            <a:ext cx="3657600" cy="594360"/>
          </a:xfrm>
          <a:prstGeom prst="rect">
            <a:avLst/>
          </a:prstGeom>
          <a:noFill/>
          <a:ln/>
        </p:spPr>
        <p:txBody>
          <a:bodyPr wrap="square" lIns="0" tIns="0" rIns="0" bIns="0" rtlCol="0" anchor="ctr"/>
          <a:lstStyle/>
          <a:p>
            <a:pPr indent="0" marL="0">
              <a:buNone/>
            </a:pPr>
            <a:r>
              <a:rPr lang="en-US" sz="3000" b="1" dirty="0">
                <a:solidFill>
                  <a:schemeClr val="tx1"/>
                </a:solidFill>
              </a:rPr>
              <a:t>《터널》</a:t>
            </a:r>
            <a:endParaRPr lang="en-US" sz="3000" dirty="0"/>
          </a:p>
        </p:txBody>
      </p:sp>
      <p:sp>
        <p:nvSpPr>
          <p:cNvPr id="6" name="English title"/>
          <p:cNvSpPr txBox="1"/>
          <p:nvPr/>
        </p:nvSpPr>
        <p:spPr>
          <a:xfrm>
            <a:off x="621792" y="4590288"/>
            <a:ext cx="2743200" cy="365760"/>
          </a:xfrm>
          <a:prstGeom prst="rect">
            <a:avLst/>
          </a:prstGeom>
          <a:noFill/>
          <a:ln/>
        </p:spPr>
        <p:txBody>
          <a:bodyPr wrap="square" lIns="0" tIns="0" rIns="0" bIns="0" rtlCol="0" anchor="t"/>
          <a:lstStyle/>
          <a:p>
            <a:pPr indent="0" marL="0">
              <a:buNone/>
            </a:pPr>
            <a:r>
              <a:rPr lang="en-US" sz="1500" i="1" dirty="0">
                <a:solidFill>
                  <a:schemeClr val="accent3"/>
                </a:solidFill>
                <a:latin typeface="Cambria" pitchFamily="34" charset="0"/>
                <a:ea typeface="Cambria" pitchFamily="34" charset="-122"/>
                <a:cs typeface="Cambria" pitchFamily="34" charset="-120"/>
              </a:rPr>
              <a:t>Tunnel</a:t>
            </a:r>
            <a:endParaRPr lang="en-US" sz="1500" dirty="0"/>
          </a:p>
        </p:txBody>
      </p:sp>
      <p:sp>
        <p:nvSpPr>
          <p:cNvPr id="7" name="Section label"/>
          <p:cNvSpPr txBox="1"/>
          <p:nvPr/>
        </p:nvSpPr>
        <p:spPr>
          <a:xfrm>
            <a:off x="4745736" y="3611880"/>
            <a:ext cx="5394960" cy="256032"/>
          </a:xfrm>
          <a:prstGeom prst="rect">
            <a:avLst/>
          </a:prstGeom>
          <a:noFill/>
          <a:ln/>
        </p:spPr>
        <p:txBody>
          <a:bodyPr wrap="square" lIns="0" tIns="0" rIns="0" bIns="0" rtlCol="0" anchor="ctr"/>
          <a:lstStyle/>
          <a:p>
            <a:pPr indent="0" marL="0">
              <a:buNone/>
            </a:pPr>
            <a:r>
              <a:rPr lang="en-US" sz="950" b="1" dirty="0">
                <a:solidFill>
                  <a:schemeClr val="tx1"/>
                </a:solidFill>
              </a:rPr>
              <a:t>기획 의도</a:t>
            </a:r>
            <a:pPr indent="0" marL="0">
              <a:buNone/>
            </a:pPr>
            <a:r>
              <a:rPr lang="en-US" sz="800" spc="300" kern="0" dirty="0">
                <a:solidFill>
                  <a:schemeClr val="accent3"/>
                </a:solidFill>
                <a:latin typeface="Cambria" pitchFamily="34" charset="0"/>
                <a:ea typeface="Cambria" pitchFamily="34" charset="-122"/>
                <a:cs typeface="Cambria" pitchFamily="34" charset="-120"/>
              </a:rPr>
              <a:t>    CONCEPT</a:t>
            </a:r>
            <a:endParaRPr lang="en-US" sz="950" dirty="0"/>
          </a:p>
        </p:txBody>
      </p:sp>
      <p:sp>
        <p:nvSpPr>
          <p:cNvPr id="8" name="Statement"/>
          <p:cNvSpPr txBox="1"/>
          <p:nvPr/>
        </p:nvSpPr>
        <p:spPr>
          <a:xfrm>
            <a:off x="4745736" y="4023360"/>
            <a:ext cx="5394960" cy="2651760"/>
          </a:xfrm>
          <a:prstGeom prst="rect">
            <a:avLst/>
          </a:prstGeom>
          <a:noFill/>
          <a:ln/>
        </p:spPr>
        <p:txBody>
          <a:bodyPr wrap="square" lIns="0" tIns="0" rIns="0" bIns="0" rtlCol="0" anchor="t"/>
          <a:lstStyle/>
          <a:p>
            <a:pPr algn="l" indent="0" marL="0">
              <a:lnSpc>
                <a:spcPct val="160000"/>
              </a:lnSpc>
              <a:buNone/>
            </a:pPr>
            <a:r>
              <a:rPr lang="en-US" sz="1100" dirty="0">
                <a:solidFill>
                  <a:schemeClr val="tx1"/>
                </a:solidFill>
              </a:rPr>
              <a:t>《터널》은 과거로 돌아가고 싶지 않지만 앞으로 나아갈 용기도 없는, 선택의 기로에 놓인 개인의 심리적 상태에서 출발한 작업입니다. 돌아갈 곳은 더 이상 자신이 원하는 곳이 아니지만, 앞으로 나아가는 것 역시 두렵습니다. 어디론가 향해야 한다는 사실은 알고 있지만, 정작 어디로 가야 하는지는 알 수 없습니다. 저는 이러한 모순된 감정과 망설임을 터널이라는 공간에 투영했습니다.</a:t>
            </a:r>
            <a:endParaRPr lang="en-US" sz="1100" dirty="0"/>
          </a:p>
        </p:txBody>
      </p:sp>
      <p:sp>
        <p:nvSpPr>
          <p:cNvPr id="25" name="Slide Number Placeholder 0"/>
          <p:cNvSpPr>
            <a:spLocks noGrp="1"/>
          </p:cNvSpPr>
          <p:nvPr>
            <p:ph type="sldNum" sz="quarter" idx="4294967295"/>
          </p:nvPr>
        </p:nvSpPr>
        <p:spPr>
          <a:xfrm>
            <a:off x="9592056" y="700430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Cambria"/>
                <a:ea typeface="Cambria"/>
                <a:cs typeface="Camb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7004304"/>
            <a:ext cx="4572000" cy="237744"/>
          </a:xfrm>
          <a:prstGeom prst="rect">
            <a:avLst/>
          </a:prstGeom>
          <a:noFill/>
          <a:ln/>
        </p:spPr>
        <p:txBody>
          <a:bodyPr wrap="square" lIns="0" tIns="0" rIns="0" bIns="0" rtlCol="0" anchor="ctr"/>
          <a:lstStyle/>
          <a:p>
            <a:pPr algn="l" indent="0" marL="0">
              <a:buNone/>
            </a:pPr>
            <a:r>
              <a:rPr lang="en-US" sz="800" b="1" dirty="0">
                <a:solidFill>
                  <a:schemeClr val="accent1"/>
                </a:solidFill>
                <a:latin typeface="Cambria" pitchFamily="34" charset="0"/>
                <a:ea typeface="Cambria" pitchFamily="34" charset="-122"/>
                <a:cs typeface="Cambria" pitchFamily="34" charset="-120"/>
              </a:rPr>
              <a:t>01   </a:t>
            </a:r>
            <a:pPr algn="l" indent="0" marL="0">
              <a:buNone/>
            </a:pPr>
            <a:r>
              <a:rPr lang="en-US" sz="800" b="1" dirty="0">
                <a:solidFill>
                  <a:schemeClr val="accent3"/>
                </a:solidFill>
              </a:rPr>
              <a:t>터널   </a:t>
            </a:r>
            <a:pPr algn="l" indent="0" marL="0">
              <a:buNone/>
            </a:pPr>
            <a:r>
              <a:rPr lang="en-US" sz="800" spc="300" kern="0" dirty="0">
                <a:solidFill>
                  <a:schemeClr val="accent3"/>
                </a:solidFill>
                <a:latin typeface="Cambria" pitchFamily="34" charset="0"/>
                <a:ea typeface="Cambria" pitchFamily="34" charset="-122"/>
                <a:cs typeface="Cambria" pitchFamily="34" charset="-120"/>
              </a:rPr>
              <a:t>TUNNEL</a:t>
            </a:r>
            <a:endParaRPr lang="en-US" sz="800" dirty="0"/>
          </a:p>
        </p:txBody>
      </p:sp>
      <p:pic>
        <p:nvPicPr>
          <p:cNvPr id="3" name="Tunnel — long exposure" descr="Tunnel — long exposure">    </p:cNvPr>
          <p:cNvPicPr>
            <a:picLocks noChangeAspect="1"/>
          </p:cNvPicPr>
          <p:nvPr/>
        </p:nvPicPr>
        <p:blipFill>
          <a:blip r:embed="rId1"/>
          <a:stretch>
            <a:fillRect/>
          </a:stretch>
        </p:blipFill>
        <p:spPr>
          <a:xfrm>
            <a:off x="0" y="0"/>
            <a:ext cx="4389120" cy="7562088"/>
          </a:xfrm>
          <a:prstGeom prst="rect">
            <a:avLst/>
          </a:prstGeom>
        </p:spPr>
      </p:pic>
      <p:sp>
        <p:nvSpPr>
          <p:cNvPr id="4" name="Display"/>
          <p:cNvSpPr txBox="1"/>
          <p:nvPr/>
        </p:nvSpPr>
        <p:spPr>
          <a:xfrm>
            <a:off x="5120640" y="1828800"/>
            <a:ext cx="5020056" cy="548640"/>
          </a:xfrm>
          <a:prstGeom prst="rect">
            <a:avLst/>
          </a:prstGeom>
          <a:noFill/>
          <a:ln/>
        </p:spPr>
        <p:txBody>
          <a:bodyPr wrap="square" lIns="0" tIns="0" rIns="0" bIns="0" rtlCol="0" anchor="b"/>
          <a:lstStyle/>
          <a:p>
            <a:pPr indent="0" marL="0">
              <a:buNone/>
            </a:pPr>
            <a:r>
              <a:rPr lang="en-US" sz="3000" i="1" dirty="0">
                <a:solidFill>
                  <a:schemeClr val="accent1"/>
                </a:solidFill>
                <a:latin typeface="Cambria" pitchFamily="34" charset="0"/>
                <a:ea typeface="Cambria" pitchFamily="34" charset="-122"/>
                <a:cs typeface="Cambria" pitchFamily="34" charset="-120"/>
              </a:rPr>
              <a:t>Long exposure</a:t>
            </a:r>
            <a:endParaRPr lang="en-US" sz="3000" dirty="0"/>
          </a:p>
        </p:txBody>
      </p:sp>
      <p:sp>
        <p:nvSpPr>
          <p:cNvPr id="5" name="Section label"/>
          <p:cNvSpPr txBox="1"/>
          <p:nvPr/>
        </p:nvSpPr>
        <p:spPr>
          <a:xfrm>
            <a:off x="5120640" y="2560320"/>
            <a:ext cx="5020056" cy="256032"/>
          </a:xfrm>
          <a:prstGeom prst="rect">
            <a:avLst/>
          </a:prstGeom>
          <a:noFill/>
          <a:ln/>
        </p:spPr>
        <p:txBody>
          <a:bodyPr wrap="square" lIns="0" tIns="0" rIns="0" bIns="0" rtlCol="0" anchor="ctr"/>
          <a:lstStyle/>
          <a:p>
            <a:pPr indent="0" marL="0">
              <a:buNone/>
            </a:pPr>
            <a:r>
              <a:rPr lang="en-US" sz="950" b="1" dirty="0">
                <a:solidFill>
                  <a:schemeClr val="tx1"/>
                </a:solidFill>
              </a:rPr>
              <a:t>표현 기법</a:t>
            </a:r>
            <a:pPr indent="0" marL="0">
              <a:buNone/>
            </a:pPr>
            <a:r>
              <a:rPr lang="en-US" sz="800" spc="300" kern="0" dirty="0">
                <a:solidFill>
                  <a:schemeClr val="accent3"/>
                </a:solidFill>
                <a:latin typeface="Cambria" pitchFamily="34" charset="0"/>
                <a:ea typeface="Cambria" pitchFamily="34" charset="-122"/>
                <a:cs typeface="Cambria" pitchFamily="34" charset="-120"/>
              </a:rPr>
              <a:t>    METHOD</a:t>
            </a:r>
            <a:endParaRPr lang="en-US" sz="950" dirty="0"/>
          </a:p>
        </p:txBody>
      </p:sp>
      <p:sp>
        <p:nvSpPr>
          <p:cNvPr id="6" name="Statement"/>
          <p:cNvSpPr txBox="1"/>
          <p:nvPr/>
        </p:nvSpPr>
        <p:spPr>
          <a:xfrm>
            <a:off x="5120640" y="2944368"/>
            <a:ext cx="5020056" cy="3291840"/>
          </a:xfrm>
          <a:prstGeom prst="rect">
            <a:avLst/>
          </a:prstGeom>
          <a:noFill/>
          <a:ln/>
        </p:spPr>
        <p:txBody>
          <a:bodyPr wrap="square" lIns="0" tIns="0" rIns="0" bIns="0" rtlCol="0" anchor="t"/>
          <a:lstStyle/>
          <a:p>
            <a:pPr algn="l" indent="0" marL="0">
              <a:lnSpc>
                <a:spcPct val="160000"/>
              </a:lnSpc>
              <a:buNone/>
            </a:pPr>
            <a:r>
              <a:rPr lang="en-US" sz="1100" dirty="0">
                <a:solidFill>
                  <a:schemeClr val="tx1"/>
                </a:solidFill>
              </a:rPr>
              <a:t>장노출 기법을 활용해 터널의 공간감과 빛의 흐름을 표현하고, 움직임이 만들어 내는 흔적을 통해 불확실한 심리적 상태를 시각화하고자 했습니다. 장노출로 기록된 시간은 단순한 이동의 순간을 넘어, 앞으로 나아가야 한다는 압박감과 그에 대한 두려움 사이에서 망설이는 상태를 드러냅니다. 터널은 분명한 방향을 가진 공간이지만, 그 안에 있는 사람에게는 출구조차 확신할 수 없는 장소가 됩니다. 저는 이 작업을 통해 돌아갈 수도, 선뜻 나아갈 수도 없는 순간에 머무는 개인의 내면을 표현하고자 했습니다.</a:t>
            </a:r>
            <a:endParaRPr lang="en-US" sz="1100" dirty="0"/>
          </a:p>
        </p:txBody>
      </p:sp>
      <p:sp>
        <p:nvSpPr>
          <p:cNvPr id="25" name="Slide Number Placeholder 0"/>
          <p:cNvSpPr>
            <a:spLocks noGrp="1"/>
          </p:cNvSpPr>
          <p:nvPr>
            <p:ph type="sldNum" sz="quarter" idx="4294967295"/>
          </p:nvPr>
        </p:nvSpPr>
        <p:spPr>
          <a:xfrm>
            <a:off x="9592056" y="700430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Cambria"/>
                <a:ea typeface="Cambria"/>
                <a:cs typeface="Camb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7004304"/>
            <a:ext cx="4572000" cy="237744"/>
          </a:xfrm>
          <a:prstGeom prst="rect">
            <a:avLst/>
          </a:prstGeom>
          <a:noFill/>
          <a:ln/>
        </p:spPr>
        <p:txBody>
          <a:bodyPr wrap="square" lIns="0" tIns="0" rIns="0" bIns="0" rtlCol="0" anchor="ctr"/>
          <a:lstStyle/>
          <a:p>
            <a:pPr algn="l" indent="0" marL="0">
              <a:buNone/>
            </a:pPr>
            <a:r>
              <a:rPr lang="en-US" sz="800" b="1" dirty="0">
                <a:solidFill>
                  <a:schemeClr val="accent1"/>
                </a:solidFill>
                <a:latin typeface="Cambria" pitchFamily="34" charset="0"/>
                <a:ea typeface="Cambria" pitchFamily="34" charset="-122"/>
                <a:cs typeface="Cambria" pitchFamily="34" charset="-120"/>
              </a:rPr>
              <a:t>01   </a:t>
            </a:r>
            <a:pPr algn="l" indent="0" marL="0">
              <a:buNone/>
            </a:pPr>
            <a:r>
              <a:rPr lang="en-US" sz="800" b="1" dirty="0">
                <a:solidFill>
                  <a:schemeClr val="accent3"/>
                </a:solidFill>
              </a:rPr>
              <a:t>터널   </a:t>
            </a:r>
            <a:pPr algn="l" indent="0" marL="0">
              <a:buNone/>
            </a:pPr>
            <a:r>
              <a:rPr lang="en-US" sz="800" spc="300" kern="0" dirty="0">
                <a:solidFill>
                  <a:schemeClr val="accent3"/>
                </a:solidFill>
                <a:latin typeface="Cambria" pitchFamily="34" charset="0"/>
                <a:ea typeface="Cambria" pitchFamily="34" charset="-122"/>
                <a:cs typeface="Cambria" pitchFamily="34" charset="-120"/>
              </a:rPr>
              <a:t>TUNNEL</a:t>
            </a:r>
            <a:endParaRPr lang="en-US" sz="800" dirty="0"/>
          </a:p>
        </p:txBody>
      </p:sp>
      <p:pic>
        <p:nvPicPr>
          <p:cNvPr id="3" name="Tunnel 01" descr="Tunnel 01">    </p:cNvPr>
          <p:cNvPicPr>
            <a:picLocks noChangeAspect="1"/>
          </p:cNvPicPr>
          <p:nvPr/>
        </p:nvPicPr>
        <p:blipFill>
          <a:blip r:embed="rId1"/>
          <a:stretch>
            <a:fillRect/>
          </a:stretch>
        </p:blipFill>
        <p:spPr>
          <a:xfrm>
            <a:off x="548640" y="548640"/>
            <a:ext cx="4023360" cy="6035040"/>
          </a:xfrm>
          <a:prstGeom prst="rect">
            <a:avLst/>
          </a:prstGeom>
        </p:spPr>
      </p:pic>
      <p:pic>
        <p:nvPicPr>
          <p:cNvPr id="4" name="Tunnel 02" descr="Tunnel 02">    </p:cNvPr>
          <p:cNvPicPr>
            <a:picLocks noChangeAspect="1"/>
          </p:cNvPicPr>
          <p:nvPr/>
        </p:nvPicPr>
        <p:blipFill>
          <a:blip r:embed="rId2"/>
          <a:stretch>
            <a:fillRect/>
          </a:stretch>
        </p:blipFill>
        <p:spPr>
          <a:xfrm>
            <a:off x="4892040" y="2194560"/>
            <a:ext cx="2926080" cy="4389120"/>
          </a:xfrm>
          <a:prstGeom prst="rect">
            <a:avLst/>
          </a:prstGeom>
        </p:spPr>
      </p:pic>
      <p:sp>
        <p:nvSpPr>
          <p:cNvPr id="5" name="Pull quote"/>
          <p:cNvSpPr txBox="1"/>
          <p:nvPr/>
        </p:nvSpPr>
        <p:spPr>
          <a:xfrm>
            <a:off x="8183880" y="685800"/>
            <a:ext cx="1956816" cy="2926080"/>
          </a:xfrm>
          <a:prstGeom prst="rect">
            <a:avLst/>
          </a:prstGeom>
          <a:noFill/>
          <a:ln/>
        </p:spPr>
        <p:txBody>
          <a:bodyPr wrap="square" lIns="0" tIns="0" rIns="0" bIns="0" rtlCol="0" anchor="t"/>
          <a:lstStyle/>
          <a:p>
            <a:pPr indent="0" marL="0">
              <a:lnSpc>
                <a:spcPct val="62000"/>
              </a:lnSpc>
              <a:buNone/>
            </a:pPr>
            <a:r>
              <a:rPr lang="en-US" sz="3250" b="1" dirty="0">
                <a:solidFill>
                  <a:schemeClr val="accent1"/>
                </a:solidFill>
                <a:latin typeface="Cambria" pitchFamily="34" charset="0"/>
                <a:ea typeface="Cambria" pitchFamily="34" charset="-122"/>
                <a:cs typeface="Cambria" pitchFamily="34" charset="-120"/>
              </a:rPr>
              <a:t>“</a:t>
            </a:r>
            <a:endParaRPr lang="en-US" sz="3250" dirty="0"/>
          </a:p>
          <a:p>
            <a:pPr indent="0" marL="0">
              <a:lnSpc>
                <a:spcPct val="150000"/>
              </a:lnSpc>
              <a:buNone/>
            </a:pPr>
            <a:r>
              <a:rPr lang="en-US" sz="1250" dirty="0">
                <a:solidFill>
                  <a:schemeClr val="tx1"/>
                </a:solidFill>
              </a:rPr>
              <a:t>어디론가 향해야 한다는 사실은 알고 있지만, 정작 어디로 가야 하는지는 알 수 없습니다.</a:t>
            </a:r>
            <a:endParaRPr lang="en-US" sz="3250" dirty="0"/>
          </a:p>
        </p:txBody>
      </p:sp>
      <p:sp>
        <p:nvSpPr>
          <p:cNvPr id="25" name="Slide Number Placeholder 0"/>
          <p:cNvSpPr>
            <a:spLocks noGrp="1"/>
          </p:cNvSpPr>
          <p:nvPr>
            <p:ph type="sldNum" sz="quarter" idx="4294967295"/>
          </p:nvPr>
        </p:nvSpPr>
        <p:spPr>
          <a:xfrm>
            <a:off x="9592056" y="700430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Cambria"/>
                <a:ea typeface="Cambria"/>
                <a:cs typeface="Camb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Tunnel 03 — full page" descr="Tunnel 03 — full page">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7004304"/>
            <a:ext cx="4572000" cy="237744"/>
          </a:xfrm>
          <a:prstGeom prst="rect">
            <a:avLst/>
          </a:prstGeom>
          <a:noFill/>
          <a:ln/>
        </p:spPr>
        <p:txBody>
          <a:bodyPr wrap="square" lIns="0" tIns="0" rIns="0" bIns="0" rtlCol="0" anchor="ctr"/>
          <a:lstStyle/>
          <a:p>
            <a:pPr algn="l" indent="0" marL="0">
              <a:buNone/>
            </a:pPr>
            <a:r>
              <a:rPr lang="en-US" sz="800" b="1" dirty="0">
                <a:solidFill>
                  <a:schemeClr val="accent1"/>
                </a:solidFill>
                <a:latin typeface="Cambria" pitchFamily="34" charset="0"/>
                <a:ea typeface="Cambria" pitchFamily="34" charset="-122"/>
                <a:cs typeface="Cambria" pitchFamily="34" charset="-120"/>
              </a:rPr>
              <a:t>01   </a:t>
            </a:r>
            <a:pPr algn="l" indent="0" marL="0">
              <a:buNone/>
            </a:pPr>
            <a:r>
              <a:rPr lang="en-US" sz="800" b="1" dirty="0">
                <a:solidFill>
                  <a:schemeClr val="accent3"/>
                </a:solidFill>
              </a:rPr>
              <a:t>터널   </a:t>
            </a:r>
            <a:pPr algn="l" indent="0" marL="0">
              <a:buNone/>
            </a:pPr>
            <a:r>
              <a:rPr lang="en-US" sz="800" spc="300" kern="0" dirty="0">
                <a:solidFill>
                  <a:schemeClr val="accent3"/>
                </a:solidFill>
                <a:latin typeface="Cambria" pitchFamily="34" charset="0"/>
                <a:ea typeface="Cambria" pitchFamily="34" charset="-122"/>
                <a:cs typeface="Cambria" pitchFamily="34" charset="-120"/>
              </a:rPr>
              <a:t>TUNNEL</a:t>
            </a:r>
            <a:endParaRPr lang="en-US" sz="800" dirty="0"/>
          </a:p>
        </p:txBody>
      </p:sp>
      <p:sp>
        <p:nvSpPr>
          <p:cNvPr id="3" name="Headline"/>
          <p:cNvSpPr txBox="1"/>
          <p:nvPr/>
        </p:nvSpPr>
        <p:spPr>
          <a:xfrm>
            <a:off x="548640" y="1051560"/>
            <a:ext cx="7315200" cy="1188720"/>
          </a:xfrm>
          <a:prstGeom prst="rect">
            <a:avLst/>
          </a:prstGeom>
          <a:noFill/>
          <a:ln/>
        </p:spPr>
        <p:txBody>
          <a:bodyPr wrap="square" lIns="0" tIns="0" rIns="0" bIns="0" rtlCol="0" anchor="t"/>
          <a:lstStyle/>
          <a:p>
            <a:pPr indent="0" marL="0">
              <a:lnSpc>
                <a:spcPct val="145000"/>
              </a:lnSpc>
              <a:buNone/>
            </a:pPr>
            <a:r>
              <a:rPr lang="en-US" sz="1900" dirty="0">
                <a:solidFill>
                  <a:schemeClr val="tx1"/>
                </a:solidFill>
              </a:rPr>
              <a:t>앞으로 나아가야 한다는 압박감과</a:t>
            </a:r>
            <a:endParaRPr lang="en-US" sz="1900" dirty="0"/>
          </a:p>
          <a:p>
            <a:pPr indent="0" marL="0">
              <a:lnSpc>
                <a:spcPct val="145000"/>
              </a:lnSpc>
              <a:buNone/>
            </a:pPr>
            <a:r>
              <a:rPr lang="en-US" sz="1900" dirty="0">
                <a:solidFill>
                  <a:schemeClr val="tx1"/>
                </a:solidFill>
              </a:rPr>
              <a:t>그에 대한 두려움 사이에서 망설이는 상태</a:t>
            </a:r>
            <a:endParaRPr lang="en-US" sz="1900" dirty="0"/>
          </a:p>
        </p:txBody>
      </p:sp>
      <p:pic>
        <p:nvPicPr>
          <p:cNvPr id="4" name="Tunnel 04" descr="Tunnel 04">    </p:cNvPr>
          <p:cNvPicPr>
            <a:picLocks noChangeAspect="1"/>
          </p:cNvPicPr>
          <p:nvPr/>
        </p:nvPicPr>
        <p:blipFill>
          <a:blip r:embed="rId1"/>
          <a:stretch>
            <a:fillRect/>
          </a:stretch>
        </p:blipFill>
        <p:spPr>
          <a:xfrm>
            <a:off x="548640" y="3063240"/>
            <a:ext cx="3017520" cy="2011680"/>
          </a:xfrm>
          <a:prstGeom prst="rect">
            <a:avLst/>
          </a:prstGeom>
        </p:spPr>
      </p:pic>
      <p:pic>
        <p:nvPicPr>
          <p:cNvPr id="5" name="Tunnel 05" descr="Tunnel 05">    </p:cNvPr>
          <p:cNvPicPr>
            <a:picLocks noChangeAspect="1"/>
          </p:cNvPicPr>
          <p:nvPr/>
        </p:nvPicPr>
        <p:blipFill>
          <a:blip r:embed="rId2"/>
          <a:stretch>
            <a:fillRect/>
          </a:stretch>
        </p:blipFill>
        <p:spPr>
          <a:xfrm>
            <a:off x="3835908" y="3063240"/>
            <a:ext cx="3017520" cy="2011680"/>
          </a:xfrm>
          <a:prstGeom prst="rect">
            <a:avLst/>
          </a:prstGeom>
        </p:spPr>
      </p:pic>
      <p:pic>
        <p:nvPicPr>
          <p:cNvPr id="6" name="Tunnel 06" descr="Tunnel 06">    </p:cNvPr>
          <p:cNvPicPr>
            <a:picLocks noChangeAspect="1"/>
          </p:cNvPicPr>
          <p:nvPr/>
        </p:nvPicPr>
        <p:blipFill>
          <a:blip r:embed="rId3"/>
          <a:stretch>
            <a:fillRect/>
          </a:stretch>
        </p:blipFill>
        <p:spPr>
          <a:xfrm>
            <a:off x="7123176" y="3063240"/>
            <a:ext cx="3017520" cy="2011680"/>
          </a:xfrm>
          <a:prstGeom prst="rect">
            <a:avLst/>
          </a:prstGeom>
        </p:spPr>
      </p:pic>
      <p:sp>
        <p:nvSpPr>
          <p:cNvPr id="7" name="Time line"/>
          <p:cNvSpPr/>
          <p:nvPr/>
        </p:nvSpPr>
        <p:spPr>
          <a:xfrm>
            <a:off x="548640" y="5458968"/>
            <a:ext cx="9592056" cy="0"/>
          </a:xfrm>
          <a:prstGeom prst="line">
            <a:avLst/>
          </a:prstGeom>
          <a:noFill/>
          <a:ln w="9525">
            <a:solidFill>
              <a:schemeClr val="accent1"/>
            </a:solidFill>
            <a:prstDash val="solid"/>
          </a:ln>
        </p:spPr>
      </p:sp>
      <p:sp>
        <p:nvSpPr>
          <p:cNvPr id="8" name="Time mark 1"/>
          <p:cNvSpPr/>
          <p:nvPr/>
        </p:nvSpPr>
        <p:spPr>
          <a:xfrm>
            <a:off x="2011680" y="5413248"/>
            <a:ext cx="91440" cy="91440"/>
          </a:xfrm>
          <a:prstGeom prst="ellipse">
            <a:avLst/>
          </a:prstGeom>
          <a:solidFill>
            <a:schemeClr val="accent1"/>
          </a:solidFill>
          <a:ln/>
        </p:spPr>
      </p:sp>
      <p:sp>
        <p:nvSpPr>
          <p:cNvPr id="9" name="Frame no 1"/>
          <p:cNvSpPr txBox="1"/>
          <p:nvPr/>
        </p:nvSpPr>
        <p:spPr>
          <a:xfrm>
            <a:off x="1691640" y="5605272"/>
            <a:ext cx="731520" cy="228600"/>
          </a:xfrm>
          <a:prstGeom prst="rect">
            <a:avLst/>
          </a:prstGeom>
          <a:noFill/>
          <a:ln/>
        </p:spPr>
        <p:txBody>
          <a:bodyPr wrap="square" lIns="0" tIns="0" rIns="0" bIns="0" rtlCol="0" anchor="t"/>
          <a:lstStyle/>
          <a:p>
            <a:pPr algn="ctr" indent="0" marL="0">
              <a:buNone/>
            </a:pPr>
            <a:r>
              <a:rPr lang="en-US" sz="850" dirty="0">
                <a:solidFill>
                  <a:schemeClr val="accent3"/>
                </a:solidFill>
                <a:latin typeface="Cambria" pitchFamily="34" charset="0"/>
                <a:ea typeface="Cambria" pitchFamily="34" charset="-122"/>
                <a:cs typeface="Cambria" pitchFamily="34" charset="-120"/>
              </a:rPr>
              <a:t>01</a:t>
            </a:r>
            <a:endParaRPr lang="en-US" sz="850" dirty="0"/>
          </a:p>
        </p:txBody>
      </p:sp>
      <p:sp>
        <p:nvSpPr>
          <p:cNvPr id="10" name="Time mark 2"/>
          <p:cNvSpPr/>
          <p:nvPr/>
        </p:nvSpPr>
        <p:spPr>
          <a:xfrm>
            <a:off x="5298948" y="5413248"/>
            <a:ext cx="91440" cy="91440"/>
          </a:xfrm>
          <a:prstGeom prst="ellipse">
            <a:avLst/>
          </a:prstGeom>
          <a:solidFill>
            <a:schemeClr val="accent1"/>
          </a:solidFill>
          <a:ln/>
        </p:spPr>
      </p:sp>
      <p:sp>
        <p:nvSpPr>
          <p:cNvPr id="11" name="Frame no 2"/>
          <p:cNvSpPr txBox="1"/>
          <p:nvPr/>
        </p:nvSpPr>
        <p:spPr>
          <a:xfrm>
            <a:off x="4978908" y="5605272"/>
            <a:ext cx="731520" cy="228600"/>
          </a:xfrm>
          <a:prstGeom prst="rect">
            <a:avLst/>
          </a:prstGeom>
          <a:noFill/>
          <a:ln/>
        </p:spPr>
        <p:txBody>
          <a:bodyPr wrap="square" lIns="0" tIns="0" rIns="0" bIns="0" rtlCol="0" anchor="t"/>
          <a:lstStyle/>
          <a:p>
            <a:pPr algn="ctr" indent="0" marL="0">
              <a:buNone/>
            </a:pPr>
            <a:r>
              <a:rPr lang="en-US" sz="850" dirty="0">
                <a:solidFill>
                  <a:schemeClr val="accent3"/>
                </a:solidFill>
                <a:latin typeface="Cambria" pitchFamily="34" charset="0"/>
                <a:ea typeface="Cambria" pitchFamily="34" charset="-122"/>
                <a:cs typeface="Cambria" pitchFamily="34" charset="-120"/>
              </a:rPr>
              <a:t>02</a:t>
            </a:r>
            <a:endParaRPr lang="en-US" sz="850" dirty="0"/>
          </a:p>
        </p:txBody>
      </p:sp>
      <p:sp>
        <p:nvSpPr>
          <p:cNvPr id="12" name="Time mark 3"/>
          <p:cNvSpPr/>
          <p:nvPr/>
        </p:nvSpPr>
        <p:spPr>
          <a:xfrm>
            <a:off x="8586216" y="5413248"/>
            <a:ext cx="91440" cy="91440"/>
          </a:xfrm>
          <a:prstGeom prst="ellipse">
            <a:avLst/>
          </a:prstGeom>
          <a:solidFill>
            <a:schemeClr val="accent1"/>
          </a:solidFill>
          <a:ln/>
        </p:spPr>
      </p:sp>
      <p:sp>
        <p:nvSpPr>
          <p:cNvPr id="13" name="Frame no 3"/>
          <p:cNvSpPr txBox="1"/>
          <p:nvPr/>
        </p:nvSpPr>
        <p:spPr>
          <a:xfrm>
            <a:off x="8266176" y="5605272"/>
            <a:ext cx="731520" cy="228600"/>
          </a:xfrm>
          <a:prstGeom prst="rect">
            <a:avLst/>
          </a:prstGeom>
          <a:noFill/>
          <a:ln/>
        </p:spPr>
        <p:txBody>
          <a:bodyPr wrap="square" lIns="0" tIns="0" rIns="0" bIns="0" rtlCol="0" anchor="t"/>
          <a:lstStyle/>
          <a:p>
            <a:pPr algn="ctr" indent="0" marL="0">
              <a:buNone/>
            </a:pPr>
            <a:r>
              <a:rPr lang="en-US" sz="850" dirty="0">
                <a:solidFill>
                  <a:schemeClr val="accent3"/>
                </a:solidFill>
                <a:latin typeface="Cambria" pitchFamily="34" charset="0"/>
                <a:ea typeface="Cambria" pitchFamily="34" charset="-122"/>
                <a:cs typeface="Cambria" pitchFamily="34" charset="-120"/>
              </a:rPr>
              <a:t>03</a:t>
            </a:r>
            <a:endParaRPr lang="en-US" sz="850" dirty="0"/>
          </a:p>
        </p:txBody>
      </p:sp>
      <p:sp>
        <p:nvSpPr>
          <p:cNvPr id="25" name="Slide Number Placeholder 0"/>
          <p:cNvSpPr>
            <a:spLocks noGrp="1"/>
          </p:cNvSpPr>
          <p:nvPr>
            <p:ph type="sldNum" sz="quarter" idx="4294967295"/>
          </p:nvPr>
        </p:nvSpPr>
        <p:spPr>
          <a:xfrm>
            <a:off x="9592056" y="700430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Cambria"/>
                <a:ea typeface="Cambria"/>
                <a:cs typeface="Camb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7004304"/>
            <a:ext cx="4572000" cy="237744"/>
          </a:xfrm>
          <a:prstGeom prst="rect">
            <a:avLst/>
          </a:prstGeom>
          <a:noFill/>
          <a:ln/>
        </p:spPr>
        <p:txBody>
          <a:bodyPr wrap="square" lIns="0" tIns="0" rIns="0" bIns="0" rtlCol="0" anchor="ctr"/>
          <a:lstStyle/>
          <a:p>
            <a:pPr algn="l" indent="0" marL="0">
              <a:buNone/>
            </a:pPr>
            <a:r>
              <a:rPr lang="en-US" sz="800" b="1" dirty="0">
                <a:solidFill>
                  <a:schemeClr val="accent1"/>
                </a:solidFill>
                <a:latin typeface="Cambria" pitchFamily="34" charset="0"/>
                <a:ea typeface="Cambria" pitchFamily="34" charset="-122"/>
                <a:cs typeface="Cambria" pitchFamily="34" charset="-120"/>
              </a:rPr>
              <a:t>01   </a:t>
            </a:r>
            <a:pPr algn="l" indent="0" marL="0">
              <a:buNone/>
            </a:pPr>
            <a:r>
              <a:rPr lang="en-US" sz="800" b="1" dirty="0">
                <a:solidFill>
                  <a:schemeClr val="accent3"/>
                </a:solidFill>
              </a:rPr>
              <a:t>터널   </a:t>
            </a:r>
            <a:pPr algn="l" indent="0" marL="0">
              <a:buNone/>
            </a:pPr>
            <a:r>
              <a:rPr lang="en-US" sz="800" spc="300" kern="0" dirty="0">
                <a:solidFill>
                  <a:schemeClr val="accent3"/>
                </a:solidFill>
                <a:latin typeface="Cambria" pitchFamily="34" charset="0"/>
                <a:ea typeface="Cambria" pitchFamily="34" charset="-122"/>
                <a:cs typeface="Cambria" pitchFamily="34" charset="-120"/>
              </a:rPr>
              <a:t>TUNNEL</a:t>
            </a:r>
            <a:endParaRPr lang="en-US" sz="800" dirty="0"/>
          </a:p>
        </p:txBody>
      </p:sp>
      <p:pic>
        <p:nvPicPr>
          <p:cNvPr id="3" name="Tunnel 07 — light trail" descr="Tunnel 07 — light trail">    </p:cNvPr>
          <p:cNvPicPr>
            <a:picLocks noChangeAspect="1"/>
          </p:cNvPicPr>
          <p:nvPr/>
        </p:nvPicPr>
        <p:blipFill>
          <a:blip r:embed="rId1"/>
          <a:stretch>
            <a:fillRect/>
          </a:stretch>
        </p:blipFill>
        <p:spPr>
          <a:xfrm>
            <a:off x="2560320" y="822960"/>
            <a:ext cx="2011680" cy="5486400"/>
          </a:xfrm>
          <a:prstGeom prst="rect">
            <a:avLst/>
          </a:prstGeom>
        </p:spPr>
      </p:pic>
      <p:pic>
        <p:nvPicPr>
          <p:cNvPr id="4" name="Tunnel 07" descr="Tunnel 07">    </p:cNvPr>
          <p:cNvPicPr>
            <a:picLocks noChangeAspect="1"/>
          </p:cNvPicPr>
          <p:nvPr/>
        </p:nvPicPr>
        <p:blipFill>
          <a:blip r:embed="rId2"/>
          <a:stretch>
            <a:fillRect/>
          </a:stretch>
        </p:blipFill>
        <p:spPr>
          <a:xfrm>
            <a:off x="4572000" y="822960"/>
            <a:ext cx="3657600" cy="5486400"/>
          </a:xfrm>
          <a:prstGeom prst="rect">
            <a:avLst/>
          </a:prstGeom>
        </p:spPr>
      </p:pic>
      <p:sp>
        <p:nvSpPr>
          <p:cNvPr id="5" name="Caption"/>
          <p:cNvSpPr txBox="1"/>
          <p:nvPr/>
        </p:nvSpPr>
        <p:spPr>
          <a:xfrm>
            <a:off x="8549640" y="5257800"/>
            <a:ext cx="1591056" cy="777240"/>
          </a:xfrm>
          <a:prstGeom prst="rect">
            <a:avLst/>
          </a:prstGeom>
          <a:noFill/>
          <a:ln/>
        </p:spPr>
        <p:txBody>
          <a:bodyPr wrap="square" lIns="0" tIns="0" rIns="0" bIns="0" rtlCol="0" anchor="b"/>
          <a:lstStyle/>
          <a:p>
            <a:pPr indent="0" marL="0">
              <a:buNone/>
            </a:pPr>
            <a:r>
              <a:rPr lang="en-US" sz="1300" b="1" dirty="0">
                <a:solidFill>
                  <a:schemeClr val="tx1"/>
                </a:solidFill>
              </a:rPr>
              <a:t>움직임이 만들어</a:t>
            </a:r>
            <a:endParaRPr lang="en-US" sz="1300" dirty="0"/>
          </a:p>
          <a:p>
            <a:pPr indent="0" marL="0">
              <a:buNone/>
            </a:pPr>
            <a:r>
              <a:rPr lang="en-US" sz="1300" b="1" dirty="0">
                <a:solidFill>
                  <a:schemeClr val="tx1"/>
                </a:solidFill>
              </a:rPr>
              <a:t>내는 흔적</a:t>
            </a:r>
            <a:endParaRPr lang="en-US" sz="1300" dirty="0"/>
          </a:p>
        </p:txBody>
      </p:sp>
      <p:sp>
        <p:nvSpPr>
          <p:cNvPr id="6" name="Caption EN"/>
          <p:cNvSpPr txBox="1"/>
          <p:nvPr/>
        </p:nvSpPr>
        <p:spPr>
          <a:xfrm>
            <a:off x="8549640" y="6080760"/>
            <a:ext cx="1591056" cy="228600"/>
          </a:xfrm>
          <a:prstGeom prst="rect">
            <a:avLst/>
          </a:prstGeom>
          <a:noFill/>
          <a:ln/>
        </p:spPr>
        <p:txBody>
          <a:bodyPr wrap="square" lIns="0" tIns="0" rIns="0" bIns="0" rtlCol="0" anchor="t"/>
          <a:lstStyle/>
          <a:p>
            <a:pPr indent="0" marL="0">
              <a:buNone/>
            </a:pPr>
            <a:r>
              <a:rPr lang="en-US" sz="900" i="1" dirty="0">
                <a:solidFill>
                  <a:schemeClr val="accent3"/>
                </a:solidFill>
                <a:latin typeface="Cambria" pitchFamily="34" charset="0"/>
                <a:ea typeface="Cambria" pitchFamily="34" charset="-122"/>
                <a:cs typeface="Cambria" pitchFamily="34" charset="-120"/>
              </a:rPr>
              <a:t>Traces of movement</a:t>
            </a:r>
            <a:endParaRPr lang="en-US" sz="900" dirty="0"/>
          </a:p>
        </p:txBody>
      </p:sp>
      <p:sp>
        <p:nvSpPr>
          <p:cNvPr id="25" name="Slide Number Placeholder 0"/>
          <p:cNvSpPr>
            <a:spLocks noGrp="1"/>
          </p:cNvSpPr>
          <p:nvPr>
            <p:ph type="sldNum" sz="quarter" idx="4294967295"/>
          </p:nvPr>
        </p:nvSpPr>
        <p:spPr>
          <a:xfrm>
            <a:off x="9592056" y="700430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Cambria"/>
                <a:ea typeface="Cambria"/>
                <a:cs typeface="Camb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7004304"/>
            <a:ext cx="4572000" cy="237744"/>
          </a:xfrm>
          <a:prstGeom prst="rect">
            <a:avLst/>
          </a:prstGeom>
          <a:noFill/>
          <a:ln/>
        </p:spPr>
        <p:txBody>
          <a:bodyPr wrap="square" lIns="0" tIns="0" rIns="0" bIns="0" rtlCol="0" anchor="ctr"/>
          <a:lstStyle/>
          <a:p>
            <a:pPr algn="l" indent="0" marL="0">
              <a:buNone/>
            </a:pPr>
            <a:r>
              <a:rPr lang="en-US" sz="800" b="1" dirty="0">
                <a:solidFill>
                  <a:schemeClr val="accent1"/>
                </a:solidFill>
                <a:latin typeface="Cambria" pitchFamily="34" charset="0"/>
                <a:ea typeface="Cambria" pitchFamily="34" charset="-122"/>
                <a:cs typeface="Cambria" pitchFamily="34" charset="-120"/>
              </a:rPr>
              <a:t>01   </a:t>
            </a:r>
            <a:pPr algn="l" indent="0" marL="0">
              <a:buNone/>
            </a:pPr>
            <a:r>
              <a:rPr lang="en-US" sz="800" b="1" dirty="0">
                <a:solidFill>
                  <a:schemeClr val="accent3"/>
                </a:solidFill>
              </a:rPr>
              <a:t>터널   </a:t>
            </a:r>
            <a:pPr algn="l" indent="0" marL="0">
              <a:buNone/>
            </a:pPr>
            <a:r>
              <a:rPr lang="en-US" sz="800" spc="300" kern="0" dirty="0">
                <a:solidFill>
                  <a:schemeClr val="accent3"/>
                </a:solidFill>
                <a:latin typeface="Cambria" pitchFamily="34" charset="0"/>
                <a:ea typeface="Cambria" pitchFamily="34" charset="-122"/>
                <a:cs typeface="Cambria" pitchFamily="34" charset="-120"/>
              </a:rPr>
              <a:t>TUNNEL</a:t>
            </a:r>
            <a:endParaRPr lang="en-US" sz="800" dirty="0"/>
          </a:p>
        </p:txBody>
      </p:sp>
      <p:pic>
        <p:nvPicPr>
          <p:cNvPr id="3" name="Tunnel 08" descr="Tunnel 08">    </p:cNvPr>
          <p:cNvPicPr>
            <a:picLocks noChangeAspect="1"/>
          </p:cNvPicPr>
          <p:nvPr/>
        </p:nvPicPr>
        <p:blipFill>
          <a:blip r:embed="rId1"/>
          <a:stretch>
            <a:fillRect/>
          </a:stretch>
        </p:blipFill>
        <p:spPr>
          <a:xfrm>
            <a:off x="3108960" y="914400"/>
            <a:ext cx="7580376" cy="5053584"/>
          </a:xfrm>
          <a:prstGeom prst="rect">
            <a:avLst/>
          </a:prstGeom>
        </p:spPr>
      </p:pic>
      <p:sp>
        <p:nvSpPr>
          <p:cNvPr id="4" name="Pull quote"/>
          <p:cNvSpPr txBox="1"/>
          <p:nvPr/>
        </p:nvSpPr>
        <p:spPr>
          <a:xfrm>
            <a:off x="548640" y="2926080"/>
            <a:ext cx="2240280" cy="3044952"/>
          </a:xfrm>
          <a:prstGeom prst="rect">
            <a:avLst/>
          </a:prstGeom>
          <a:noFill/>
          <a:ln/>
        </p:spPr>
        <p:txBody>
          <a:bodyPr wrap="square" lIns="0" tIns="0" rIns="0" bIns="0" rtlCol="0" anchor="b"/>
          <a:lstStyle/>
          <a:p>
            <a:pPr indent="0" marL="0">
              <a:lnSpc>
                <a:spcPct val="62000"/>
              </a:lnSpc>
              <a:buNone/>
            </a:pPr>
            <a:r>
              <a:rPr lang="en-US" sz="3250" b="1" dirty="0">
                <a:solidFill>
                  <a:schemeClr val="accent1"/>
                </a:solidFill>
                <a:latin typeface="Cambria" pitchFamily="34" charset="0"/>
                <a:ea typeface="Cambria" pitchFamily="34" charset="-122"/>
                <a:cs typeface="Cambria" pitchFamily="34" charset="-120"/>
              </a:rPr>
              <a:t>“</a:t>
            </a:r>
            <a:endParaRPr lang="en-US" sz="3250" dirty="0"/>
          </a:p>
          <a:p>
            <a:pPr indent="0" marL="0">
              <a:lnSpc>
                <a:spcPct val="150000"/>
              </a:lnSpc>
              <a:buNone/>
            </a:pPr>
            <a:r>
              <a:rPr lang="en-US" sz="1250" dirty="0">
                <a:solidFill>
                  <a:schemeClr val="tx1"/>
                </a:solidFill>
              </a:rPr>
              <a:t>터널은 분명한 방향을 가진 공간이지만, 그 안에 있는 사람에게는 출구조차 확신할 수 없는 장소가 됩니다.</a:t>
            </a:r>
            <a:endParaRPr lang="en-US" sz="3250" dirty="0"/>
          </a:p>
        </p:txBody>
      </p:sp>
      <p:sp>
        <p:nvSpPr>
          <p:cNvPr id="25" name="Slide Number Placeholder 0"/>
          <p:cNvSpPr>
            <a:spLocks noGrp="1"/>
          </p:cNvSpPr>
          <p:nvPr>
            <p:ph type="sldNum" sz="quarter" idx="4294967295"/>
          </p:nvPr>
        </p:nvSpPr>
        <p:spPr>
          <a:xfrm>
            <a:off x="9592056" y="700430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Cambria"/>
                <a:ea typeface="Cambria"/>
                <a:cs typeface="Camb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7004304"/>
            <a:ext cx="4572000" cy="237744"/>
          </a:xfrm>
          <a:prstGeom prst="rect">
            <a:avLst/>
          </a:prstGeom>
          <a:noFill/>
          <a:ln/>
        </p:spPr>
        <p:txBody>
          <a:bodyPr wrap="square" lIns="0" tIns="0" rIns="0" bIns="0" rtlCol="0" anchor="ctr"/>
          <a:lstStyle/>
          <a:p>
            <a:pPr algn="l" indent="0" marL="0">
              <a:buNone/>
            </a:pPr>
            <a:r>
              <a:rPr lang="en-US" sz="800" b="1" dirty="0">
                <a:solidFill>
                  <a:schemeClr val="accent1"/>
                </a:solidFill>
                <a:latin typeface="Cambria" pitchFamily="34" charset="0"/>
                <a:ea typeface="Cambria" pitchFamily="34" charset="-122"/>
                <a:cs typeface="Cambria" pitchFamily="34" charset="-120"/>
              </a:rPr>
              <a:t>01   </a:t>
            </a:r>
            <a:pPr algn="l" indent="0" marL="0">
              <a:buNone/>
            </a:pPr>
            <a:r>
              <a:rPr lang="en-US" sz="800" b="1" dirty="0">
                <a:solidFill>
                  <a:schemeClr val="accent3"/>
                </a:solidFill>
              </a:rPr>
              <a:t>터널   </a:t>
            </a:r>
            <a:pPr algn="l" indent="0" marL="0">
              <a:buNone/>
            </a:pPr>
            <a:r>
              <a:rPr lang="en-US" sz="800" spc="300" kern="0" dirty="0">
                <a:solidFill>
                  <a:schemeClr val="accent3"/>
                </a:solidFill>
                <a:latin typeface="Cambria" pitchFamily="34" charset="0"/>
                <a:ea typeface="Cambria" pitchFamily="34" charset="-122"/>
                <a:cs typeface="Cambria" pitchFamily="34" charset="-120"/>
              </a:rPr>
              <a:t>TUNNEL</a:t>
            </a:r>
            <a:endParaRPr lang="en-US" sz="800" dirty="0"/>
          </a:p>
        </p:txBody>
      </p:sp>
      <p:pic>
        <p:nvPicPr>
          <p:cNvPr id="3" name="Tunnel 09" descr="Tunnel 09">    </p:cNvPr>
          <p:cNvPicPr>
            <a:picLocks noChangeAspect="1"/>
          </p:cNvPicPr>
          <p:nvPr/>
        </p:nvPicPr>
        <p:blipFill>
          <a:blip r:embed="rId1"/>
          <a:stretch>
            <a:fillRect/>
          </a:stretch>
        </p:blipFill>
        <p:spPr>
          <a:xfrm>
            <a:off x="3886200" y="548640"/>
            <a:ext cx="3081528" cy="4622292"/>
          </a:xfrm>
          <a:prstGeom prst="rect">
            <a:avLst/>
          </a:prstGeom>
        </p:spPr>
      </p:pic>
      <p:pic>
        <p:nvPicPr>
          <p:cNvPr id="4" name="Tunnel 10" descr="Tunnel 10">    </p:cNvPr>
          <p:cNvPicPr>
            <a:picLocks noChangeAspect="1"/>
          </p:cNvPicPr>
          <p:nvPr/>
        </p:nvPicPr>
        <p:blipFill>
          <a:blip r:embed="rId2"/>
          <a:stretch>
            <a:fillRect/>
          </a:stretch>
        </p:blipFill>
        <p:spPr>
          <a:xfrm>
            <a:off x="7059168" y="548640"/>
            <a:ext cx="3081528" cy="4622292"/>
          </a:xfrm>
          <a:prstGeom prst="rect">
            <a:avLst/>
          </a:prstGeom>
        </p:spPr>
      </p:pic>
      <p:sp>
        <p:nvSpPr>
          <p:cNvPr id="5" name="Pull quote"/>
          <p:cNvSpPr txBox="1"/>
          <p:nvPr/>
        </p:nvSpPr>
        <p:spPr>
          <a:xfrm>
            <a:off x="548640" y="4023360"/>
            <a:ext cx="2926080" cy="2560320"/>
          </a:xfrm>
          <a:prstGeom prst="rect">
            <a:avLst/>
          </a:prstGeom>
          <a:noFill/>
          <a:ln/>
        </p:spPr>
        <p:txBody>
          <a:bodyPr wrap="square" lIns="0" tIns="0" rIns="0" bIns="0" rtlCol="0" anchor="b"/>
          <a:lstStyle/>
          <a:p>
            <a:pPr indent="0" marL="0">
              <a:lnSpc>
                <a:spcPct val="62000"/>
              </a:lnSpc>
              <a:buNone/>
            </a:pPr>
            <a:r>
              <a:rPr lang="en-US" sz="3900" b="1" dirty="0">
                <a:solidFill>
                  <a:schemeClr val="accent1"/>
                </a:solidFill>
                <a:latin typeface="Cambria" pitchFamily="34" charset="0"/>
                <a:ea typeface="Cambria" pitchFamily="34" charset="-122"/>
                <a:cs typeface="Cambria" pitchFamily="34" charset="-120"/>
              </a:rPr>
              <a:t>“</a:t>
            </a:r>
            <a:endParaRPr lang="en-US" sz="3900" dirty="0"/>
          </a:p>
          <a:p>
            <a:pPr indent="0" marL="0">
              <a:lnSpc>
                <a:spcPct val="150000"/>
              </a:lnSpc>
              <a:buNone/>
            </a:pPr>
            <a:r>
              <a:rPr lang="en-US" sz="1500" dirty="0">
                <a:solidFill>
                  <a:schemeClr val="tx1"/>
                </a:solidFill>
              </a:rPr>
              <a:t>돌아갈 수도, 선뜻 나아갈 수도 없는 순간에 머무는 개인의 내면</a:t>
            </a:r>
            <a:endParaRPr lang="en-US" sz="3900" dirty="0"/>
          </a:p>
        </p:txBody>
      </p:sp>
      <p:sp>
        <p:nvSpPr>
          <p:cNvPr id="25" name="Slide Number Placeholder 0"/>
          <p:cNvSpPr>
            <a:spLocks noGrp="1"/>
          </p:cNvSpPr>
          <p:nvPr>
            <p:ph type="sldNum" sz="quarter" idx="4294967295"/>
          </p:nvPr>
        </p:nvSpPr>
        <p:spPr>
          <a:xfrm>
            <a:off x="9592056" y="700430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3"/>
                </a:solidFill>
                <a:latin typeface="Cambria"/>
                <a:ea typeface="Cambria"/>
                <a:cs typeface="Camb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Dissociation — opener" descr="Dissociation — opener">    </p:cNvPr>
          <p:cNvPicPr>
            <a:picLocks noChangeAspect="1"/>
          </p:cNvPicPr>
          <p:nvPr/>
        </p:nvPicPr>
        <p:blipFill>
          <a:blip r:embed="rId1"/>
          <a:stretch>
            <a:fillRect/>
          </a:stretch>
        </p:blipFill>
        <p:spPr>
          <a:xfrm>
            <a:off x="3698748" y="1097280"/>
            <a:ext cx="3291840" cy="4937760"/>
          </a:xfrm>
          <a:prstGeom prst="rect">
            <a:avLst/>
          </a:prstGeom>
        </p:spPr>
      </p:pic>
      <p:sp>
        <p:nvSpPr>
          <p:cNvPr id="3" name="Series label"/>
          <p:cNvSpPr txBox="1"/>
          <p:nvPr/>
        </p:nvSpPr>
        <p:spPr>
          <a:xfrm>
            <a:off x="548640" y="548640"/>
            <a:ext cx="2743200" cy="274320"/>
          </a:xfrm>
          <a:prstGeom prst="rect">
            <a:avLst/>
          </a:prstGeom>
          <a:noFill/>
          <a:ln/>
        </p:spPr>
        <p:txBody>
          <a:bodyPr wrap="square" lIns="0" tIns="0" rIns="0" bIns="0" rtlCol="0" anchor="ctr"/>
          <a:lstStyle/>
          <a:p>
            <a:pPr indent="0" marL="0">
              <a:buNone/>
            </a:pPr>
            <a:r>
              <a:rPr lang="en-US" sz="1000" b="1" spc="500" kern="0" dirty="0">
                <a:solidFill>
                  <a:schemeClr val="accent2"/>
                </a:solidFill>
                <a:latin typeface="Cambria" pitchFamily="34" charset="0"/>
                <a:ea typeface="Cambria" pitchFamily="34" charset="-122"/>
                <a:cs typeface="Cambria" pitchFamily="34" charset="-120"/>
              </a:rPr>
              <a:t>SERIES 02</a:t>
            </a:r>
            <a:endParaRPr lang="en-US" sz="1000" dirty="0"/>
          </a:p>
        </p:txBody>
      </p:sp>
      <p:sp>
        <p:nvSpPr>
          <p:cNvPr id="4" name="Title — first syllable"/>
          <p:cNvSpPr txBox="1"/>
          <p:nvPr/>
        </p:nvSpPr>
        <p:spPr>
          <a:xfrm>
            <a:off x="548640" y="1051560"/>
            <a:ext cx="2830068" cy="1828800"/>
          </a:xfrm>
          <a:prstGeom prst="rect">
            <a:avLst/>
          </a:prstGeom>
          <a:noFill/>
          <a:ln/>
        </p:spPr>
        <p:txBody>
          <a:bodyPr wrap="square" lIns="0" tIns="0" rIns="0" bIns="0" rtlCol="0" anchor="ctr"/>
          <a:lstStyle/>
          <a:p>
            <a:pPr algn="r" indent="0" marL="0">
              <a:buNone/>
            </a:pPr>
            <a:r>
              <a:rPr lang="en-US" sz="12400" b="1" dirty="0">
                <a:solidFill>
                  <a:schemeClr val="bg1"/>
                </a:solidFill>
              </a:rPr>
              <a:t>해</a:t>
            </a:r>
            <a:endParaRPr lang="en-US" sz="12400" dirty="0"/>
          </a:p>
        </p:txBody>
      </p:sp>
      <p:sp>
        <p:nvSpPr>
          <p:cNvPr id="5" name="Title — second syllable"/>
          <p:cNvSpPr txBox="1"/>
          <p:nvPr/>
        </p:nvSpPr>
        <p:spPr>
          <a:xfrm>
            <a:off x="7310628" y="3886200"/>
            <a:ext cx="2743200" cy="1828800"/>
          </a:xfrm>
          <a:prstGeom prst="rect">
            <a:avLst/>
          </a:prstGeom>
          <a:noFill/>
          <a:ln/>
        </p:spPr>
        <p:txBody>
          <a:bodyPr wrap="square" lIns="0" tIns="0" rIns="0" bIns="0" rtlCol="0" anchor="ctr"/>
          <a:lstStyle/>
          <a:p>
            <a:pPr algn="l" indent="0" marL="0">
              <a:buNone/>
            </a:pPr>
            <a:r>
              <a:rPr lang="en-US" sz="12400" b="1" dirty="0">
                <a:solidFill>
                  <a:schemeClr val="bg1"/>
                </a:solidFill>
              </a:rPr>
              <a:t>리</a:t>
            </a:r>
            <a:endParaRPr lang="en-US" sz="12400" dirty="0"/>
          </a:p>
        </p:txBody>
      </p:sp>
      <p:sp>
        <p:nvSpPr>
          <p:cNvPr id="6" name="English title"/>
          <p:cNvSpPr txBox="1"/>
          <p:nvPr/>
        </p:nvSpPr>
        <p:spPr>
          <a:xfrm>
            <a:off x="7356348" y="5760720"/>
            <a:ext cx="2743200" cy="365760"/>
          </a:xfrm>
          <a:prstGeom prst="rect">
            <a:avLst/>
          </a:prstGeom>
          <a:noFill/>
          <a:ln/>
        </p:spPr>
        <p:txBody>
          <a:bodyPr wrap="square" lIns="0" tIns="0" rIns="0" bIns="0" rtlCol="0" anchor="t"/>
          <a:lstStyle/>
          <a:p>
            <a:pPr indent="0" marL="0">
              <a:buNone/>
            </a:pPr>
            <a:r>
              <a:rPr lang="en-US" sz="1800" i="1" dirty="0">
                <a:solidFill>
                  <a:schemeClr val="accent5"/>
                </a:solidFill>
                <a:latin typeface="Cambria" pitchFamily="34" charset="0"/>
                <a:ea typeface="Cambria" pitchFamily="34" charset="-122"/>
                <a:cs typeface="Cambria" pitchFamily="34" charset="-120"/>
              </a:rPr>
              <a:t>Dissociation</a:t>
            </a:r>
            <a:endParaRPr lang="en-US" sz="1800" dirty="0"/>
          </a:p>
        </p:txBody>
      </p:sp>
      <p:sp>
        <p:nvSpPr>
          <p:cNvPr id="7" name="Tagline"/>
          <p:cNvSpPr txBox="1"/>
          <p:nvPr/>
        </p:nvSpPr>
        <p:spPr>
          <a:xfrm>
            <a:off x="548640" y="5394960"/>
            <a:ext cx="2743200" cy="731520"/>
          </a:xfrm>
          <a:prstGeom prst="rect">
            <a:avLst/>
          </a:prstGeom>
          <a:noFill/>
          <a:ln/>
        </p:spPr>
        <p:txBody>
          <a:bodyPr wrap="square" lIns="0" tIns="0" rIns="0" bIns="0" rtlCol="0" anchor="b"/>
          <a:lstStyle/>
          <a:p>
            <a:pPr algn="r" indent="0" marL="0">
              <a:lnSpc>
                <a:spcPct val="140000"/>
              </a:lnSpc>
              <a:buNone/>
            </a:pPr>
            <a:r>
              <a:rPr lang="en-US" sz="1200" dirty="0">
                <a:solidFill>
                  <a:schemeClr val="accent6"/>
                </a:solidFill>
              </a:rPr>
              <a:t>현실과 자신 사이에</a:t>
            </a:r>
            <a:endParaRPr lang="en-US" sz="1200" dirty="0"/>
          </a:p>
          <a:p>
            <a:pPr algn="r" indent="0" marL="0">
              <a:lnSpc>
                <a:spcPct val="140000"/>
              </a:lnSpc>
              <a:buNone/>
            </a:pPr>
            <a:r>
              <a:rPr lang="en-US" sz="1200" dirty="0">
                <a:solidFill>
                  <a:schemeClr val="accent6"/>
                </a:solidFill>
              </a:rPr>
              <a:t>보이지 않는 거리</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7004304"/>
            <a:ext cx="4572000" cy="237744"/>
          </a:xfrm>
          <a:prstGeom prst="rect">
            <a:avLst/>
          </a:prstGeom>
          <a:noFill/>
          <a:ln/>
        </p:spPr>
        <p:txBody>
          <a:bodyPr wrap="square" lIns="0" tIns="0" rIns="0" bIns="0" rtlCol="0" anchor="ctr"/>
          <a:lstStyle/>
          <a:p>
            <a:pPr algn="l" indent="0" marL="0">
              <a:buNone/>
            </a:pPr>
            <a:r>
              <a:rPr lang="en-US" sz="800" b="1" dirty="0">
                <a:solidFill>
                  <a:schemeClr val="accent2"/>
                </a:solidFill>
                <a:latin typeface="Cambria" pitchFamily="34" charset="0"/>
                <a:ea typeface="Cambria" pitchFamily="34" charset="-122"/>
                <a:cs typeface="Cambria" pitchFamily="34" charset="-120"/>
              </a:rPr>
              <a:t>02   </a:t>
            </a:r>
            <a:pPr algn="l" indent="0" marL="0">
              <a:buNone/>
            </a:pPr>
            <a:r>
              <a:rPr lang="en-US" sz="800" b="1" dirty="0">
                <a:solidFill>
                  <a:schemeClr val="accent5"/>
                </a:solidFill>
              </a:rPr>
              <a:t>해리   </a:t>
            </a:r>
            <a:pPr algn="l" indent="0" marL="0">
              <a:buNone/>
            </a:pPr>
            <a:r>
              <a:rPr lang="en-US" sz="800" spc="300" kern="0" dirty="0">
                <a:solidFill>
                  <a:schemeClr val="accent5"/>
                </a:solidFill>
                <a:latin typeface="Cambria" pitchFamily="34" charset="0"/>
                <a:ea typeface="Cambria" pitchFamily="34" charset="-122"/>
                <a:cs typeface="Cambria" pitchFamily="34" charset="-120"/>
              </a:rPr>
              <a:t>DISSOCIATION</a:t>
            </a:r>
            <a:endParaRPr lang="en-US" sz="800" dirty="0"/>
          </a:p>
        </p:txBody>
      </p:sp>
      <p:sp>
        <p:nvSpPr>
          <p:cNvPr id="3" name="Eyebrow"/>
          <p:cNvSpPr txBox="1"/>
          <p:nvPr/>
        </p:nvSpPr>
        <p:spPr>
          <a:xfrm>
            <a:off x="548640" y="548640"/>
            <a:ext cx="4572000" cy="256032"/>
          </a:xfrm>
          <a:prstGeom prst="rect">
            <a:avLst/>
          </a:prstGeom>
          <a:noFill/>
          <a:ln/>
        </p:spPr>
        <p:txBody>
          <a:bodyPr wrap="square" lIns="0" tIns="0" rIns="0" bIns="0" rtlCol="0" anchor="ctr"/>
          <a:lstStyle/>
          <a:p>
            <a:pPr indent="0" marL="0">
              <a:buNone/>
            </a:pPr>
            <a:r>
              <a:rPr lang="en-US" sz="850" spc="300" kern="0" dirty="0">
                <a:solidFill>
                  <a:schemeClr val="accent2"/>
                </a:solidFill>
                <a:latin typeface="Cambria" pitchFamily="34" charset="0"/>
                <a:ea typeface="Cambria" pitchFamily="34" charset="-122"/>
                <a:cs typeface="Cambria" pitchFamily="34" charset="-120"/>
              </a:rPr>
              <a:t>SERIES 02  ·  ARTIST STATEMENT</a:t>
            </a:r>
            <a:endParaRPr lang="en-US" sz="850" dirty="0"/>
          </a:p>
        </p:txBody>
      </p:sp>
      <p:sp>
        <p:nvSpPr>
          <p:cNvPr id="4" name="Title"/>
          <p:cNvSpPr txBox="1"/>
          <p:nvPr/>
        </p:nvSpPr>
        <p:spPr>
          <a:xfrm>
            <a:off x="548640" y="868680"/>
            <a:ext cx="7315200" cy="594360"/>
          </a:xfrm>
          <a:prstGeom prst="rect">
            <a:avLst/>
          </a:prstGeom>
          <a:noFill/>
          <a:ln/>
        </p:spPr>
        <p:txBody>
          <a:bodyPr wrap="square" lIns="0" tIns="0" rIns="0" bIns="0" rtlCol="0" anchor="ctr"/>
          <a:lstStyle/>
          <a:p>
            <a:pPr indent="0" marL="0">
              <a:buNone/>
            </a:pPr>
            <a:r>
              <a:rPr lang="en-US" sz="3000" b="1" dirty="0">
                <a:solidFill>
                  <a:schemeClr val="bg1"/>
                </a:solidFill>
              </a:rPr>
              <a:t>《해리》</a:t>
            </a:r>
            <a:pPr indent="0" marL="0">
              <a:buNone/>
            </a:pPr>
            <a:r>
              <a:rPr lang="en-US" sz="1500" i="1" dirty="0">
                <a:solidFill>
                  <a:schemeClr val="accent5"/>
                </a:solidFill>
                <a:latin typeface="Cambria" pitchFamily="34" charset="0"/>
                <a:ea typeface="Cambria" pitchFamily="34" charset="-122"/>
                <a:cs typeface="Cambria" pitchFamily="34" charset="-120"/>
              </a:rPr>
              <a:t>  Dissociation</a:t>
            </a:r>
            <a:endParaRPr lang="en-US" sz="3000" dirty="0"/>
          </a:p>
        </p:txBody>
      </p:sp>
      <p:sp>
        <p:nvSpPr>
          <p:cNvPr id="5" name="Section label 1"/>
          <p:cNvSpPr txBox="1"/>
          <p:nvPr/>
        </p:nvSpPr>
        <p:spPr>
          <a:xfrm>
            <a:off x="548640" y="1828800"/>
            <a:ext cx="2971800" cy="256032"/>
          </a:xfrm>
          <a:prstGeom prst="rect">
            <a:avLst/>
          </a:prstGeom>
          <a:noFill/>
          <a:ln/>
        </p:spPr>
        <p:txBody>
          <a:bodyPr wrap="square" lIns="0" tIns="0" rIns="0" bIns="0" rtlCol="0" anchor="ctr"/>
          <a:lstStyle/>
          <a:p>
            <a:pPr indent="0" marL="0">
              <a:buNone/>
            </a:pPr>
            <a:r>
              <a:rPr lang="en-US" sz="950" b="1" dirty="0">
                <a:solidFill>
                  <a:schemeClr val="bg1"/>
                </a:solidFill>
              </a:rPr>
              <a:t>기획 의도</a:t>
            </a:r>
            <a:pPr indent="0" marL="0">
              <a:buNone/>
            </a:pPr>
            <a:r>
              <a:rPr lang="en-US" sz="800" spc="300" kern="0" dirty="0">
                <a:solidFill>
                  <a:schemeClr val="accent5"/>
                </a:solidFill>
                <a:latin typeface="Cambria" pitchFamily="34" charset="0"/>
                <a:ea typeface="Cambria" pitchFamily="34" charset="-122"/>
                <a:cs typeface="Cambria" pitchFamily="34" charset="-120"/>
              </a:rPr>
              <a:t>    CONCEPT</a:t>
            </a:r>
            <a:endParaRPr lang="en-US" sz="950" dirty="0"/>
          </a:p>
        </p:txBody>
      </p:sp>
      <p:sp>
        <p:nvSpPr>
          <p:cNvPr id="6" name="Statement 1"/>
          <p:cNvSpPr txBox="1"/>
          <p:nvPr/>
        </p:nvSpPr>
        <p:spPr>
          <a:xfrm>
            <a:off x="548640" y="2212848"/>
            <a:ext cx="2971800" cy="4389120"/>
          </a:xfrm>
          <a:prstGeom prst="rect">
            <a:avLst/>
          </a:prstGeom>
          <a:noFill/>
          <a:ln/>
        </p:spPr>
        <p:txBody>
          <a:bodyPr wrap="square" lIns="0" tIns="0" rIns="0" bIns="0" rtlCol="0" anchor="t"/>
          <a:lstStyle/>
          <a:p>
            <a:pPr algn="l" indent="0" marL="0">
              <a:lnSpc>
                <a:spcPct val="160000"/>
              </a:lnSpc>
              <a:buNone/>
            </a:pPr>
            <a:r>
              <a:rPr lang="en-US" sz="1100" dirty="0">
                <a:solidFill>
                  <a:schemeClr val="accent6"/>
                </a:solidFill>
              </a:rPr>
              <a:t>《해리》는 현실 속에 존재하면서도 주변의 세계를 온전히 감각하거나 그 안에 참여하지 못하는 심리적 상태에서 출발한 작업입니다. 사람과 빛으로 가득한 공간에 머물고 있지만, 그 모든 것이 자신과 분리되어 있는 듯한 순간이 있습니다. 주변의 상황을 인식하고 있음에도 그것이 실감 나지 않거나, 마치 안개 너머에서 바라보듯 현실과 자신 사이에 보이지 않는 거리가 생깁니다. 저는 이러한 감각의 단절과 현실로부터 분리된 듯한 경험을 사진으로 표현하고자 했습니다.</a:t>
            </a:r>
            <a:endParaRPr lang="en-US" sz="1100" dirty="0"/>
          </a:p>
        </p:txBody>
      </p:sp>
      <p:pic>
        <p:nvPicPr>
          <p:cNvPr id="7" name="Dissociation 01" descr="Dissociation 01">    </p:cNvPr>
          <p:cNvPicPr>
            <a:picLocks noChangeAspect="1"/>
          </p:cNvPicPr>
          <p:nvPr/>
        </p:nvPicPr>
        <p:blipFill>
          <a:blip r:embed="rId1"/>
          <a:stretch>
            <a:fillRect/>
          </a:stretch>
        </p:blipFill>
        <p:spPr>
          <a:xfrm>
            <a:off x="3840480" y="1828800"/>
            <a:ext cx="3008376" cy="4512564"/>
          </a:xfrm>
          <a:prstGeom prst="rect">
            <a:avLst/>
          </a:prstGeom>
        </p:spPr>
      </p:pic>
      <p:sp>
        <p:nvSpPr>
          <p:cNvPr id="8" name="Section label 2"/>
          <p:cNvSpPr txBox="1"/>
          <p:nvPr/>
        </p:nvSpPr>
        <p:spPr>
          <a:xfrm>
            <a:off x="7168896" y="1828800"/>
            <a:ext cx="2971800" cy="256032"/>
          </a:xfrm>
          <a:prstGeom prst="rect">
            <a:avLst/>
          </a:prstGeom>
          <a:noFill/>
          <a:ln/>
        </p:spPr>
        <p:txBody>
          <a:bodyPr wrap="square" lIns="0" tIns="0" rIns="0" bIns="0" rtlCol="0" anchor="ctr"/>
          <a:lstStyle/>
          <a:p>
            <a:pPr indent="0" marL="0">
              <a:buNone/>
            </a:pPr>
            <a:r>
              <a:rPr lang="en-US" sz="950" b="1" dirty="0">
                <a:solidFill>
                  <a:schemeClr val="bg1"/>
                </a:solidFill>
              </a:rPr>
              <a:t>전구와 촛불</a:t>
            </a:r>
            <a:pPr indent="0" marL="0">
              <a:buNone/>
            </a:pPr>
            <a:r>
              <a:rPr lang="en-US" sz="800" spc="300" kern="0" dirty="0">
                <a:solidFill>
                  <a:schemeClr val="accent5"/>
                </a:solidFill>
                <a:latin typeface="Cambria" pitchFamily="34" charset="0"/>
                <a:ea typeface="Cambria" pitchFamily="34" charset="-122"/>
                <a:cs typeface="Cambria" pitchFamily="34" charset="-120"/>
              </a:rPr>
              <a:t>    SYMBOL</a:t>
            </a:r>
            <a:endParaRPr lang="en-US" sz="950" dirty="0"/>
          </a:p>
        </p:txBody>
      </p:sp>
      <p:sp>
        <p:nvSpPr>
          <p:cNvPr id="9" name="Statement 2"/>
          <p:cNvSpPr txBox="1"/>
          <p:nvPr/>
        </p:nvSpPr>
        <p:spPr>
          <a:xfrm>
            <a:off x="7168896" y="2212848"/>
            <a:ext cx="2971800" cy="4389120"/>
          </a:xfrm>
          <a:prstGeom prst="rect">
            <a:avLst/>
          </a:prstGeom>
          <a:noFill/>
          <a:ln/>
        </p:spPr>
        <p:txBody>
          <a:bodyPr wrap="square" lIns="0" tIns="0" rIns="0" bIns="0" rtlCol="0" anchor="t"/>
          <a:lstStyle/>
          <a:p>
            <a:pPr algn="l" indent="0" marL="0">
              <a:lnSpc>
                <a:spcPct val="160000"/>
              </a:lnSpc>
              <a:buNone/>
            </a:pPr>
            <a:r>
              <a:rPr lang="en-US" sz="1100" dirty="0">
                <a:solidFill>
                  <a:schemeClr val="accent6"/>
                </a:solidFill>
              </a:rPr>
              <a:t>작품 속 전구와 촛불은 주변 사람들의 말과 평가, 그리고 관심과 배려의 형태로 드러나는 외부의 시선을 상징합니다. 이러한 시선은 반드시 적대적이거나 억압적인 것은 아닙니다. 때로는 무심한 평가일 수도 있고, 상대를 온전히 이해하지 못한 채 건네는 관심일 수도 있습니다. 외부의 세계는 여전히 밝고 평온하게 존재하지만, 그 안에 있는 인물이 경험하는 내면의 세계는 그와 다를 수 있습니다.</a:t>
            </a:r>
            <a:endParaRPr lang="en-US" sz="1100" dirty="0"/>
          </a:p>
        </p:txBody>
      </p:sp>
      <p:sp>
        <p:nvSpPr>
          <p:cNvPr id="25" name="Slide Number Placeholder 0"/>
          <p:cNvSpPr>
            <a:spLocks noGrp="1"/>
          </p:cNvSpPr>
          <p:nvPr>
            <p:ph type="sldNum" sz="quarter" idx="4294967295"/>
          </p:nvPr>
        </p:nvSpPr>
        <p:spPr>
          <a:xfrm>
            <a:off x="9592056" y="700430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5"/>
                </a:solidFill>
                <a:latin typeface="Cambria"/>
                <a:ea typeface="Cambria"/>
                <a:cs typeface="Camb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7004304"/>
            <a:ext cx="4572000" cy="237744"/>
          </a:xfrm>
          <a:prstGeom prst="rect">
            <a:avLst/>
          </a:prstGeom>
          <a:noFill/>
          <a:ln/>
        </p:spPr>
        <p:txBody>
          <a:bodyPr wrap="square" lIns="0" tIns="0" rIns="0" bIns="0" rtlCol="0" anchor="ctr"/>
          <a:lstStyle/>
          <a:p>
            <a:pPr algn="l" indent="0" marL="0">
              <a:buNone/>
            </a:pPr>
            <a:r>
              <a:rPr lang="en-US" sz="800" b="1" dirty="0">
                <a:solidFill>
                  <a:schemeClr val="accent2"/>
                </a:solidFill>
                <a:latin typeface="Cambria" pitchFamily="34" charset="0"/>
                <a:ea typeface="Cambria" pitchFamily="34" charset="-122"/>
                <a:cs typeface="Cambria" pitchFamily="34" charset="-120"/>
              </a:rPr>
              <a:t>02   </a:t>
            </a:r>
            <a:pPr algn="l" indent="0" marL="0">
              <a:buNone/>
            </a:pPr>
            <a:r>
              <a:rPr lang="en-US" sz="800" b="1" dirty="0">
                <a:solidFill>
                  <a:schemeClr val="accent5"/>
                </a:solidFill>
              </a:rPr>
              <a:t>해리   </a:t>
            </a:r>
            <a:pPr algn="l" indent="0" marL="0">
              <a:buNone/>
            </a:pPr>
            <a:r>
              <a:rPr lang="en-US" sz="800" spc="300" kern="0" dirty="0">
                <a:solidFill>
                  <a:schemeClr val="accent5"/>
                </a:solidFill>
                <a:latin typeface="Cambria" pitchFamily="34" charset="0"/>
                <a:ea typeface="Cambria" pitchFamily="34" charset="-122"/>
                <a:cs typeface="Cambria" pitchFamily="34" charset="-120"/>
              </a:rPr>
              <a:t>DISSOCIATION</a:t>
            </a:r>
            <a:endParaRPr lang="en-US" sz="800" dirty="0"/>
          </a:p>
        </p:txBody>
      </p:sp>
      <p:pic>
        <p:nvPicPr>
          <p:cNvPr id="3" name="Dissociation 02 — left half" descr="Dissociation 02 — left half">    </p:cNvPr>
          <p:cNvPicPr>
            <a:picLocks noChangeAspect="1"/>
          </p:cNvPicPr>
          <p:nvPr/>
        </p:nvPicPr>
        <p:blipFill>
          <a:blip r:embed="rId1"/>
          <a:stretch>
            <a:fillRect/>
          </a:stretch>
        </p:blipFill>
        <p:spPr>
          <a:xfrm>
            <a:off x="548640" y="777240"/>
            <a:ext cx="1828800" cy="5486400"/>
          </a:xfrm>
          <a:prstGeom prst="rect">
            <a:avLst/>
          </a:prstGeom>
        </p:spPr>
      </p:pic>
      <p:pic>
        <p:nvPicPr>
          <p:cNvPr id="4" name="Dissociation 02 — right half" descr="Dissociation 02 — right half">    </p:cNvPr>
          <p:cNvPicPr>
            <a:picLocks noChangeAspect="1"/>
          </p:cNvPicPr>
          <p:nvPr/>
        </p:nvPicPr>
        <p:blipFill>
          <a:blip r:embed="rId2"/>
          <a:stretch>
            <a:fillRect/>
          </a:stretch>
        </p:blipFill>
        <p:spPr>
          <a:xfrm>
            <a:off x="2651760" y="1097280"/>
            <a:ext cx="1828800" cy="5486400"/>
          </a:xfrm>
          <a:prstGeom prst="rect">
            <a:avLst/>
          </a:prstGeom>
        </p:spPr>
      </p:pic>
      <p:sp>
        <p:nvSpPr>
          <p:cNvPr id="5" name="Display"/>
          <p:cNvSpPr txBox="1"/>
          <p:nvPr/>
        </p:nvSpPr>
        <p:spPr>
          <a:xfrm>
            <a:off x="5120640" y="1828800"/>
            <a:ext cx="5020056" cy="548640"/>
          </a:xfrm>
          <a:prstGeom prst="rect">
            <a:avLst/>
          </a:prstGeom>
          <a:noFill/>
          <a:ln/>
        </p:spPr>
        <p:txBody>
          <a:bodyPr wrap="square" lIns="0" tIns="0" rIns="0" bIns="0" rtlCol="0" anchor="b"/>
          <a:lstStyle/>
          <a:p>
            <a:pPr indent="0" marL="0">
              <a:buNone/>
            </a:pPr>
            <a:r>
              <a:rPr lang="en-US" sz="3000" i="1" dirty="0">
                <a:solidFill>
                  <a:schemeClr val="accent2"/>
                </a:solidFill>
                <a:latin typeface="Cambria" pitchFamily="34" charset="0"/>
                <a:ea typeface="Cambria" pitchFamily="34" charset="-122"/>
                <a:cs typeface="Cambria" pitchFamily="34" charset="-120"/>
              </a:rPr>
              <a:t>Intention</a:t>
            </a:r>
            <a:endParaRPr lang="en-US" sz="3000" dirty="0"/>
          </a:p>
        </p:txBody>
      </p:sp>
      <p:sp>
        <p:nvSpPr>
          <p:cNvPr id="6" name="Section label"/>
          <p:cNvSpPr txBox="1"/>
          <p:nvPr/>
        </p:nvSpPr>
        <p:spPr>
          <a:xfrm>
            <a:off x="5120640" y="2560320"/>
            <a:ext cx="5020056" cy="256032"/>
          </a:xfrm>
          <a:prstGeom prst="rect">
            <a:avLst/>
          </a:prstGeom>
          <a:noFill/>
          <a:ln/>
        </p:spPr>
        <p:txBody>
          <a:bodyPr wrap="square" lIns="0" tIns="0" rIns="0" bIns="0" rtlCol="0" anchor="ctr"/>
          <a:lstStyle/>
          <a:p>
            <a:pPr indent="0" marL="0">
              <a:buNone/>
            </a:pPr>
            <a:r>
              <a:rPr lang="en-US" sz="950" b="1" dirty="0">
                <a:solidFill>
                  <a:schemeClr val="bg1"/>
                </a:solidFill>
              </a:rPr>
              <a:t>작업 의도</a:t>
            </a:r>
            <a:pPr indent="0" marL="0">
              <a:buNone/>
            </a:pPr>
            <a:r>
              <a:rPr lang="en-US" sz="800" spc="300" kern="0" dirty="0">
                <a:solidFill>
                  <a:schemeClr val="accent5"/>
                </a:solidFill>
                <a:latin typeface="Cambria" pitchFamily="34" charset="0"/>
                <a:ea typeface="Cambria" pitchFamily="34" charset="-122"/>
                <a:cs typeface="Cambria" pitchFamily="34" charset="-120"/>
              </a:rPr>
              <a:t>    INTENTION</a:t>
            </a:r>
            <a:endParaRPr lang="en-US" sz="950" dirty="0"/>
          </a:p>
        </p:txBody>
      </p:sp>
      <p:sp>
        <p:nvSpPr>
          <p:cNvPr id="7" name="Statement"/>
          <p:cNvSpPr txBox="1"/>
          <p:nvPr/>
        </p:nvSpPr>
        <p:spPr>
          <a:xfrm>
            <a:off x="5120640" y="2944368"/>
            <a:ext cx="5020056" cy="3474720"/>
          </a:xfrm>
          <a:prstGeom prst="rect">
            <a:avLst/>
          </a:prstGeom>
          <a:noFill/>
          <a:ln/>
        </p:spPr>
        <p:txBody>
          <a:bodyPr wrap="square" lIns="0" tIns="0" rIns="0" bIns="0" rtlCol="0" anchor="t"/>
          <a:lstStyle/>
          <a:p>
            <a:pPr algn="l" indent="0" marL="0">
              <a:lnSpc>
                <a:spcPct val="160000"/>
              </a:lnSpc>
              <a:buNone/>
            </a:pPr>
            <a:r>
              <a:rPr lang="en-US" sz="1100" dirty="0">
                <a:solidFill>
                  <a:schemeClr val="accent6"/>
                </a:solidFill>
              </a:rPr>
              <a:t>저는 주변의 밝음과 인물의 내면 사이에 존재하는 간극에 주목합니다. 인물은 주변의 자극을 마주하면서도 자신의 감정을 명확하게 인식하지 못하거나, 설명하기 어려운 불안과 고통을 경험할 수 있습니다. 몸을 웅크린 인물의 모습은 이러한 내면의 상태를 드러내지만, 그 이유와 감정은 외부에서 쉽게 이해할 수 있는 것이 아닙니다. 이 작업을 통해 같은 공간과 현실을 공유하더라도 각자가 경험하는 세계는 서로 다를 수 있으며, 겉으로 드러나는 모습만으로는 타인의 내면을 온전히 알 수 없다는 점을 표현하고자 합니다.</a:t>
            </a:r>
            <a:endParaRPr lang="en-US" sz="1100" dirty="0"/>
          </a:p>
        </p:txBody>
      </p:sp>
      <p:sp>
        <p:nvSpPr>
          <p:cNvPr id="25" name="Slide Number Placeholder 0"/>
          <p:cNvSpPr>
            <a:spLocks noGrp="1"/>
          </p:cNvSpPr>
          <p:nvPr>
            <p:ph type="sldNum" sz="quarter" idx="4294967295"/>
          </p:nvPr>
        </p:nvSpPr>
        <p:spPr>
          <a:xfrm>
            <a:off x="9592056" y="700430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5"/>
                </a:solidFill>
                <a:latin typeface="Cambria"/>
                <a:ea typeface="Cambria"/>
                <a:cs typeface="Camb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Dissociation 03 — full page" descr="Dissociation 03 — full page">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7004304"/>
            <a:ext cx="4572000" cy="237744"/>
          </a:xfrm>
          <a:prstGeom prst="rect">
            <a:avLst/>
          </a:prstGeom>
          <a:noFill/>
          <a:ln/>
        </p:spPr>
        <p:txBody>
          <a:bodyPr wrap="square" lIns="0" tIns="0" rIns="0" bIns="0" rtlCol="0" anchor="ctr"/>
          <a:lstStyle/>
          <a:p>
            <a:pPr algn="l" indent="0" marL="0">
              <a:buNone/>
            </a:pPr>
            <a:r>
              <a:rPr lang="en-US" sz="800" b="1" dirty="0">
                <a:solidFill>
                  <a:schemeClr val="accent2"/>
                </a:solidFill>
                <a:latin typeface="Cambria" pitchFamily="34" charset="0"/>
                <a:ea typeface="Cambria" pitchFamily="34" charset="-122"/>
                <a:cs typeface="Cambria" pitchFamily="34" charset="-120"/>
              </a:rPr>
              <a:t>02   </a:t>
            </a:r>
            <a:pPr algn="l" indent="0" marL="0">
              <a:buNone/>
            </a:pPr>
            <a:r>
              <a:rPr lang="en-US" sz="800" b="1" dirty="0">
                <a:solidFill>
                  <a:schemeClr val="accent5"/>
                </a:solidFill>
              </a:rPr>
              <a:t>해리   </a:t>
            </a:r>
            <a:pPr algn="l" indent="0" marL="0">
              <a:buNone/>
            </a:pPr>
            <a:r>
              <a:rPr lang="en-US" sz="800" spc="300" kern="0" dirty="0">
                <a:solidFill>
                  <a:schemeClr val="accent5"/>
                </a:solidFill>
                <a:latin typeface="Cambria" pitchFamily="34" charset="0"/>
                <a:ea typeface="Cambria" pitchFamily="34" charset="-122"/>
                <a:cs typeface="Cambria" pitchFamily="34" charset="-120"/>
              </a:rPr>
              <a:t>DISSOCIATION</a:t>
            </a:r>
            <a:endParaRPr lang="en-US" sz="800" dirty="0"/>
          </a:p>
        </p:txBody>
      </p:sp>
      <p:pic>
        <p:nvPicPr>
          <p:cNvPr id="3" name="Dissociation 04" descr="Dissociation 04">    </p:cNvPr>
          <p:cNvPicPr>
            <a:picLocks noChangeAspect="1"/>
          </p:cNvPicPr>
          <p:nvPr/>
        </p:nvPicPr>
        <p:blipFill>
          <a:blip r:embed="rId1"/>
          <a:stretch>
            <a:fillRect/>
          </a:stretch>
        </p:blipFill>
        <p:spPr>
          <a:xfrm>
            <a:off x="548640" y="548640"/>
            <a:ext cx="2743200" cy="4114800"/>
          </a:xfrm>
          <a:prstGeom prst="rect">
            <a:avLst/>
          </a:prstGeom>
        </p:spPr>
      </p:pic>
      <p:pic>
        <p:nvPicPr>
          <p:cNvPr id="4" name="Dissociation 05" descr="Dissociation 05">    </p:cNvPr>
          <p:cNvPicPr>
            <a:picLocks noChangeAspect="1"/>
          </p:cNvPicPr>
          <p:nvPr/>
        </p:nvPicPr>
        <p:blipFill>
          <a:blip r:embed="rId2"/>
          <a:stretch>
            <a:fillRect/>
          </a:stretch>
        </p:blipFill>
        <p:spPr>
          <a:xfrm>
            <a:off x="7397496" y="2468880"/>
            <a:ext cx="2743200" cy="4114800"/>
          </a:xfrm>
          <a:prstGeom prst="rect">
            <a:avLst/>
          </a:prstGeom>
        </p:spPr>
      </p:pic>
      <p:sp>
        <p:nvSpPr>
          <p:cNvPr id="5" name="Pull quote"/>
          <p:cNvSpPr txBox="1"/>
          <p:nvPr/>
        </p:nvSpPr>
        <p:spPr>
          <a:xfrm>
            <a:off x="3886200" y="2331720"/>
            <a:ext cx="3108960" cy="2377440"/>
          </a:xfrm>
          <a:prstGeom prst="rect">
            <a:avLst/>
          </a:prstGeom>
          <a:noFill/>
          <a:ln/>
        </p:spPr>
        <p:txBody>
          <a:bodyPr wrap="square" lIns="0" tIns="0" rIns="0" bIns="0" rtlCol="0" anchor="t"/>
          <a:lstStyle/>
          <a:p>
            <a:pPr indent="0" marL="0">
              <a:lnSpc>
                <a:spcPct val="62000"/>
              </a:lnSpc>
              <a:buNone/>
            </a:pPr>
            <a:r>
              <a:rPr lang="en-US" sz="3640" b="1" dirty="0">
                <a:solidFill>
                  <a:schemeClr val="accent2"/>
                </a:solidFill>
                <a:latin typeface="Cambria" pitchFamily="34" charset="0"/>
                <a:ea typeface="Cambria" pitchFamily="34" charset="-122"/>
                <a:cs typeface="Cambria" pitchFamily="34" charset="-120"/>
              </a:rPr>
              <a:t>“</a:t>
            </a:r>
            <a:endParaRPr lang="en-US" sz="3640" dirty="0"/>
          </a:p>
          <a:p>
            <a:pPr indent="0" marL="0">
              <a:lnSpc>
                <a:spcPct val="150000"/>
              </a:lnSpc>
              <a:buNone/>
            </a:pPr>
            <a:r>
              <a:rPr lang="en-US" sz="1400" dirty="0">
                <a:solidFill>
                  <a:schemeClr val="bg1"/>
                </a:solidFill>
              </a:rPr>
              <a:t>마치 안개 너머에서 바라보듯 현실과 자신 사이에 보이지 않는 거리가 생깁니다.</a:t>
            </a:r>
            <a:endParaRPr lang="en-US" sz="3640" dirty="0"/>
          </a:p>
        </p:txBody>
      </p:sp>
      <p:sp>
        <p:nvSpPr>
          <p:cNvPr id="25" name="Slide Number Placeholder 0"/>
          <p:cNvSpPr>
            <a:spLocks noGrp="1"/>
          </p:cNvSpPr>
          <p:nvPr>
            <p:ph type="sldNum" sz="quarter" idx="4294967295"/>
          </p:nvPr>
        </p:nvSpPr>
        <p:spPr>
          <a:xfrm>
            <a:off x="9592056" y="700430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5"/>
                </a:solidFill>
                <a:latin typeface="Cambria"/>
                <a:ea typeface="Cambria"/>
                <a:cs typeface="Camb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7004304"/>
            <a:ext cx="4572000" cy="237744"/>
          </a:xfrm>
          <a:prstGeom prst="rect">
            <a:avLst/>
          </a:prstGeom>
          <a:noFill/>
          <a:ln/>
        </p:spPr>
        <p:txBody>
          <a:bodyPr wrap="square" lIns="0" tIns="0" rIns="0" bIns="0" rtlCol="0" anchor="ctr"/>
          <a:lstStyle/>
          <a:p>
            <a:pPr algn="l" indent="0" marL="0">
              <a:buNone/>
            </a:pPr>
            <a:r>
              <a:rPr lang="en-US" sz="800" b="1" dirty="0">
                <a:solidFill>
                  <a:schemeClr val="accent2"/>
                </a:solidFill>
                <a:latin typeface="Cambria" pitchFamily="34" charset="0"/>
                <a:ea typeface="Cambria" pitchFamily="34" charset="-122"/>
                <a:cs typeface="Cambria" pitchFamily="34" charset="-120"/>
              </a:rPr>
              <a:t>02   </a:t>
            </a:r>
            <a:pPr algn="l" indent="0" marL="0">
              <a:buNone/>
            </a:pPr>
            <a:r>
              <a:rPr lang="en-US" sz="800" b="1" dirty="0">
                <a:solidFill>
                  <a:schemeClr val="accent5"/>
                </a:solidFill>
              </a:rPr>
              <a:t>해리   </a:t>
            </a:r>
            <a:pPr algn="l" indent="0" marL="0">
              <a:buNone/>
            </a:pPr>
            <a:r>
              <a:rPr lang="en-US" sz="800" spc="300" kern="0" dirty="0">
                <a:solidFill>
                  <a:schemeClr val="accent5"/>
                </a:solidFill>
                <a:latin typeface="Cambria" pitchFamily="34" charset="0"/>
                <a:ea typeface="Cambria" pitchFamily="34" charset="-122"/>
                <a:cs typeface="Cambria" pitchFamily="34" charset="-120"/>
              </a:rPr>
              <a:t>DISSOCIATION</a:t>
            </a:r>
            <a:endParaRPr lang="en-US" sz="800" dirty="0"/>
          </a:p>
        </p:txBody>
      </p:sp>
      <p:pic>
        <p:nvPicPr>
          <p:cNvPr id="3" name="Fog" descr="Fog">    </p:cNvPr>
          <p:cNvPicPr>
            <a:picLocks noChangeAspect="1"/>
          </p:cNvPicPr>
          <p:nvPr/>
        </p:nvPicPr>
        <p:blipFill>
          <a:blip r:embed="rId1"/>
          <a:stretch>
            <a:fillRect/>
          </a:stretch>
        </p:blipFill>
        <p:spPr>
          <a:xfrm>
            <a:off x="0" y="0"/>
            <a:ext cx="10689336" cy="7562088"/>
          </a:xfrm>
          <a:prstGeom prst="rect">
            <a:avLst/>
          </a:prstGeom>
        </p:spPr>
      </p:pic>
      <p:pic>
        <p:nvPicPr>
          <p:cNvPr id="4" name="Dissociation 06" descr="Dissociation 06">    </p:cNvPr>
          <p:cNvPicPr>
            <a:picLocks noChangeAspect="1"/>
          </p:cNvPicPr>
          <p:nvPr/>
        </p:nvPicPr>
        <p:blipFill>
          <a:blip r:embed="rId2"/>
          <a:stretch>
            <a:fillRect/>
          </a:stretch>
        </p:blipFill>
        <p:spPr>
          <a:xfrm>
            <a:off x="6117336" y="1005840"/>
            <a:ext cx="3657600" cy="5486400"/>
          </a:xfrm>
          <a:prstGeom prst="rect">
            <a:avLst/>
          </a:prstGeom>
        </p:spPr>
      </p:pic>
      <p:sp>
        <p:nvSpPr>
          <p:cNvPr id="5" name="Pull quote"/>
          <p:cNvSpPr txBox="1"/>
          <p:nvPr/>
        </p:nvSpPr>
        <p:spPr>
          <a:xfrm>
            <a:off x="822960" y="2377440"/>
            <a:ext cx="4937760" cy="2743200"/>
          </a:xfrm>
          <a:prstGeom prst="rect">
            <a:avLst/>
          </a:prstGeom>
          <a:noFill/>
          <a:ln/>
        </p:spPr>
        <p:txBody>
          <a:bodyPr wrap="square" lIns="0" tIns="0" rIns="0" bIns="0" rtlCol="0" anchor="t"/>
          <a:lstStyle/>
          <a:p>
            <a:pPr indent="0" marL="0">
              <a:lnSpc>
                <a:spcPct val="62000"/>
              </a:lnSpc>
              <a:buNone/>
            </a:pPr>
            <a:r>
              <a:rPr lang="en-US" sz="4680" b="1" dirty="0">
                <a:solidFill>
                  <a:schemeClr val="accent2"/>
                </a:solidFill>
                <a:latin typeface="Cambria" pitchFamily="34" charset="0"/>
                <a:ea typeface="Cambria" pitchFamily="34" charset="-122"/>
                <a:cs typeface="Cambria" pitchFamily="34" charset="-120"/>
              </a:rPr>
              <a:t>“</a:t>
            </a:r>
            <a:endParaRPr lang="en-US" sz="4680" dirty="0"/>
          </a:p>
          <a:p>
            <a:pPr indent="0" marL="0">
              <a:lnSpc>
                <a:spcPct val="150000"/>
              </a:lnSpc>
              <a:buNone/>
            </a:pPr>
            <a:r>
              <a:rPr lang="en-US" sz="1800" dirty="0">
                <a:solidFill>
                  <a:schemeClr val="bg1"/>
                </a:solidFill>
              </a:rPr>
              <a:t>사람과 빛으로 가득한 공간에 머물고 있지만, 그 모든 것이 자신과 분리되어 있는 듯한 순간이 있습니다.</a:t>
            </a:r>
            <a:endParaRPr lang="en-US" sz="4680" dirty="0"/>
          </a:p>
        </p:txBody>
      </p:sp>
      <p:sp>
        <p:nvSpPr>
          <p:cNvPr id="25" name="Slide Number Placeholder 0"/>
          <p:cNvSpPr>
            <a:spLocks noGrp="1"/>
          </p:cNvSpPr>
          <p:nvPr>
            <p:ph type="sldNum" sz="quarter" idx="4294967295"/>
          </p:nvPr>
        </p:nvSpPr>
        <p:spPr>
          <a:xfrm>
            <a:off x="9592056" y="700430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5"/>
                </a:solidFill>
                <a:latin typeface="Cambria"/>
                <a:ea typeface="Cambria"/>
                <a:cs typeface="Camb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7004304"/>
            <a:ext cx="4572000" cy="237744"/>
          </a:xfrm>
          <a:prstGeom prst="rect">
            <a:avLst/>
          </a:prstGeom>
          <a:noFill/>
          <a:ln/>
        </p:spPr>
        <p:txBody>
          <a:bodyPr wrap="square" lIns="0" tIns="0" rIns="0" bIns="0" rtlCol="0" anchor="ctr"/>
          <a:lstStyle/>
          <a:p>
            <a:pPr algn="l" indent="0" marL="0">
              <a:buNone/>
            </a:pPr>
            <a:r>
              <a:rPr lang="en-US" sz="800" b="1" dirty="0">
                <a:solidFill>
                  <a:schemeClr val="accent2"/>
                </a:solidFill>
                <a:latin typeface="Cambria" pitchFamily="34" charset="0"/>
                <a:ea typeface="Cambria" pitchFamily="34" charset="-122"/>
                <a:cs typeface="Cambria" pitchFamily="34" charset="-120"/>
              </a:rPr>
              <a:t>02   </a:t>
            </a:r>
            <a:pPr algn="l" indent="0" marL="0">
              <a:buNone/>
            </a:pPr>
            <a:r>
              <a:rPr lang="en-US" sz="800" b="1" dirty="0">
                <a:solidFill>
                  <a:schemeClr val="accent5"/>
                </a:solidFill>
              </a:rPr>
              <a:t>해리   </a:t>
            </a:r>
            <a:pPr algn="l" indent="0" marL="0">
              <a:buNone/>
            </a:pPr>
            <a:r>
              <a:rPr lang="en-US" sz="800" spc="300" kern="0" dirty="0">
                <a:solidFill>
                  <a:schemeClr val="accent5"/>
                </a:solidFill>
                <a:latin typeface="Cambria" pitchFamily="34" charset="0"/>
                <a:ea typeface="Cambria" pitchFamily="34" charset="-122"/>
                <a:cs typeface="Cambria" pitchFamily="34" charset="-120"/>
              </a:rPr>
              <a:t>DISSOCIATION</a:t>
            </a:r>
            <a:endParaRPr lang="en-US" sz="800" dirty="0"/>
          </a:p>
        </p:txBody>
      </p:sp>
      <p:pic>
        <p:nvPicPr>
          <p:cNvPr id="3" name="Dissociation 07" descr="Dissociation 07">    </p:cNvPr>
          <p:cNvPicPr>
            <a:picLocks noChangeAspect="1"/>
          </p:cNvPicPr>
          <p:nvPr/>
        </p:nvPicPr>
        <p:blipFill>
          <a:blip r:embed="rId1"/>
          <a:stretch>
            <a:fillRect/>
          </a:stretch>
        </p:blipFill>
        <p:spPr>
          <a:xfrm>
            <a:off x="0" y="1188720"/>
            <a:ext cx="7498080" cy="4998720"/>
          </a:xfrm>
          <a:prstGeom prst="rect">
            <a:avLst/>
          </a:prstGeom>
        </p:spPr>
      </p:pic>
      <p:sp>
        <p:nvSpPr>
          <p:cNvPr id="4" name="Pull quote"/>
          <p:cNvSpPr txBox="1"/>
          <p:nvPr/>
        </p:nvSpPr>
        <p:spPr>
          <a:xfrm>
            <a:off x="7955280" y="2926080"/>
            <a:ext cx="2185416" cy="3264408"/>
          </a:xfrm>
          <a:prstGeom prst="rect">
            <a:avLst/>
          </a:prstGeom>
          <a:noFill/>
          <a:ln/>
        </p:spPr>
        <p:txBody>
          <a:bodyPr wrap="square" lIns="0" tIns="0" rIns="0" bIns="0" rtlCol="0" anchor="b"/>
          <a:lstStyle/>
          <a:p>
            <a:pPr indent="0" marL="0">
              <a:lnSpc>
                <a:spcPct val="62000"/>
              </a:lnSpc>
              <a:buNone/>
            </a:pPr>
            <a:r>
              <a:rPr lang="en-US" sz="3250" b="1" dirty="0">
                <a:solidFill>
                  <a:schemeClr val="accent2"/>
                </a:solidFill>
                <a:latin typeface="Cambria" pitchFamily="34" charset="0"/>
                <a:ea typeface="Cambria" pitchFamily="34" charset="-122"/>
                <a:cs typeface="Cambria" pitchFamily="34" charset="-120"/>
              </a:rPr>
              <a:t>“</a:t>
            </a:r>
            <a:endParaRPr lang="en-US" sz="3250" dirty="0"/>
          </a:p>
          <a:p>
            <a:pPr indent="0" marL="0">
              <a:lnSpc>
                <a:spcPct val="150000"/>
              </a:lnSpc>
              <a:buNone/>
            </a:pPr>
            <a:r>
              <a:rPr lang="en-US" sz="1250" dirty="0">
                <a:solidFill>
                  <a:schemeClr val="bg1"/>
                </a:solidFill>
              </a:rPr>
              <a:t>외부의 세계는 여전히 밝고 평온하게 존재하지만, 그 안에 있는 인물이 경험하는 내면의 세계는 그와 다를 수 있습니다.</a:t>
            </a:r>
            <a:endParaRPr lang="en-US" sz="3250" dirty="0"/>
          </a:p>
        </p:txBody>
      </p:sp>
      <p:sp>
        <p:nvSpPr>
          <p:cNvPr id="25" name="Slide Number Placeholder 0"/>
          <p:cNvSpPr>
            <a:spLocks noGrp="1"/>
          </p:cNvSpPr>
          <p:nvPr>
            <p:ph type="sldNum" sz="quarter" idx="4294967295"/>
          </p:nvPr>
        </p:nvSpPr>
        <p:spPr>
          <a:xfrm>
            <a:off x="9592056" y="700430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5"/>
                </a:solidFill>
                <a:latin typeface="Cambria"/>
                <a:ea typeface="Cambria"/>
                <a:cs typeface="Camb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7004304"/>
            <a:ext cx="4572000" cy="237744"/>
          </a:xfrm>
          <a:prstGeom prst="rect">
            <a:avLst/>
          </a:prstGeom>
          <a:noFill/>
          <a:ln/>
        </p:spPr>
        <p:txBody>
          <a:bodyPr wrap="square" lIns="0" tIns="0" rIns="0" bIns="0" rtlCol="0" anchor="ctr"/>
          <a:lstStyle/>
          <a:p>
            <a:pPr algn="l" indent="0" marL="0">
              <a:buNone/>
            </a:pPr>
            <a:r>
              <a:rPr lang="en-US" sz="800" b="1" dirty="0">
                <a:solidFill>
                  <a:schemeClr val="accent2"/>
                </a:solidFill>
                <a:latin typeface="Cambria" pitchFamily="34" charset="0"/>
                <a:ea typeface="Cambria" pitchFamily="34" charset="-122"/>
                <a:cs typeface="Cambria" pitchFamily="34" charset="-120"/>
              </a:rPr>
              <a:t>02   </a:t>
            </a:r>
            <a:pPr algn="l" indent="0" marL="0">
              <a:buNone/>
            </a:pPr>
            <a:r>
              <a:rPr lang="en-US" sz="800" b="1" dirty="0">
                <a:solidFill>
                  <a:schemeClr val="accent5"/>
                </a:solidFill>
              </a:rPr>
              <a:t>해리   </a:t>
            </a:r>
            <a:pPr algn="l" indent="0" marL="0">
              <a:buNone/>
            </a:pPr>
            <a:r>
              <a:rPr lang="en-US" sz="800" spc="300" kern="0" dirty="0">
                <a:solidFill>
                  <a:schemeClr val="accent5"/>
                </a:solidFill>
                <a:latin typeface="Cambria" pitchFamily="34" charset="0"/>
                <a:ea typeface="Cambria" pitchFamily="34" charset="-122"/>
                <a:cs typeface="Cambria" pitchFamily="34" charset="-120"/>
              </a:rPr>
              <a:t>DISSOCIATION</a:t>
            </a:r>
            <a:endParaRPr lang="en-US" sz="800" dirty="0"/>
          </a:p>
        </p:txBody>
      </p:sp>
      <p:sp>
        <p:nvSpPr>
          <p:cNvPr id="3" name="Pull quote"/>
          <p:cNvSpPr txBox="1"/>
          <p:nvPr/>
        </p:nvSpPr>
        <p:spPr>
          <a:xfrm>
            <a:off x="548640" y="685800"/>
            <a:ext cx="3200400" cy="2377440"/>
          </a:xfrm>
          <a:prstGeom prst="rect">
            <a:avLst/>
          </a:prstGeom>
          <a:noFill/>
          <a:ln/>
        </p:spPr>
        <p:txBody>
          <a:bodyPr wrap="square" lIns="0" tIns="0" rIns="0" bIns="0" rtlCol="0" anchor="t"/>
          <a:lstStyle/>
          <a:p>
            <a:pPr indent="0" marL="0">
              <a:lnSpc>
                <a:spcPct val="62000"/>
              </a:lnSpc>
              <a:buNone/>
            </a:pPr>
            <a:r>
              <a:rPr lang="en-US" sz="4160" b="1" dirty="0">
                <a:solidFill>
                  <a:schemeClr val="accent2"/>
                </a:solidFill>
                <a:latin typeface="Cambria" pitchFamily="34" charset="0"/>
                <a:ea typeface="Cambria" pitchFamily="34" charset="-122"/>
                <a:cs typeface="Cambria" pitchFamily="34" charset="-120"/>
              </a:rPr>
              <a:t>“</a:t>
            </a:r>
            <a:endParaRPr lang="en-US" sz="4160" dirty="0"/>
          </a:p>
          <a:p>
            <a:pPr indent="0" marL="0">
              <a:lnSpc>
                <a:spcPct val="150000"/>
              </a:lnSpc>
              <a:buNone/>
            </a:pPr>
            <a:r>
              <a:rPr lang="en-US" sz="1600" dirty="0">
                <a:solidFill>
                  <a:schemeClr val="bg1"/>
                </a:solidFill>
              </a:rPr>
              <a:t>겉으로 드러나는 모습만으로는 타인의 내면을 온전히 알 수 없다</a:t>
            </a:r>
            <a:endParaRPr lang="en-US" sz="4160" dirty="0"/>
          </a:p>
        </p:txBody>
      </p:sp>
      <p:pic>
        <p:nvPicPr>
          <p:cNvPr id="4" name="Dissociation 08" descr="Dissociation 08">    </p:cNvPr>
          <p:cNvPicPr>
            <a:picLocks noChangeAspect="1"/>
          </p:cNvPicPr>
          <p:nvPr/>
        </p:nvPicPr>
        <p:blipFill>
          <a:blip r:embed="rId1"/>
          <a:stretch>
            <a:fillRect/>
          </a:stretch>
        </p:blipFill>
        <p:spPr>
          <a:xfrm>
            <a:off x="4206240" y="1645920"/>
            <a:ext cx="3291840" cy="4937760"/>
          </a:xfrm>
          <a:prstGeom prst="rect">
            <a:avLst/>
          </a:prstGeom>
        </p:spPr>
      </p:pic>
      <p:sp>
        <p:nvSpPr>
          <p:cNvPr id="5" name="Dissociation 08 frame"/>
          <p:cNvSpPr/>
          <p:nvPr/>
        </p:nvSpPr>
        <p:spPr>
          <a:xfrm>
            <a:off x="4206240" y="1645920"/>
            <a:ext cx="3291840" cy="4937760"/>
          </a:xfrm>
          <a:prstGeom prst="rect">
            <a:avLst/>
          </a:prstGeom>
          <a:ln w="6350">
            <a:solidFill>
              <a:schemeClr val="accent5">
                <a:alpha val="45000"/>
              </a:schemeClr>
            </a:solidFill>
            <a:prstDash val="solid"/>
          </a:ln>
        </p:spPr>
      </p:sp>
      <p:pic>
        <p:nvPicPr>
          <p:cNvPr id="6" name="Dissociation 09" descr="Dissociation 09">    </p:cNvPr>
          <p:cNvPicPr>
            <a:picLocks noChangeAspect="1"/>
          </p:cNvPicPr>
          <p:nvPr/>
        </p:nvPicPr>
        <p:blipFill>
          <a:blip r:embed="rId2"/>
          <a:stretch>
            <a:fillRect/>
          </a:stretch>
        </p:blipFill>
        <p:spPr>
          <a:xfrm>
            <a:off x="7863840" y="3168396"/>
            <a:ext cx="2276856" cy="3415284"/>
          </a:xfrm>
          <a:prstGeom prst="rect">
            <a:avLst/>
          </a:prstGeom>
        </p:spPr>
      </p:pic>
      <p:sp>
        <p:nvSpPr>
          <p:cNvPr id="7" name="Dissociation 09 frame"/>
          <p:cNvSpPr/>
          <p:nvPr/>
        </p:nvSpPr>
        <p:spPr>
          <a:xfrm>
            <a:off x="7863840" y="3168396"/>
            <a:ext cx="2276856" cy="3415284"/>
          </a:xfrm>
          <a:prstGeom prst="rect">
            <a:avLst/>
          </a:prstGeom>
          <a:ln w="6350">
            <a:solidFill>
              <a:schemeClr val="accent5">
                <a:alpha val="45000"/>
              </a:schemeClr>
            </a:solidFill>
            <a:prstDash val="solid"/>
          </a:ln>
        </p:spPr>
      </p:sp>
      <p:sp>
        <p:nvSpPr>
          <p:cNvPr id="25" name="Slide Number Placeholder 0"/>
          <p:cNvSpPr>
            <a:spLocks noGrp="1"/>
          </p:cNvSpPr>
          <p:nvPr>
            <p:ph type="sldNum" sz="quarter" idx="4294967295"/>
          </p:nvPr>
        </p:nvSpPr>
        <p:spPr>
          <a:xfrm>
            <a:off x="9592056" y="700430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chemeClr val="accent5"/>
                </a:solidFill>
                <a:latin typeface="Cambria"/>
                <a:ea typeface="Cambria"/>
                <a:cs typeface="Camb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548640" y="2606040"/>
            <a:ext cx="4206240" cy="822960"/>
          </a:xfrm>
          <a:prstGeom prst="rect">
            <a:avLst/>
          </a:prstGeom>
          <a:noFill/>
          <a:ln/>
        </p:spPr>
        <p:txBody>
          <a:bodyPr wrap="square" lIns="0" tIns="0" rIns="0" bIns="0" rtlCol="0" anchor="ctr"/>
          <a:lstStyle/>
          <a:p>
            <a:pPr indent="0" marL="0">
              <a:buNone/>
            </a:pPr>
            <a:r>
              <a:rPr lang="en-US" sz="4000" b="1" dirty="0">
                <a:solidFill>
                  <a:schemeClr val="bg1"/>
                </a:solidFill>
              </a:rPr>
              <a:t>감사합니다</a:t>
            </a:r>
            <a:endParaRPr lang="en-US" sz="4000" dirty="0"/>
          </a:p>
        </p:txBody>
      </p:sp>
      <p:sp>
        <p:nvSpPr>
          <p:cNvPr id="3" name="Subtitle"/>
          <p:cNvSpPr txBox="1"/>
          <p:nvPr/>
        </p:nvSpPr>
        <p:spPr>
          <a:xfrm>
            <a:off x="548640" y="3474720"/>
            <a:ext cx="3657600" cy="256032"/>
          </a:xfrm>
          <a:prstGeom prst="rect">
            <a:avLst/>
          </a:prstGeom>
          <a:noFill/>
          <a:ln/>
        </p:spPr>
        <p:txBody>
          <a:bodyPr wrap="square" lIns="0" tIns="0" rIns="0" bIns="0" rtlCol="0" anchor="ctr"/>
          <a:lstStyle/>
          <a:p>
            <a:pPr indent="0" marL="0">
              <a:buNone/>
            </a:pPr>
            <a:r>
              <a:rPr lang="en-US" sz="900" spc="600" kern="0" dirty="0">
                <a:solidFill>
                  <a:schemeClr val="accent5"/>
                </a:solidFill>
                <a:latin typeface="Cambria" pitchFamily="34" charset="0"/>
                <a:ea typeface="Cambria" pitchFamily="34" charset="-122"/>
                <a:cs typeface="Cambria" pitchFamily="34" charset="-120"/>
              </a:rPr>
              <a:t>THANK YOU</a:t>
            </a:r>
            <a:endParaRPr lang="en-US" sz="900" dirty="0"/>
          </a:p>
        </p:txBody>
      </p:sp>
      <p:sp>
        <p:nvSpPr>
          <p:cNvPr id="4" name="터널 row"/>
          <p:cNvSpPr txBox="1"/>
          <p:nvPr/>
        </p:nvSpPr>
        <p:spPr>
          <a:xfrm>
            <a:off x="548640" y="4206240"/>
            <a:ext cx="4206240" cy="329184"/>
          </a:xfrm>
          <a:prstGeom prst="rect">
            <a:avLst/>
          </a:prstGeom>
          <a:noFill/>
          <a:ln/>
        </p:spPr>
        <p:txBody>
          <a:bodyPr wrap="square" lIns="0" tIns="0" rIns="0" bIns="0" rtlCol="0" anchor="ctr"/>
          <a:lstStyle/>
          <a:p>
            <a:pPr indent="0" marL="0">
              <a:buNone/>
            </a:pPr>
            <a:r>
              <a:rPr lang="en-US" sz="1200" b="1" dirty="0">
                <a:solidFill>
                  <a:schemeClr val="accent1"/>
                </a:solidFill>
                <a:latin typeface="Cambria" pitchFamily="34" charset="0"/>
                <a:ea typeface="Cambria" pitchFamily="34" charset="-122"/>
                <a:cs typeface="Cambria" pitchFamily="34" charset="-120"/>
              </a:rPr>
              <a:t>01   </a:t>
            </a:r>
            <a:pPr indent="0" marL="0">
              <a:buNone/>
            </a:pPr>
            <a:r>
              <a:rPr lang="en-US" sz="1200" b="1" dirty="0">
                <a:solidFill>
                  <a:schemeClr val="bg1"/>
                </a:solidFill>
              </a:rPr>
              <a:t>《터널》</a:t>
            </a:r>
            <a:pPr indent="0" marL="0">
              <a:buNone/>
            </a:pPr>
            <a:r>
              <a:rPr lang="en-US" sz="1200" i="1" dirty="0">
                <a:solidFill>
                  <a:schemeClr val="accent5"/>
                </a:solidFill>
                <a:latin typeface="Cambria" pitchFamily="34" charset="0"/>
                <a:ea typeface="Cambria" pitchFamily="34" charset="-122"/>
                <a:cs typeface="Cambria" pitchFamily="34" charset="-120"/>
              </a:rPr>
              <a:t>  Tunnel</a:t>
            </a:r>
            <a:endParaRPr lang="en-US" sz="1200" dirty="0"/>
          </a:p>
        </p:txBody>
      </p:sp>
      <p:sp>
        <p:nvSpPr>
          <p:cNvPr id="5" name="해리 row"/>
          <p:cNvSpPr txBox="1"/>
          <p:nvPr/>
        </p:nvSpPr>
        <p:spPr>
          <a:xfrm>
            <a:off x="548640" y="4617720"/>
            <a:ext cx="4206240" cy="329184"/>
          </a:xfrm>
          <a:prstGeom prst="rect">
            <a:avLst/>
          </a:prstGeom>
          <a:noFill/>
          <a:ln/>
        </p:spPr>
        <p:txBody>
          <a:bodyPr wrap="square" lIns="0" tIns="0" rIns="0" bIns="0" rtlCol="0" anchor="ctr"/>
          <a:lstStyle/>
          <a:p>
            <a:pPr indent="0" marL="0">
              <a:buNone/>
            </a:pPr>
            <a:r>
              <a:rPr lang="en-US" sz="1200" b="1" dirty="0">
                <a:solidFill>
                  <a:schemeClr val="accent2"/>
                </a:solidFill>
                <a:latin typeface="Cambria" pitchFamily="34" charset="0"/>
                <a:ea typeface="Cambria" pitchFamily="34" charset="-122"/>
                <a:cs typeface="Cambria" pitchFamily="34" charset="-120"/>
              </a:rPr>
              <a:t>02   </a:t>
            </a:r>
            <a:pPr indent="0" marL="0">
              <a:buNone/>
            </a:pPr>
            <a:r>
              <a:rPr lang="en-US" sz="1200" b="1" dirty="0">
                <a:solidFill>
                  <a:schemeClr val="bg1"/>
                </a:solidFill>
              </a:rPr>
              <a:t>《해리》</a:t>
            </a:r>
            <a:pPr indent="0" marL="0">
              <a:buNone/>
            </a:pPr>
            <a:r>
              <a:rPr lang="en-US" sz="1200" i="1" dirty="0">
                <a:solidFill>
                  <a:schemeClr val="accent5"/>
                </a:solidFill>
                <a:latin typeface="Cambria" pitchFamily="34" charset="0"/>
                <a:ea typeface="Cambria" pitchFamily="34" charset="-122"/>
                <a:cs typeface="Cambria" pitchFamily="34" charset="-120"/>
              </a:rPr>
              <a:t>  Dissociation</a:t>
            </a:r>
            <a:endParaRPr lang="en-US" sz="1200" dirty="0"/>
          </a:p>
        </p:txBody>
      </p:sp>
      <p:pic>
        <p:nvPicPr>
          <p:cNvPr id="6" name="Closing — tunnel exit" descr="Closing — tunnel exit">    </p:cNvPr>
          <p:cNvPicPr>
            <a:picLocks noChangeAspect="1"/>
          </p:cNvPicPr>
          <p:nvPr/>
        </p:nvPicPr>
        <p:blipFill>
          <a:blip r:embed="rId1"/>
          <a:stretch>
            <a:fillRect/>
          </a:stretch>
        </p:blipFill>
        <p:spPr>
          <a:xfrm>
            <a:off x="5129784" y="2546604"/>
            <a:ext cx="2468880" cy="2468880"/>
          </a:xfrm>
          <a:prstGeom prst="rect">
            <a:avLst/>
          </a:prstGeom>
        </p:spPr>
      </p:pic>
      <p:pic>
        <p:nvPicPr>
          <p:cNvPr id="7" name="Closing — bulbs" descr="Closing — bulbs">    </p:cNvPr>
          <p:cNvPicPr>
            <a:picLocks noChangeAspect="1"/>
          </p:cNvPicPr>
          <p:nvPr/>
        </p:nvPicPr>
        <p:blipFill>
          <a:blip r:embed="rId2"/>
          <a:stretch>
            <a:fillRect/>
          </a:stretch>
        </p:blipFill>
        <p:spPr>
          <a:xfrm>
            <a:off x="7671816" y="2546604"/>
            <a:ext cx="2468880" cy="2468880"/>
          </a:xfrm>
          <a:prstGeom prst="rect">
            <a:avLst/>
          </a:prstGeom>
        </p:spPr>
      </p:pic>
    </p:spTree>
  </p:cSld>
  <p:clrMapOvr>
    <a:masterClrMapping/>
  </p:clrMapOvr>
</p:sld>
</file>

<file path=ppt/theme/theme1.xml><?xml version="1.0" encoding="utf-8"?>
<a:theme xmlns:a="http://schemas.openxmlformats.org/drawingml/2006/main" name="Tunnel and Dissociation">
  <a:themeElements>
    <a:clrScheme name="Tunnel and Dissociation">
      <a:dk1>
        <a:srgbClr val="141414"/>
      </a:dk1>
      <a:lt1>
        <a:srgbClr val="FFFFFF"/>
      </a:lt1>
      <a:dk2>
        <a:srgbClr val="16120F"/>
      </a:dk2>
      <a:lt2>
        <a:srgbClr val="F2F2EF"/>
      </a:lt2>
      <a:accent1>
        <a:srgbClr val="5B7C84"/>
      </a:accent1>
      <a:accent2>
        <a:srgbClr val="B98A4E"/>
      </a:accent2>
      <a:accent3>
        <a:srgbClr val="77776F"/>
      </a:accent3>
      <a:accent4>
        <a:srgbClr val="E4E5E1"/>
      </a:accent4>
      <a:accent5>
        <a:srgbClr val="8E867B"/>
      </a:accent5>
      <a:accent6>
        <a:srgbClr val="D9D2C6"/>
      </a:accent6>
      <a:hlink>
        <a:srgbClr val="5B7C84"/>
      </a:hlink>
      <a:folHlink>
        <a:srgbClr val="77776F"/>
      </a:folHlink>
    </a:clrScheme>
    <a:fontScheme name="Tunnel and Dissociation">
      <a:majorFont>
        <a:latin typeface="Malgun Gothic"/>
        <a:ea typeface="Malgun 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Malgun 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포트폴리오</dc:title>
  <dc:subject>Photography Portfolio — 터널 (Tunnel) · 해리 (Dissociation)</dc:subject>
  <dc:creator>PptxGenJS</dc:creator>
  <cp:lastModifiedBy>PptxGenJS</cp:lastModifiedBy>
  <cp:revision>1</cp:revision>
  <dcterms:created xsi:type="dcterms:W3CDTF">2026-10-25T14:30:29Z</dcterms:created>
  <dcterms:modified xsi:type="dcterms:W3CDTF">2026-10-25T14:30:29Z</dcterms:modified>
</cp:coreProperties>
</file>