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50400000" cy="180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页（共 3 页）。点照片放大；翻页笔“下一页”按顺序放大；放映中输入页码再按回车可直接跳转：</a:t>
            </a:r>
          </a:p>
          <a:p>
            <a:r>
              <a:t>第 2 张幻灯片：第 1 位 刘明利（技术支持处）</a:t>
            </a:r>
          </a:p>
          <a:p>
            <a:r>
              <a:t>第 3 张幻灯片：第 2 位 张岩（运行一处）</a:t>
            </a:r>
          </a:p>
          <a:p>
            <a:r>
              <a:t>第 4 张幻灯片：第 3 位 杨帆（化学环保处）</a:t>
            </a:r>
          </a:p>
          <a:p>
            <a:r>
              <a:t>第 5 张幻灯片：第 4 位 庞立成（运行二处）</a:t>
            </a:r>
          </a:p>
          <a:p>
            <a:r>
              <a:t>第 6 张幻灯片：第 5 位 于海青（上海申亿）</a:t>
            </a:r>
          </a:p>
          <a:p>
            <a:r>
              <a:t>第 7 张幻灯片：第 6 位 潘绍卓（运行一处）</a:t>
            </a:r>
          </a:p>
          <a:p>
            <a:r>
              <a:t>第 8 张幻灯片：第 7 位 成鹏飞（中核凯利）</a:t>
            </a:r>
          </a:p>
          <a:p>
            <a:r>
              <a:t>第 9 张幻灯片：第 8 位 何韶然（运行二处）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位：刘明利（技术支持处）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位：张岩（运行一处）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位：杨帆（化学环保处）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位：庞立成（运行二处）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位：于海青（上海申亿）</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6 位：潘绍卓（运行一处）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7 位：成鹏飞（中核凯利）</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位：何韶然（运行二处）</a:t>
            </a:r>
          </a:p>
          <a:p>
            <a:r>
              <a:t>点任意处回到第 1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页（共 3 页）。点照片放大；翻页笔“下一页”按顺序放大；放映中输入页码再按回车可直接跳转：</a:t>
            </a:r>
          </a:p>
          <a:p>
            <a:r>
              <a:t>第 11 张幻灯片：第 9 位 人员09（单位待补充）</a:t>
            </a:r>
          </a:p>
          <a:p>
            <a:r>
              <a:t>第 12 张幻灯片：第 10 位 人员10（单位待补充）</a:t>
            </a:r>
          </a:p>
          <a:p>
            <a:r>
              <a:t>第 13 张幻灯片：第 11 位 人员11（单位待补充）</a:t>
            </a:r>
          </a:p>
          <a:p>
            <a:r>
              <a:t>第 14 张幻灯片：第 12 位 人员12（单位待补充）</a:t>
            </a:r>
          </a:p>
          <a:p>
            <a:r>
              <a:t>第 15 张幻灯片：第 13 位 人员13（单位待补充）</a:t>
            </a:r>
          </a:p>
          <a:p>
            <a:r>
              <a:t>第 16 张幻灯片：第 14 位 人员14（单位待补充）</a:t>
            </a:r>
          </a:p>
          <a:p>
            <a:r>
              <a:t>第 17 张幻灯片：第 15 位 人员15（单位待补充）</a:t>
            </a:r>
          </a:p>
          <a:p>
            <a:r>
              <a:t>第 18 张幻灯片：第 16 位 人员16（单位待补充）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9 位：人员09（单位待补充）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10 位：人员10（单位待补充）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11 位：人员11（单位待补充）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12 位：人员12（单位待补充）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13 位：人员13（单位待补充）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14 位：人员14（单位待补充）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15 位：人员15（单位待补充）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16 位：人员16（单位待补充）</a:t>
            </a:r>
          </a:p>
          <a:p>
            <a:r>
              <a:t>点任意处回到第 2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页（共 3 页）。点照片放大；翻页笔“下一页”按顺序放大；放映中输入页码再按回车可直接跳转：</a:t>
            </a:r>
          </a:p>
          <a:p>
            <a:r>
              <a:t>第 20 张幻灯片：第 17 位 人员17（单位待补充）</a:t>
            </a:r>
          </a:p>
          <a:p>
            <a:r>
              <a:t>第 21 张幻灯片：第 18 位 人员18（单位待补充）</a:t>
            </a:r>
          </a:p>
          <a:p>
            <a:r>
              <a:t>第 22 张幻灯片：第 19 位 人员19（单位待补充）</a:t>
            </a:r>
          </a:p>
          <a:p>
            <a:r>
              <a:t>第 23 张幻灯片：第 20 位 人员20（单位待补充）</a:t>
            </a:r>
          </a:p>
          <a:p>
            <a:r>
              <a:t>第 24 张幻灯片：第 21 位 人员21（单位待补充）</a:t>
            </a:r>
          </a:p>
          <a:p>
            <a:r>
              <a:t>第 25 张幻灯片：第 22 位 人员22（单位待补充）</a:t>
            </a:r>
          </a:p>
          <a:p>
            <a:r>
              <a:t>第 26 张幻灯片：第 23 位 人员23（单位待补充）</a:t>
            </a:r>
          </a:p>
          <a:p>
            <a:r>
              <a:t>第 27 张幻灯片：第 24 位 人员24（单位待补充）</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17 位：人员17（单位待补充）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18 位：人员18（单位待补充）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19 位：人员19（单位待补充）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20 位：人员20（单位待补充）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21 位：人员21（单位待补充）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22 位：人员22（单位待补充）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23 位：人员23（单位待补充）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24 位：人员24（单位待补充）</a:t>
            </a:r>
          </a:p>
          <a:p>
            <a:r>
              <a:t>点任意处回到第 3 页；翻页笔“下一页”放大下一位。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slide" Target="slide2.xml"/><Relationship Id="rId4" Type="http://schemas.openxmlformats.org/officeDocument/2006/relationships/image" Target="../media/image3.jpg"/><Relationship Id="rId5" Type="http://schemas.openxmlformats.org/officeDocument/2006/relationships/slide" Target="slide3.xml"/><Relationship Id="rId6" Type="http://schemas.openxmlformats.org/officeDocument/2006/relationships/image" Target="../media/image4.jpg"/><Relationship Id="rId7" Type="http://schemas.openxmlformats.org/officeDocument/2006/relationships/slide" Target="slide4.xml"/><Relationship Id="rId8" Type="http://schemas.openxmlformats.org/officeDocument/2006/relationships/image" Target="../media/image5.jpg"/><Relationship Id="rId9" Type="http://schemas.openxmlformats.org/officeDocument/2006/relationships/slide" Target="slide5.xml"/><Relationship Id="rId10" Type="http://schemas.openxmlformats.org/officeDocument/2006/relationships/image" Target="../media/image6.jpg"/><Relationship Id="rId11" Type="http://schemas.openxmlformats.org/officeDocument/2006/relationships/slide" Target="slide6.xml"/><Relationship Id="rId12" Type="http://schemas.openxmlformats.org/officeDocument/2006/relationships/image" Target="../media/image7.jpg"/><Relationship Id="rId13" Type="http://schemas.openxmlformats.org/officeDocument/2006/relationships/slide" Target="slide7.xml"/><Relationship Id="rId14" Type="http://schemas.openxmlformats.org/officeDocument/2006/relationships/image" Target="../media/image8.jpg"/><Relationship Id="rId15" Type="http://schemas.openxmlformats.org/officeDocument/2006/relationships/slide" Target="slide8.xml"/><Relationship Id="rId16" Type="http://schemas.openxmlformats.org/officeDocument/2006/relationships/image" Target="../media/image9.jpg"/><Relationship Id="rId17" Type="http://schemas.openxmlformats.org/officeDocument/2006/relationships/slide" Target="slide9.xml"/><Relationship Id="rId18" Type="http://schemas.openxmlformats.org/officeDocument/2006/relationships/slide" Target="slide10.xml"/><Relationship Id="rId1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slide" Target="slide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slide" Target="slide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slide" Target="slide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slide" Target="slide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slide" Target="slide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slide" Target="slide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slide" Target="slide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slide" Target="slide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9" Type="http://schemas.openxmlformats.org/officeDocument/2006/relationships/slide" Target="slide17.xml"/><Relationship Id="rId10" Type="http://schemas.openxmlformats.org/officeDocument/2006/relationships/slide" Target="slide18.xml"/><Relationship Id="rId11" Type="http://schemas.openxmlformats.org/officeDocument/2006/relationships/slide" Target="slide1.xml"/><Relationship Id="rId12" Type="http://schemas.openxmlformats.org/officeDocument/2006/relationships/slide" Target="slide19.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0.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 Id="rId6" Type="http://schemas.openxmlformats.org/officeDocument/2006/relationships/slide" Target="slide23.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26.xml"/><Relationship Id="rId10" Type="http://schemas.openxmlformats.org/officeDocument/2006/relationships/slide" Target="slide27.xml"/><Relationship Id="rId11" Type="http://schemas.openxmlformats.org/officeDocument/2006/relationships/slide" Target="slide10.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slide" Target="slide19.xml"/><Relationship Id="rId4"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卡框1"/>
          <p:cNvSpPr/>
          <p:nvPr/>
        </p:nvSpPr>
        <p:spPr>
          <a:xfrm>
            <a:off x="145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 name="衬纸1"/>
          <p:cNvSpPr/>
          <p:nvPr/>
        </p:nvSpPr>
        <p:spPr>
          <a:xfrm>
            <a:off x="1548000" y="5490000"/>
            <a:ext cx="5220000" cy="3960000"/>
          </a:xfrm>
          <a:prstGeom prst="rect">
            <a:avLst/>
          </a:prstGeom>
          <a:solidFill>
            <a:srgbClr val="FFFAF0"/>
          </a:solidFill>
          <a:ln>
            <a:noFill/>
          </a:ln>
        </p:spPr>
        <p:txBody>
          <a:bodyPr rtlCol="0" anchor="ctr"/>
          <a:lstStyle/>
          <a:p>
            <a:pPr algn="ctr"/>
          </a:p>
        </p:txBody>
      </p:sp>
      <p:pic>
        <p:nvPicPr>
          <p:cNvPr id="4" name="!!p1" descr="image.jpg"/>
          <p:cNvPicPr>
            <a:picLocks noChangeAspect="1"/>
          </p:cNvPicPr>
          <p:nvPr/>
        </p:nvPicPr>
        <p:blipFill>
          <a:blip r:embed="rId2"/>
          <a:srcRect t="12536" b="29251"/>
          <a:stretch>
            <a:fillRect/>
          </a:stretch>
        </p:blipFill>
        <p:spPr>
          <a:xfrm>
            <a:off x="1638000" y="5580000"/>
            <a:ext cx="5040000" cy="3780000"/>
          </a:xfrm>
          <a:prstGeom prst="rect">
            <a:avLst/>
          </a:prstGeom>
        </p:spPr>
      </p:pic>
      <p:sp>
        <p:nvSpPr>
          <p:cNvPr id="5" name="名牌底1"/>
          <p:cNvSpPr/>
          <p:nvPr/>
        </p:nvSpPr>
        <p:spPr>
          <a:xfrm>
            <a:off x="154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 name="名牌金线1"/>
          <p:cNvSpPr/>
          <p:nvPr/>
        </p:nvSpPr>
        <p:spPr>
          <a:xfrm>
            <a:off x="1548000" y="9450000"/>
            <a:ext cx="5220000" cy="54000"/>
          </a:xfrm>
          <a:prstGeom prst="rect">
            <a:avLst/>
          </a:prstGeom>
          <a:solidFill>
            <a:srgbClr val="FFDC8C"/>
          </a:solidFill>
          <a:ln>
            <a:noFill/>
          </a:ln>
        </p:spPr>
        <p:txBody>
          <a:bodyPr rtlCol="0" anchor="ctr"/>
          <a:lstStyle/>
          <a:p>
            <a:pPr algn="ctr"/>
          </a:p>
        </p:txBody>
      </p:sp>
      <p:sp>
        <p:nvSpPr>
          <p:cNvPr id="7" name="名牌1"/>
          <p:cNvSpPr txBox="1"/>
          <p:nvPr/>
        </p:nvSpPr>
        <p:spPr>
          <a:xfrm>
            <a:off x="154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刘明利</a:t>
            </a:r>
          </a:p>
          <a:p>
            <a:pPr algn="ctr"/>
            <a:r>
              <a:rPr sz="2692" b="0">
                <a:solidFill>
                  <a:srgbClr val="FFF1D6"/>
                </a:solidFill>
                <a:latin typeface="Microsoft YaHei"/>
                <a:ea typeface="微软雅黑"/>
              </a:rPr>
              <a:t>技术支持处</a:t>
            </a:r>
          </a:p>
        </p:txBody>
      </p:sp>
      <p:sp>
        <p:nvSpPr>
          <p:cNvPr id="8" name="文字框1"/>
          <p:cNvSpPr/>
          <p:nvPr/>
        </p:nvSpPr>
        <p:spPr>
          <a:xfrm>
            <a:off x="145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9" name="文字框饰条1"/>
          <p:cNvSpPr/>
          <p:nvPr/>
        </p:nvSpPr>
        <p:spPr>
          <a:xfrm>
            <a:off x="167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10" name="文字1"/>
          <p:cNvSpPr txBox="1"/>
          <p:nvPr/>
        </p:nvSpPr>
        <p:spPr>
          <a:xfrm>
            <a:off x="1746000" y="11232000"/>
            <a:ext cx="4824000" cy="5130000"/>
          </a:xfrm>
          <a:prstGeom prst="rect">
            <a:avLst/>
          </a:prstGeom>
          <a:noFill/>
        </p:spPr>
        <p:txBody>
          <a:bodyPr wrap="square" lIns="0" rIns="0" tIns="0" bIns="0" anchor="t">
            <a:noAutofit/>
          </a:bodyPr>
          <a:lstStyle/>
          <a:p>
            <a:pPr algn="just">
              <a:lnSpc>
                <a:spcPts val="3826"/>
              </a:lnSpc>
            </a:pPr>
            <a:r>
              <a:rPr sz="2551" b="1">
                <a:solidFill>
                  <a:srgbClr val="B8121A"/>
                </a:solidFill>
                <a:latin typeface="Microsoft YaHei"/>
                <a:ea typeface="微软雅黑"/>
              </a:rPr>
              <a:t>“精准研判1号机主给水泵B电机振动隐患”</a:t>
            </a:r>
          </a:p>
          <a:p>
            <a:pPr algn="just" marL="0" indent="648000">
              <a:lnSpc>
                <a:spcPts val="3826"/>
              </a:lnSpc>
            </a:pPr>
            <a:r>
              <a:rPr sz="2551" b="0">
                <a:solidFill>
                  <a:srgbClr val="3A2A1A"/>
                </a:solidFill>
                <a:latin typeface="Microsoft YaHei"/>
                <a:ea typeface="微软雅黑"/>
              </a:rPr>
              <a:t>刘明利精准研判1号机主给水泵B电机振动隐患，彰显了刘明利的技术自信、专业担当与对未知的执着探索精神——正是这些，构成了核安全文化的深层底色。刘明利同志用实际行动诠释了“我为核安全文化代言”的深刻内涵。</a:t>
            </a:r>
          </a:p>
        </p:txBody>
      </p:sp>
      <p:sp>
        <p:nvSpPr>
          <p:cNvPr id="11" name="热区1">
            <a:hlinkClick action="ppaction://hlinksldjump" r:id="rId3"/>
          </p:cNvPr>
          <p:cNvSpPr/>
          <p:nvPr/>
        </p:nvSpPr>
        <p:spPr>
          <a:xfrm>
            <a:off x="1458000" y="5400000"/>
            <a:ext cx="5400000" cy="11430000"/>
          </a:xfrm>
          <a:prstGeom prst="rect">
            <a:avLst/>
          </a:prstGeom>
          <a:solidFill>
            <a:srgbClr val="000000">
              <a:alpha val="0"/>
            </a:srgbClr>
          </a:solidFill>
          <a:ln>
            <a:noFill/>
          </a:ln>
        </p:spPr>
        <p:txBody>
          <a:bodyPr rtlCol="0" anchor="ctr"/>
          <a:lstStyle/>
          <a:p>
            <a:pPr algn="ctr"/>
          </a:p>
        </p:txBody>
      </p:sp>
      <p:sp>
        <p:nvSpPr>
          <p:cNvPr id="12" name="卡框2"/>
          <p:cNvSpPr/>
          <p:nvPr/>
        </p:nvSpPr>
        <p:spPr>
          <a:xfrm>
            <a:off x="747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3" name="衬纸2"/>
          <p:cNvSpPr/>
          <p:nvPr/>
        </p:nvSpPr>
        <p:spPr>
          <a:xfrm>
            <a:off x="7560000" y="5490000"/>
            <a:ext cx="5220000" cy="3960000"/>
          </a:xfrm>
          <a:prstGeom prst="rect">
            <a:avLst/>
          </a:prstGeom>
          <a:solidFill>
            <a:srgbClr val="FFFAF0"/>
          </a:solidFill>
          <a:ln>
            <a:noFill/>
          </a:ln>
        </p:spPr>
        <p:txBody>
          <a:bodyPr rtlCol="0" anchor="ctr"/>
          <a:lstStyle/>
          <a:p>
            <a:pPr algn="ctr"/>
          </a:p>
        </p:txBody>
      </p:sp>
      <p:pic>
        <p:nvPicPr>
          <p:cNvPr id="14" name="!!p2" descr="image.jpg"/>
          <p:cNvPicPr>
            <a:picLocks noChangeAspect="1"/>
          </p:cNvPicPr>
          <p:nvPr/>
        </p:nvPicPr>
        <p:blipFill>
          <a:blip r:embed="rId4"/>
          <a:srcRect t="12536" b="29251"/>
          <a:stretch>
            <a:fillRect/>
          </a:stretch>
        </p:blipFill>
        <p:spPr>
          <a:xfrm>
            <a:off x="7650000" y="5580000"/>
            <a:ext cx="5040000" cy="3780000"/>
          </a:xfrm>
          <a:prstGeom prst="rect">
            <a:avLst/>
          </a:prstGeom>
        </p:spPr>
      </p:pic>
      <p:sp>
        <p:nvSpPr>
          <p:cNvPr id="15" name="名牌底2"/>
          <p:cNvSpPr/>
          <p:nvPr/>
        </p:nvSpPr>
        <p:spPr>
          <a:xfrm>
            <a:off x="756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16" name="名牌金线2"/>
          <p:cNvSpPr/>
          <p:nvPr/>
        </p:nvSpPr>
        <p:spPr>
          <a:xfrm>
            <a:off x="7560000" y="9450000"/>
            <a:ext cx="5220000" cy="54000"/>
          </a:xfrm>
          <a:prstGeom prst="rect">
            <a:avLst/>
          </a:prstGeom>
          <a:solidFill>
            <a:srgbClr val="FFDC8C"/>
          </a:solidFill>
          <a:ln>
            <a:noFill/>
          </a:ln>
        </p:spPr>
        <p:txBody>
          <a:bodyPr rtlCol="0" anchor="ctr"/>
          <a:lstStyle/>
          <a:p>
            <a:pPr algn="ctr"/>
          </a:p>
        </p:txBody>
      </p:sp>
      <p:sp>
        <p:nvSpPr>
          <p:cNvPr id="17" name="名牌2"/>
          <p:cNvSpPr txBox="1"/>
          <p:nvPr/>
        </p:nvSpPr>
        <p:spPr>
          <a:xfrm>
            <a:off x="756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张岩</a:t>
            </a:r>
          </a:p>
          <a:p>
            <a:pPr algn="ctr"/>
            <a:r>
              <a:rPr sz="2692" b="0">
                <a:solidFill>
                  <a:srgbClr val="FFF1D6"/>
                </a:solidFill>
                <a:latin typeface="Microsoft YaHei"/>
                <a:ea typeface="微软雅黑"/>
              </a:rPr>
              <a:t>运行一处</a:t>
            </a:r>
          </a:p>
        </p:txBody>
      </p:sp>
      <p:sp>
        <p:nvSpPr>
          <p:cNvPr id="18" name="文字框2"/>
          <p:cNvSpPr/>
          <p:nvPr/>
        </p:nvSpPr>
        <p:spPr>
          <a:xfrm>
            <a:off x="747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19" name="文字框饰条2"/>
          <p:cNvSpPr/>
          <p:nvPr/>
        </p:nvSpPr>
        <p:spPr>
          <a:xfrm>
            <a:off x="768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20" name="文字2"/>
          <p:cNvSpPr txBox="1"/>
          <p:nvPr/>
        </p:nvSpPr>
        <p:spPr>
          <a:xfrm>
            <a:off x="7758000" y="11232000"/>
            <a:ext cx="4824000" cy="5130000"/>
          </a:xfrm>
          <a:prstGeom prst="rect">
            <a:avLst/>
          </a:prstGeom>
          <a:noFill/>
        </p:spPr>
        <p:txBody>
          <a:bodyPr wrap="square" lIns="0" rIns="0" tIns="0" bIns="0" anchor="t">
            <a:noAutofit/>
          </a:bodyPr>
          <a:lstStyle/>
          <a:p>
            <a:pPr algn="just">
              <a:lnSpc>
                <a:spcPts val="3401"/>
              </a:lnSpc>
            </a:pPr>
            <a:r>
              <a:rPr sz="2267" b="1">
                <a:solidFill>
                  <a:srgbClr val="B8121A"/>
                </a:solidFill>
                <a:latin typeface="Microsoft YaHei"/>
                <a:ea typeface="微软雅黑"/>
              </a:rPr>
              <a:t>“发现并及时上报2号机CPS取样架标识与实际取样点不一致”</a:t>
            </a:r>
          </a:p>
          <a:p>
            <a:pPr algn="just" marL="0" indent="576000">
              <a:lnSpc>
                <a:spcPts val="3401"/>
              </a:lnSpc>
            </a:pPr>
            <a:r>
              <a:rPr sz="2267" b="0">
                <a:solidFill>
                  <a:srgbClr val="3A2A1A"/>
                </a:solidFill>
                <a:latin typeface="Microsoft YaHei"/>
                <a:ea typeface="微软雅黑"/>
              </a:rPr>
              <a:t>张岩发现并及时上报2号机CPS取样架标识与实际取样点不一致。张岩同志在隔离操作中，遇疑则停，并充分发挥主观能动性，对该系统有关取样管排逐根细致排查，确定CPS取样架区域存在系统性标牌错误，并及时上报，体现了严慎细实的工作作风，用实际行动履行了运行人员对核安全的庄重承诺。</a:t>
            </a:r>
          </a:p>
        </p:txBody>
      </p:sp>
      <p:sp>
        <p:nvSpPr>
          <p:cNvPr id="21" name="热区2">
            <a:hlinkClick action="ppaction://hlinksldjump" r:id="rId5"/>
          </p:cNvPr>
          <p:cNvSpPr/>
          <p:nvPr/>
        </p:nvSpPr>
        <p:spPr>
          <a:xfrm>
            <a:off x="7470000" y="5400000"/>
            <a:ext cx="5400000" cy="11430000"/>
          </a:xfrm>
          <a:prstGeom prst="rect">
            <a:avLst/>
          </a:prstGeom>
          <a:solidFill>
            <a:srgbClr val="000000">
              <a:alpha val="0"/>
            </a:srgbClr>
          </a:solidFill>
          <a:ln>
            <a:noFill/>
          </a:ln>
        </p:spPr>
        <p:txBody>
          <a:bodyPr rtlCol="0" anchor="ctr"/>
          <a:lstStyle/>
          <a:p>
            <a:pPr algn="ctr"/>
          </a:p>
        </p:txBody>
      </p:sp>
      <p:sp>
        <p:nvSpPr>
          <p:cNvPr id="22" name="卡框3"/>
          <p:cNvSpPr/>
          <p:nvPr/>
        </p:nvSpPr>
        <p:spPr>
          <a:xfrm>
            <a:off x="1348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23" name="衬纸3"/>
          <p:cNvSpPr/>
          <p:nvPr/>
        </p:nvSpPr>
        <p:spPr>
          <a:xfrm>
            <a:off x="13572000" y="5490000"/>
            <a:ext cx="5220000" cy="3960000"/>
          </a:xfrm>
          <a:prstGeom prst="rect">
            <a:avLst/>
          </a:prstGeom>
          <a:solidFill>
            <a:srgbClr val="FFFAF0"/>
          </a:solidFill>
          <a:ln>
            <a:noFill/>
          </a:ln>
        </p:spPr>
        <p:txBody>
          <a:bodyPr rtlCol="0" anchor="ctr"/>
          <a:lstStyle/>
          <a:p>
            <a:pPr algn="ctr"/>
          </a:p>
        </p:txBody>
      </p:sp>
      <p:pic>
        <p:nvPicPr>
          <p:cNvPr id="24" name="!!p3" descr="image.jpg"/>
          <p:cNvPicPr>
            <a:picLocks noChangeAspect="1"/>
          </p:cNvPicPr>
          <p:nvPr/>
        </p:nvPicPr>
        <p:blipFill>
          <a:blip r:embed="rId6"/>
          <a:srcRect t="12536" b="29251"/>
          <a:stretch>
            <a:fillRect/>
          </a:stretch>
        </p:blipFill>
        <p:spPr>
          <a:xfrm>
            <a:off x="13662000" y="5580000"/>
            <a:ext cx="5040000" cy="3780000"/>
          </a:xfrm>
          <a:prstGeom prst="rect">
            <a:avLst/>
          </a:prstGeom>
        </p:spPr>
      </p:pic>
      <p:sp>
        <p:nvSpPr>
          <p:cNvPr id="25" name="名牌底3"/>
          <p:cNvSpPr/>
          <p:nvPr/>
        </p:nvSpPr>
        <p:spPr>
          <a:xfrm>
            <a:off x="1357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26" name="名牌金线3"/>
          <p:cNvSpPr/>
          <p:nvPr/>
        </p:nvSpPr>
        <p:spPr>
          <a:xfrm>
            <a:off x="13572000" y="9450000"/>
            <a:ext cx="5220000" cy="54000"/>
          </a:xfrm>
          <a:prstGeom prst="rect">
            <a:avLst/>
          </a:prstGeom>
          <a:solidFill>
            <a:srgbClr val="FFDC8C"/>
          </a:solidFill>
          <a:ln>
            <a:noFill/>
          </a:ln>
        </p:spPr>
        <p:txBody>
          <a:bodyPr rtlCol="0" anchor="ctr"/>
          <a:lstStyle/>
          <a:p>
            <a:pPr algn="ctr"/>
          </a:p>
        </p:txBody>
      </p:sp>
      <p:sp>
        <p:nvSpPr>
          <p:cNvPr id="27" name="名牌3"/>
          <p:cNvSpPr txBox="1"/>
          <p:nvPr/>
        </p:nvSpPr>
        <p:spPr>
          <a:xfrm>
            <a:off x="1357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杨帆</a:t>
            </a:r>
          </a:p>
          <a:p>
            <a:pPr algn="ctr"/>
            <a:r>
              <a:rPr sz="2692" b="0">
                <a:solidFill>
                  <a:srgbClr val="FFF1D6"/>
                </a:solidFill>
                <a:latin typeface="Microsoft YaHei"/>
                <a:ea typeface="微软雅黑"/>
              </a:rPr>
              <a:t>化学环保处</a:t>
            </a:r>
          </a:p>
        </p:txBody>
      </p:sp>
      <p:sp>
        <p:nvSpPr>
          <p:cNvPr id="28" name="文字框3"/>
          <p:cNvSpPr/>
          <p:nvPr/>
        </p:nvSpPr>
        <p:spPr>
          <a:xfrm>
            <a:off x="1348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29" name="文字框饰条3"/>
          <p:cNvSpPr/>
          <p:nvPr/>
        </p:nvSpPr>
        <p:spPr>
          <a:xfrm>
            <a:off x="1369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30" name="文字3"/>
          <p:cNvSpPr txBox="1"/>
          <p:nvPr/>
        </p:nvSpPr>
        <p:spPr>
          <a:xfrm>
            <a:off x="13770000" y="11232000"/>
            <a:ext cx="4824000" cy="5130000"/>
          </a:xfrm>
          <a:prstGeom prst="rect">
            <a:avLst/>
          </a:prstGeom>
          <a:noFill/>
        </p:spPr>
        <p:txBody>
          <a:bodyPr wrap="square" lIns="0" rIns="0" tIns="0" bIns="0" anchor="t">
            <a:noAutofit/>
          </a:bodyPr>
          <a:lstStyle/>
          <a:p>
            <a:pPr algn="just">
              <a:lnSpc>
                <a:spcPts val="3826"/>
              </a:lnSpc>
            </a:pPr>
            <a:r>
              <a:rPr sz="2551" b="1">
                <a:solidFill>
                  <a:srgbClr val="B8121A"/>
                </a:solidFill>
                <a:latin typeface="Microsoft YaHei"/>
                <a:ea typeface="微软雅黑"/>
              </a:rPr>
              <a:t>“紧盯外委监测质量，严守监测数据安全防线”</a:t>
            </a:r>
          </a:p>
          <a:p>
            <a:pPr algn="just" marL="0" indent="648000">
              <a:lnSpc>
                <a:spcPts val="3826"/>
              </a:lnSpc>
            </a:pPr>
            <a:r>
              <a:rPr sz="2551" b="0">
                <a:solidFill>
                  <a:srgbClr val="3A2A1A"/>
                </a:solidFill>
                <a:latin typeface="Microsoft YaHei"/>
                <a:ea typeface="微软雅黑"/>
              </a:rPr>
              <a:t>杨帆紧盯外委监测质量，严守监测数据安全防线。工作中，该同志始终秉持“严、慎、细、实”的优良作风，防患未然、精益求精，以高度的责任担当持续推动核安全文化走深走实，为核与辐射环境安全稳定保驾护航。</a:t>
            </a:r>
          </a:p>
        </p:txBody>
      </p:sp>
      <p:sp>
        <p:nvSpPr>
          <p:cNvPr id="31" name="热区3">
            <a:hlinkClick action="ppaction://hlinksldjump" r:id="rId7"/>
          </p:cNvPr>
          <p:cNvSpPr/>
          <p:nvPr/>
        </p:nvSpPr>
        <p:spPr>
          <a:xfrm>
            <a:off x="13482000" y="5400000"/>
            <a:ext cx="5400000" cy="11430000"/>
          </a:xfrm>
          <a:prstGeom prst="rect">
            <a:avLst/>
          </a:prstGeom>
          <a:solidFill>
            <a:srgbClr val="000000">
              <a:alpha val="0"/>
            </a:srgbClr>
          </a:solidFill>
          <a:ln>
            <a:noFill/>
          </a:ln>
        </p:spPr>
        <p:txBody>
          <a:bodyPr rtlCol="0" anchor="ctr"/>
          <a:lstStyle/>
          <a:p>
            <a:pPr algn="ctr"/>
          </a:p>
        </p:txBody>
      </p:sp>
      <p:sp>
        <p:nvSpPr>
          <p:cNvPr id="32" name="卡框4"/>
          <p:cNvSpPr/>
          <p:nvPr/>
        </p:nvSpPr>
        <p:spPr>
          <a:xfrm>
            <a:off x="19494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3" name="衬纸4"/>
          <p:cNvSpPr/>
          <p:nvPr/>
        </p:nvSpPr>
        <p:spPr>
          <a:xfrm>
            <a:off x="19584000" y="5490000"/>
            <a:ext cx="5220000" cy="3960000"/>
          </a:xfrm>
          <a:prstGeom prst="rect">
            <a:avLst/>
          </a:prstGeom>
          <a:solidFill>
            <a:srgbClr val="FFFAF0"/>
          </a:solidFill>
          <a:ln>
            <a:noFill/>
          </a:ln>
        </p:spPr>
        <p:txBody>
          <a:bodyPr rtlCol="0" anchor="ctr"/>
          <a:lstStyle/>
          <a:p>
            <a:pPr algn="ctr"/>
          </a:p>
        </p:txBody>
      </p:sp>
      <p:pic>
        <p:nvPicPr>
          <p:cNvPr id="34" name="!!p4" descr="image.jpg"/>
          <p:cNvPicPr>
            <a:picLocks noChangeAspect="1"/>
          </p:cNvPicPr>
          <p:nvPr/>
        </p:nvPicPr>
        <p:blipFill>
          <a:blip r:embed="rId8"/>
          <a:srcRect t="12536" b="29251"/>
          <a:stretch>
            <a:fillRect/>
          </a:stretch>
        </p:blipFill>
        <p:spPr>
          <a:xfrm>
            <a:off x="19674000" y="5580000"/>
            <a:ext cx="5040000" cy="3780000"/>
          </a:xfrm>
          <a:prstGeom prst="rect">
            <a:avLst/>
          </a:prstGeom>
        </p:spPr>
      </p:pic>
      <p:sp>
        <p:nvSpPr>
          <p:cNvPr id="35" name="名牌底4"/>
          <p:cNvSpPr/>
          <p:nvPr/>
        </p:nvSpPr>
        <p:spPr>
          <a:xfrm>
            <a:off x="19584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36" name="名牌金线4"/>
          <p:cNvSpPr/>
          <p:nvPr/>
        </p:nvSpPr>
        <p:spPr>
          <a:xfrm>
            <a:off x="19584000" y="9450000"/>
            <a:ext cx="5220000" cy="54000"/>
          </a:xfrm>
          <a:prstGeom prst="rect">
            <a:avLst/>
          </a:prstGeom>
          <a:solidFill>
            <a:srgbClr val="FFDC8C"/>
          </a:solidFill>
          <a:ln>
            <a:noFill/>
          </a:ln>
        </p:spPr>
        <p:txBody>
          <a:bodyPr rtlCol="0" anchor="ctr"/>
          <a:lstStyle/>
          <a:p>
            <a:pPr algn="ctr"/>
          </a:p>
        </p:txBody>
      </p:sp>
      <p:sp>
        <p:nvSpPr>
          <p:cNvPr id="37" name="名牌4"/>
          <p:cNvSpPr txBox="1"/>
          <p:nvPr/>
        </p:nvSpPr>
        <p:spPr>
          <a:xfrm>
            <a:off x="19584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庞立成</a:t>
            </a:r>
          </a:p>
          <a:p>
            <a:pPr algn="ctr"/>
            <a:r>
              <a:rPr sz="2692" b="0">
                <a:solidFill>
                  <a:srgbClr val="FFF1D6"/>
                </a:solidFill>
                <a:latin typeface="Microsoft YaHei"/>
                <a:ea typeface="微软雅黑"/>
              </a:rPr>
              <a:t>运行二处</a:t>
            </a:r>
          </a:p>
        </p:txBody>
      </p:sp>
      <p:sp>
        <p:nvSpPr>
          <p:cNvPr id="38" name="文字框4"/>
          <p:cNvSpPr/>
          <p:nvPr/>
        </p:nvSpPr>
        <p:spPr>
          <a:xfrm>
            <a:off x="19494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39" name="文字框饰条4"/>
          <p:cNvSpPr/>
          <p:nvPr/>
        </p:nvSpPr>
        <p:spPr>
          <a:xfrm>
            <a:off x="19710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40" name="文字4"/>
          <p:cNvSpPr txBox="1"/>
          <p:nvPr/>
        </p:nvSpPr>
        <p:spPr>
          <a:xfrm>
            <a:off x="19782000" y="11232000"/>
            <a:ext cx="4824000" cy="5130000"/>
          </a:xfrm>
          <a:prstGeom prst="rect">
            <a:avLst/>
          </a:prstGeom>
          <a:noFill/>
        </p:spPr>
        <p:txBody>
          <a:bodyPr wrap="square" lIns="0" rIns="0" tIns="0" bIns="0" anchor="t">
            <a:noAutofit/>
          </a:bodyPr>
          <a:lstStyle/>
          <a:p>
            <a:pPr algn="just">
              <a:lnSpc>
                <a:spcPts val="3614"/>
              </a:lnSpc>
            </a:pPr>
            <a:r>
              <a:rPr sz="2409" b="1">
                <a:solidFill>
                  <a:srgbClr val="B8121A"/>
                </a:solidFill>
                <a:latin typeface="Microsoft YaHei"/>
                <a:ea typeface="微软雅黑"/>
              </a:rPr>
              <a:t>“及时发现并处置CCS B泵异常情况，成功避免设备损坏风险”</a:t>
            </a:r>
          </a:p>
          <a:p>
            <a:pPr algn="just" marL="0" indent="612000">
              <a:lnSpc>
                <a:spcPts val="3614"/>
              </a:lnSpc>
            </a:pPr>
            <a:r>
              <a:rPr sz="2409" b="0">
                <a:solidFill>
                  <a:srgbClr val="3A2A1A"/>
                </a:solidFill>
                <a:latin typeface="Microsoft YaHei"/>
                <a:ea typeface="微软雅黑"/>
              </a:rPr>
              <a:t>运行二处3号机五值庞立成及时发现并处置CCS B泵异常情况，成功避免设备损坏风险。庞立成不轻易放过任何隐患，尽职履责，对设备参数保持敏感，发现异常后第一时间响应，处置果断，行动高效，避免设备损坏和事件升级，用实际行动履行了对核安全的承诺。</a:t>
            </a:r>
          </a:p>
        </p:txBody>
      </p:sp>
      <p:sp>
        <p:nvSpPr>
          <p:cNvPr id="41" name="热区4">
            <a:hlinkClick action="ppaction://hlinksldjump" r:id="rId9"/>
          </p:cNvPr>
          <p:cNvSpPr/>
          <p:nvPr/>
        </p:nvSpPr>
        <p:spPr>
          <a:xfrm>
            <a:off x="19494000" y="5400000"/>
            <a:ext cx="5400000" cy="11430000"/>
          </a:xfrm>
          <a:prstGeom prst="rect">
            <a:avLst/>
          </a:prstGeom>
          <a:solidFill>
            <a:srgbClr val="000000">
              <a:alpha val="0"/>
            </a:srgbClr>
          </a:solidFill>
          <a:ln>
            <a:noFill/>
          </a:ln>
        </p:spPr>
        <p:txBody>
          <a:bodyPr rtlCol="0" anchor="ctr"/>
          <a:lstStyle/>
          <a:p>
            <a:pPr algn="ctr"/>
          </a:p>
        </p:txBody>
      </p:sp>
      <p:sp>
        <p:nvSpPr>
          <p:cNvPr id="42" name="卡框5"/>
          <p:cNvSpPr/>
          <p:nvPr/>
        </p:nvSpPr>
        <p:spPr>
          <a:xfrm>
            <a:off x="25506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43" name="衬纸5"/>
          <p:cNvSpPr/>
          <p:nvPr/>
        </p:nvSpPr>
        <p:spPr>
          <a:xfrm>
            <a:off x="25596000" y="5490000"/>
            <a:ext cx="5220000" cy="3960000"/>
          </a:xfrm>
          <a:prstGeom prst="rect">
            <a:avLst/>
          </a:prstGeom>
          <a:solidFill>
            <a:srgbClr val="FFFAF0"/>
          </a:solidFill>
          <a:ln>
            <a:noFill/>
          </a:ln>
        </p:spPr>
        <p:txBody>
          <a:bodyPr rtlCol="0" anchor="ctr"/>
          <a:lstStyle/>
          <a:p>
            <a:pPr algn="ctr"/>
          </a:p>
        </p:txBody>
      </p:sp>
      <p:pic>
        <p:nvPicPr>
          <p:cNvPr id="44" name="!!p5" descr="image.jpg"/>
          <p:cNvPicPr>
            <a:picLocks noChangeAspect="1"/>
          </p:cNvPicPr>
          <p:nvPr/>
        </p:nvPicPr>
        <p:blipFill>
          <a:blip r:embed="rId10"/>
          <a:srcRect t="12536" b="29251"/>
          <a:stretch>
            <a:fillRect/>
          </a:stretch>
        </p:blipFill>
        <p:spPr>
          <a:xfrm>
            <a:off x="25686000" y="5580000"/>
            <a:ext cx="5040000" cy="3780000"/>
          </a:xfrm>
          <a:prstGeom prst="rect">
            <a:avLst/>
          </a:prstGeom>
        </p:spPr>
      </p:pic>
      <p:sp>
        <p:nvSpPr>
          <p:cNvPr id="45" name="名牌底5"/>
          <p:cNvSpPr/>
          <p:nvPr/>
        </p:nvSpPr>
        <p:spPr>
          <a:xfrm>
            <a:off x="25596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46" name="名牌金线5"/>
          <p:cNvSpPr/>
          <p:nvPr/>
        </p:nvSpPr>
        <p:spPr>
          <a:xfrm>
            <a:off x="25596000" y="9450000"/>
            <a:ext cx="5220000" cy="54000"/>
          </a:xfrm>
          <a:prstGeom prst="rect">
            <a:avLst/>
          </a:prstGeom>
          <a:solidFill>
            <a:srgbClr val="FFDC8C"/>
          </a:solidFill>
          <a:ln>
            <a:noFill/>
          </a:ln>
        </p:spPr>
        <p:txBody>
          <a:bodyPr rtlCol="0" anchor="ctr"/>
          <a:lstStyle/>
          <a:p>
            <a:pPr algn="ctr"/>
          </a:p>
        </p:txBody>
      </p:sp>
      <p:sp>
        <p:nvSpPr>
          <p:cNvPr id="47" name="名牌5"/>
          <p:cNvSpPr txBox="1"/>
          <p:nvPr/>
        </p:nvSpPr>
        <p:spPr>
          <a:xfrm>
            <a:off x="25596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于海青</a:t>
            </a:r>
          </a:p>
          <a:p>
            <a:pPr algn="ctr"/>
            <a:r>
              <a:rPr sz="2692" b="0">
                <a:solidFill>
                  <a:srgbClr val="FFF1D6"/>
                </a:solidFill>
                <a:latin typeface="Microsoft YaHei"/>
                <a:ea typeface="微软雅黑"/>
              </a:rPr>
              <a:t>上海申亿</a:t>
            </a:r>
          </a:p>
        </p:txBody>
      </p:sp>
      <p:sp>
        <p:nvSpPr>
          <p:cNvPr id="48" name="文字框5"/>
          <p:cNvSpPr/>
          <p:nvPr/>
        </p:nvSpPr>
        <p:spPr>
          <a:xfrm>
            <a:off x="25506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49" name="文字框饰条5"/>
          <p:cNvSpPr/>
          <p:nvPr/>
        </p:nvSpPr>
        <p:spPr>
          <a:xfrm>
            <a:off x="25722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50" name="文字5"/>
          <p:cNvSpPr txBox="1"/>
          <p:nvPr/>
        </p:nvSpPr>
        <p:spPr>
          <a:xfrm>
            <a:off x="25794000" y="11232000"/>
            <a:ext cx="4824000" cy="5130000"/>
          </a:xfrm>
          <a:prstGeom prst="rect">
            <a:avLst/>
          </a:prstGeom>
          <a:noFill/>
        </p:spPr>
        <p:txBody>
          <a:bodyPr wrap="square" lIns="0" rIns="0" tIns="0" bIns="0" anchor="t">
            <a:noAutofit/>
          </a:bodyPr>
          <a:lstStyle/>
          <a:p>
            <a:pPr algn="just">
              <a:lnSpc>
                <a:spcPts val="2976"/>
              </a:lnSpc>
            </a:pPr>
            <a:r>
              <a:rPr sz="1984" b="1">
                <a:solidFill>
                  <a:srgbClr val="B8121A"/>
                </a:solidFill>
                <a:latin typeface="Microsoft YaHei"/>
                <a:ea typeface="微软雅黑"/>
              </a:rPr>
              <a:t>“发现低压氢气站门口静电消除器故障，暂停脚手架搭设”</a:t>
            </a:r>
          </a:p>
          <a:p>
            <a:pPr algn="just" marL="0" indent="504000">
              <a:lnSpc>
                <a:spcPts val="2976"/>
              </a:lnSpc>
            </a:pPr>
            <a:r>
              <a:rPr sz="1984" b="0">
                <a:solidFill>
                  <a:srgbClr val="3A2A1A"/>
                </a:solidFill>
                <a:latin typeface="Microsoft YaHei"/>
                <a:ea typeface="微软雅黑"/>
              </a:rPr>
              <a:t>上海申亿脚手架班组以质疑的工作态度发现低压氢气站门口静电消除器故障，暂停脚手架搭设，避免了潜在作业风险。于海青班组在此次作业准备中，坚持以质疑的工作态度审视每一个安全环节，不放过任何一项不符合条件的因素，有效避免了潜在的作业风险，展现了于海青班组严谨务实的工作作风和时刻将核安全放在首位的责任意识。他们的做法，是健康核安全文化在一线落地的真实写照。</a:t>
            </a:r>
          </a:p>
        </p:txBody>
      </p:sp>
      <p:sp>
        <p:nvSpPr>
          <p:cNvPr id="51" name="热区5">
            <a:hlinkClick action="ppaction://hlinksldjump" r:id="rId11"/>
          </p:cNvPr>
          <p:cNvSpPr/>
          <p:nvPr/>
        </p:nvSpPr>
        <p:spPr>
          <a:xfrm>
            <a:off x="25506000" y="5400000"/>
            <a:ext cx="5400000" cy="11430000"/>
          </a:xfrm>
          <a:prstGeom prst="rect">
            <a:avLst/>
          </a:prstGeom>
          <a:solidFill>
            <a:srgbClr val="000000">
              <a:alpha val="0"/>
            </a:srgbClr>
          </a:solidFill>
          <a:ln>
            <a:noFill/>
          </a:ln>
        </p:spPr>
        <p:txBody>
          <a:bodyPr rtlCol="0" anchor="ctr"/>
          <a:lstStyle/>
          <a:p>
            <a:pPr algn="ctr"/>
          </a:p>
        </p:txBody>
      </p:sp>
      <p:sp>
        <p:nvSpPr>
          <p:cNvPr id="52" name="卡框6"/>
          <p:cNvSpPr/>
          <p:nvPr/>
        </p:nvSpPr>
        <p:spPr>
          <a:xfrm>
            <a:off x="3151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53" name="衬纸6"/>
          <p:cNvSpPr/>
          <p:nvPr/>
        </p:nvSpPr>
        <p:spPr>
          <a:xfrm>
            <a:off x="31608000" y="5490000"/>
            <a:ext cx="5220000" cy="3960000"/>
          </a:xfrm>
          <a:prstGeom prst="rect">
            <a:avLst/>
          </a:prstGeom>
          <a:solidFill>
            <a:srgbClr val="FFFAF0"/>
          </a:solidFill>
          <a:ln>
            <a:noFill/>
          </a:ln>
        </p:spPr>
        <p:txBody>
          <a:bodyPr rtlCol="0" anchor="ctr"/>
          <a:lstStyle/>
          <a:p>
            <a:pPr algn="ctr"/>
          </a:p>
        </p:txBody>
      </p:sp>
      <p:pic>
        <p:nvPicPr>
          <p:cNvPr id="54" name="!!p6" descr="image.jpg"/>
          <p:cNvPicPr>
            <a:picLocks noChangeAspect="1"/>
          </p:cNvPicPr>
          <p:nvPr/>
        </p:nvPicPr>
        <p:blipFill>
          <a:blip r:embed="rId12"/>
          <a:srcRect t="12536" b="29251"/>
          <a:stretch>
            <a:fillRect/>
          </a:stretch>
        </p:blipFill>
        <p:spPr>
          <a:xfrm>
            <a:off x="31698000" y="5580000"/>
            <a:ext cx="5040000" cy="3780000"/>
          </a:xfrm>
          <a:prstGeom prst="rect">
            <a:avLst/>
          </a:prstGeom>
        </p:spPr>
      </p:pic>
      <p:sp>
        <p:nvSpPr>
          <p:cNvPr id="55" name="名牌底6"/>
          <p:cNvSpPr/>
          <p:nvPr/>
        </p:nvSpPr>
        <p:spPr>
          <a:xfrm>
            <a:off x="3160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56" name="名牌金线6"/>
          <p:cNvSpPr/>
          <p:nvPr/>
        </p:nvSpPr>
        <p:spPr>
          <a:xfrm>
            <a:off x="31608000" y="9450000"/>
            <a:ext cx="5220000" cy="54000"/>
          </a:xfrm>
          <a:prstGeom prst="rect">
            <a:avLst/>
          </a:prstGeom>
          <a:solidFill>
            <a:srgbClr val="FFDC8C"/>
          </a:solidFill>
          <a:ln>
            <a:noFill/>
          </a:ln>
        </p:spPr>
        <p:txBody>
          <a:bodyPr rtlCol="0" anchor="ctr"/>
          <a:lstStyle/>
          <a:p>
            <a:pPr algn="ctr"/>
          </a:p>
        </p:txBody>
      </p:sp>
      <p:sp>
        <p:nvSpPr>
          <p:cNvPr id="57" name="名牌6"/>
          <p:cNvSpPr txBox="1"/>
          <p:nvPr/>
        </p:nvSpPr>
        <p:spPr>
          <a:xfrm>
            <a:off x="3160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潘绍卓</a:t>
            </a:r>
          </a:p>
          <a:p>
            <a:pPr algn="ctr"/>
            <a:r>
              <a:rPr sz="2692" b="0">
                <a:solidFill>
                  <a:srgbClr val="FFF1D6"/>
                </a:solidFill>
                <a:latin typeface="Microsoft YaHei"/>
                <a:ea typeface="微软雅黑"/>
              </a:rPr>
              <a:t>运行一处</a:t>
            </a:r>
          </a:p>
        </p:txBody>
      </p:sp>
      <p:sp>
        <p:nvSpPr>
          <p:cNvPr id="58" name="文字框6"/>
          <p:cNvSpPr/>
          <p:nvPr/>
        </p:nvSpPr>
        <p:spPr>
          <a:xfrm>
            <a:off x="3151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59" name="文字框饰条6"/>
          <p:cNvSpPr/>
          <p:nvPr/>
        </p:nvSpPr>
        <p:spPr>
          <a:xfrm>
            <a:off x="3173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60" name="文字6"/>
          <p:cNvSpPr txBox="1"/>
          <p:nvPr/>
        </p:nvSpPr>
        <p:spPr>
          <a:xfrm>
            <a:off x="31806000" y="11232000"/>
            <a:ext cx="4824000" cy="5130000"/>
          </a:xfrm>
          <a:prstGeom prst="rect">
            <a:avLst/>
          </a:prstGeom>
          <a:noFill/>
        </p:spPr>
        <p:txBody>
          <a:bodyPr wrap="square" lIns="0" rIns="0" tIns="0" bIns="0" anchor="t">
            <a:noAutofit/>
          </a:bodyPr>
          <a:lstStyle/>
          <a:p>
            <a:pPr algn="just">
              <a:lnSpc>
                <a:spcPts val="3401"/>
              </a:lnSpc>
            </a:pPr>
            <a:r>
              <a:rPr sz="2267" b="1">
                <a:solidFill>
                  <a:srgbClr val="B8121A"/>
                </a:solidFill>
                <a:latin typeface="Microsoft YaHei"/>
                <a:ea typeface="微软雅黑"/>
              </a:rPr>
              <a:t>“就地发现2号机低压缸轴封汽腔定位螺栓螺母松脱”</a:t>
            </a:r>
          </a:p>
          <a:p>
            <a:pPr algn="just" marL="0" indent="576000">
              <a:lnSpc>
                <a:spcPts val="3401"/>
              </a:lnSpc>
            </a:pPr>
            <a:r>
              <a:rPr sz="2267" b="0">
                <a:solidFill>
                  <a:srgbClr val="3A2A1A"/>
                </a:solidFill>
                <a:latin typeface="Microsoft YaHei"/>
                <a:ea typeface="微软雅黑"/>
              </a:rPr>
              <a:t>运行一处2号机五值潘绍卓就地发现2号机低压缸轴封汽腔定位螺栓螺母松脱。潘绍卓发现现场重要设备安全稳定运行的安全隐患，及时跟踪处理，避免小缺陷演变成为重大的设备损坏事件，凭借扎实的现场工作经验与主人翁的责任担当，用心坚守机组安全运行最后的防线。</a:t>
            </a:r>
          </a:p>
        </p:txBody>
      </p:sp>
      <p:sp>
        <p:nvSpPr>
          <p:cNvPr id="61" name="热区6">
            <a:hlinkClick action="ppaction://hlinksldjump" r:id="rId13"/>
          </p:cNvPr>
          <p:cNvSpPr/>
          <p:nvPr/>
        </p:nvSpPr>
        <p:spPr>
          <a:xfrm>
            <a:off x="31518000" y="5400000"/>
            <a:ext cx="5400000" cy="11430000"/>
          </a:xfrm>
          <a:prstGeom prst="rect">
            <a:avLst/>
          </a:prstGeom>
          <a:solidFill>
            <a:srgbClr val="000000">
              <a:alpha val="0"/>
            </a:srgbClr>
          </a:solidFill>
          <a:ln>
            <a:noFill/>
          </a:ln>
        </p:spPr>
        <p:txBody>
          <a:bodyPr rtlCol="0" anchor="ctr"/>
          <a:lstStyle/>
          <a:p>
            <a:pPr algn="ctr"/>
          </a:p>
        </p:txBody>
      </p:sp>
      <p:sp>
        <p:nvSpPr>
          <p:cNvPr id="62" name="卡框7"/>
          <p:cNvSpPr/>
          <p:nvPr/>
        </p:nvSpPr>
        <p:spPr>
          <a:xfrm>
            <a:off x="3753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63" name="衬纸7"/>
          <p:cNvSpPr/>
          <p:nvPr/>
        </p:nvSpPr>
        <p:spPr>
          <a:xfrm>
            <a:off x="37620000" y="5490000"/>
            <a:ext cx="5220000" cy="3960000"/>
          </a:xfrm>
          <a:prstGeom prst="rect">
            <a:avLst/>
          </a:prstGeom>
          <a:solidFill>
            <a:srgbClr val="FFFAF0"/>
          </a:solidFill>
          <a:ln>
            <a:noFill/>
          </a:ln>
        </p:spPr>
        <p:txBody>
          <a:bodyPr rtlCol="0" anchor="ctr"/>
          <a:lstStyle/>
          <a:p>
            <a:pPr algn="ctr"/>
          </a:p>
        </p:txBody>
      </p:sp>
      <p:pic>
        <p:nvPicPr>
          <p:cNvPr id="64" name="!!p7" descr="image.jpg"/>
          <p:cNvPicPr>
            <a:picLocks noChangeAspect="1"/>
          </p:cNvPicPr>
          <p:nvPr/>
        </p:nvPicPr>
        <p:blipFill>
          <a:blip r:embed="rId14"/>
          <a:srcRect t="12536" b="29251"/>
          <a:stretch>
            <a:fillRect/>
          </a:stretch>
        </p:blipFill>
        <p:spPr>
          <a:xfrm>
            <a:off x="37710000" y="5580000"/>
            <a:ext cx="5040000" cy="3780000"/>
          </a:xfrm>
          <a:prstGeom prst="rect">
            <a:avLst/>
          </a:prstGeom>
        </p:spPr>
      </p:pic>
      <p:sp>
        <p:nvSpPr>
          <p:cNvPr id="65" name="名牌底7"/>
          <p:cNvSpPr/>
          <p:nvPr/>
        </p:nvSpPr>
        <p:spPr>
          <a:xfrm>
            <a:off x="3762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6" name="名牌金线7"/>
          <p:cNvSpPr/>
          <p:nvPr/>
        </p:nvSpPr>
        <p:spPr>
          <a:xfrm>
            <a:off x="37620000" y="9450000"/>
            <a:ext cx="5220000" cy="54000"/>
          </a:xfrm>
          <a:prstGeom prst="rect">
            <a:avLst/>
          </a:prstGeom>
          <a:solidFill>
            <a:srgbClr val="FFDC8C"/>
          </a:solidFill>
          <a:ln>
            <a:noFill/>
          </a:ln>
        </p:spPr>
        <p:txBody>
          <a:bodyPr rtlCol="0" anchor="ctr"/>
          <a:lstStyle/>
          <a:p>
            <a:pPr algn="ctr"/>
          </a:p>
        </p:txBody>
      </p:sp>
      <p:sp>
        <p:nvSpPr>
          <p:cNvPr id="67" name="名牌7"/>
          <p:cNvSpPr txBox="1"/>
          <p:nvPr/>
        </p:nvSpPr>
        <p:spPr>
          <a:xfrm>
            <a:off x="3762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成鹏飞</a:t>
            </a:r>
          </a:p>
          <a:p>
            <a:pPr algn="ctr"/>
            <a:r>
              <a:rPr sz="2692" b="0">
                <a:solidFill>
                  <a:srgbClr val="FFF1D6"/>
                </a:solidFill>
                <a:latin typeface="Microsoft YaHei"/>
                <a:ea typeface="微软雅黑"/>
              </a:rPr>
              <a:t>中核凯利</a:t>
            </a:r>
          </a:p>
        </p:txBody>
      </p:sp>
      <p:sp>
        <p:nvSpPr>
          <p:cNvPr id="68" name="文字框7"/>
          <p:cNvSpPr/>
          <p:nvPr/>
        </p:nvSpPr>
        <p:spPr>
          <a:xfrm>
            <a:off x="3753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69" name="文字框饰条7"/>
          <p:cNvSpPr/>
          <p:nvPr/>
        </p:nvSpPr>
        <p:spPr>
          <a:xfrm>
            <a:off x="3774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70" name="文字7"/>
          <p:cNvSpPr txBox="1"/>
          <p:nvPr/>
        </p:nvSpPr>
        <p:spPr>
          <a:xfrm>
            <a:off x="37818000" y="11232000"/>
            <a:ext cx="4824000" cy="5130000"/>
          </a:xfrm>
          <a:prstGeom prst="rect">
            <a:avLst/>
          </a:prstGeom>
          <a:noFill/>
        </p:spPr>
        <p:txBody>
          <a:bodyPr wrap="square" lIns="0" rIns="0" tIns="0" bIns="0" anchor="t">
            <a:noAutofit/>
          </a:bodyPr>
          <a:lstStyle/>
          <a:p>
            <a:pPr algn="just">
              <a:lnSpc>
                <a:spcPts val="3401"/>
              </a:lnSpc>
            </a:pPr>
            <a:r>
              <a:rPr sz="2267" b="1">
                <a:solidFill>
                  <a:srgbClr val="B8121A"/>
                </a:solidFill>
                <a:latin typeface="Microsoft YaHei"/>
                <a:ea typeface="微软雅黑"/>
              </a:rPr>
              <a:t>“及时识别放射性废物包装剂量率测量错误的安全隐患”</a:t>
            </a:r>
          </a:p>
          <a:p>
            <a:pPr algn="just" marL="0" indent="576000">
              <a:lnSpc>
                <a:spcPts val="3401"/>
              </a:lnSpc>
            </a:pPr>
            <a:r>
              <a:rPr sz="2267" b="0">
                <a:solidFill>
                  <a:srgbClr val="3A2A1A"/>
                </a:solidFill>
                <a:latin typeface="Microsoft YaHei"/>
                <a:ea typeface="微软雅黑"/>
              </a:rPr>
              <a:t>成鹏飞及时识别放射性废物包装剂量率测量错误的安全隐患。成鹏飞日常工作中坚持以质疑的工作态度和严慎细实的工作方法对待每项任务，始终将“安全第一、质量第一”的安全理念落到实处。他以高度责任心和专业技能，体现了公司对核安全的高度重视，为全体员工树立了行为标杆。</a:t>
            </a:r>
          </a:p>
        </p:txBody>
      </p:sp>
      <p:sp>
        <p:nvSpPr>
          <p:cNvPr id="71" name="热区7">
            <a:hlinkClick action="ppaction://hlinksldjump" r:id="rId15"/>
          </p:cNvPr>
          <p:cNvSpPr/>
          <p:nvPr/>
        </p:nvSpPr>
        <p:spPr>
          <a:xfrm>
            <a:off x="37530000" y="5400000"/>
            <a:ext cx="5400000" cy="11430000"/>
          </a:xfrm>
          <a:prstGeom prst="rect">
            <a:avLst/>
          </a:prstGeom>
          <a:solidFill>
            <a:srgbClr val="000000">
              <a:alpha val="0"/>
            </a:srgbClr>
          </a:solidFill>
          <a:ln>
            <a:noFill/>
          </a:ln>
        </p:spPr>
        <p:txBody>
          <a:bodyPr rtlCol="0" anchor="ctr"/>
          <a:lstStyle/>
          <a:p>
            <a:pPr algn="ctr"/>
          </a:p>
        </p:txBody>
      </p:sp>
      <p:sp>
        <p:nvSpPr>
          <p:cNvPr id="72" name="卡框8"/>
          <p:cNvSpPr/>
          <p:nvPr/>
        </p:nvSpPr>
        <p:spPr>
          <a:xfrm>
            <a:off x="4354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73" name="衬纸8"/>
          <p:cNvSpPr/>
          <p:nvPr/>
        </p:nvSpPr>
        <p:spPr>
          <a:xfrm>
            <a:off x="43632000" y="5490000"/>
            <a:ext cx="5220000" cy="3960000"/>
          </a:xfrm>
          <a:prstGeom prst="rect">
            <a:avLst/>
          </a:prstGeom>
          <a:solidFill>
            <a:srgbClr val="FFFAF0"/>
          </a:solidFill>
          <a:ln>
            <a:noFill/>
          </a:ln>
        </p:spPr>
        <p:txBody>
          <a:bodyPr rtlCol="0" anchor="ctr"/>
          <a:lstStyle/>
          <a:p>
            <a:pPr algn="ctr"/>
          </a:p>
        </p:txBody>
      </p:sp>
      <p:pic>
        <p:nvPicPr>
          <p:cNvPr id="74" name="!!p8" descr="image.jpg"/>
          <p:cNvPicPr>
            <a:picLocks noChangeAspect="1"/>
          </p:cNvPicPr>
          <p:nvPr/>
        </p:nvPicPr>
        <p:blipFill>
          <a:blip r:embed="rId16"/>
          <a:srcRect t="12536" b="29251"/>
          <a:stretch>
            <a:fillRect/>
          </a:stretch>
        </p:blipFill>
        <p:spPr>
          <a:xfrm>
            <a:off x="43722000" y="5580000"/>
            <a:ext cx="5040000" cy="3780000"/>
          </a:xfrm>
          <a:prstGeom prst="rect">
            <a:avLst/>
          </a:prstGeom>
        </p:spPr>
      </p:pic>
      <p:sp>
        <p:nvSpPr>
          <p:cNvPr id="75" name="名牌底8"/>
          <p:cNvSpPr/>
          <p:nvPr/>
        </p:nvSpPr>
        <p:spPr>
          <a:xfrm>
            <a:off x="4363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76" name="名牌金线8"/>
          <p:cNvSpPr/>
          <p:nvPr/>
        </p:nvSpPr>
        <p:spPr>
          <a:xfrm>
            <a:off x="43632000" y="9450000"/>
            <a:ext cx="5220000" cy="54000"/>
          </a:xfrm>
          <a:prstGeom prst="rect">
            <a:avLst/>
          </a:prstGeom>
          <a:solidFill>
            <a:srgbClr val="FFDC8C"/>
          </a:solidFill>
          <a:ln>
            <a:noFill/>
          </a:ln>
        </p:spPr>
        <p:txBody>
          <a:bodyPr rtlCol="0" anchor="ctr"/>
          <a:lstStyle/>
          <a:p>
            <a:pPr algn="ctr"/>
          </a:p>
        </p:txBody>
      </p:sp>
      <p:sp>
        <p:nvSpPr>
          <p:cNvPr id="77" name="名牌8"/>
          <p:cNvSpPr txBox="1"/>
          <p:nvPr/>
        </p:nvSpPr>
        <p:spPr>
          <a:xfrm>
            <a:off x="4363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何韶然</a:t>
            </a:r>
          </a:p>
          <a:p>
            <a:pPr algn="ctr"/>
            <a:r>
              <a:rPr sz="2692" b="0">
                <a:solidFill>
                  <a:srgbClr val="FFF1D6"/>
                </a:solidFill>
                <a:latin typeface="Microsoft YaHei"/>
                <a:ea typeface="微软雅黑"/>
              </a:rPr>
              <a:t>运行二处</a:t>
            </a:r>
          </a:p>
        </p:txBody>
      </p:sp>
      <p:sp>
        <p:nvSpPr>
          <p:cNvPr id="78" name="文字框8"/>
          <p:cNvSpPr/>
          <p:nvPr/>
        </p:nvSpPr>
        <p:spPr>
          <a:xfrm>
            <a:off x="4354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79" name="文字框饰条8"/>
          <p:cNvSpPr/>
          <p:nvPr/>
        </p:nvSpPr>
        <p:spPr>
          <a:xfrm>
            <a:off x="4375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80" name="文字8"/>
          <p:cNvSpPr txBox="1"/>
          <p:nvPr/>
        </p:nvSpPr>
        <p:spPr>
          <a:xfrm>
            <a:off x="43830000" y="11232000"/>
            <a:ext cx="4824000" cy="5130000"/>
          </a:xfrm>
          <a:prstGeom prst="rect">
            <a:avLst/>
          </a:prstGeom>
          <a:noFill/>
        </p:spPr>
        <p:txBody>
          <a:bodyPr wrap="square" lIns="0" rIns="0" tIns="0" bIns="0" anchor="t">
            <a:noAutofit/>
          </a:bodyPr>
          <a:lstStyle/>
          <a:p>
            <a:pPr algn="just">
              <a:lnSpc>
                <a:spcPts val="3614"/>
              </a:lnSpc>
            </a:pPr>
            <a:r>
              <a:rPr sz="2409" b="1">
                <a:solidFill>
                  <a:srgbClr val="B8121A"/>
                </a:solidFill>
                <a:latin typeface="Microsoft YaHei"/>
                <a:ea typeface="微软雅黑"/>
              </a:rPr>
              <a:t>“深入思考，充分质疑，消除主给水泵安全隐患”</a:t>
            </a:r>
          </a:p>
          <a:p>
            <a:pPr algn="just" marL="0" indent="612000">
              <a:lnSpc>
                <a:spcPts val="3614"/>
              </a:lnSpc>
            </a:pPr>
            <a:r>
              <a:rPr sz="2409" b="0">
                <a:solidFill>
                  <a:srgbClr val="3A2A1A"/>
                </a:solidFill>
                <a:latin typeface="Microsoft YaHei"/>
                <a:ea typeface="微软雅黑"/>
              </a:rPr>
              <a:t>何韶然深入思考，充分质疑，消除主给水泵安全隐患。何韶然不轻易放过任何隐患，不盲目接受现有逻辑设计，在发现调试机组存在隐患后主动反馈一期生产机组，实现了运行经验指导调试和调试经验反哺运行的双向联动，用实际行动践行了核安全文化核心理念。</a:t>
            </a:r>
          </a:p>
        </p:txBody>
      </p:sp>
      <p:sp>
        <p:nvSpPr>
          <p:cNvPr id="81" name="热区8">
            <a:hlinkClick action="ppaction://hlinksldjump" r:id="rId17"/>
          </p:cNvPr>
          <p:cNvSpPr/>
          <p:nvPr/>
        </p:nvSpPr>
        <p:spPr>
          <a:xfrm>
            <a:off x="43542000" y="5400000"/>
            <a:ext cx="5400000" cy="11430000"/>
          </a:xfrm>
          <a:prstGeom prst="rect">
            <a:avLst/>
          </a:prstGeom>
          <a:solidFill>
            <a:srgbClr val="000000">
              <a:alpha val="0"/>
            </a:srgbClr>
          </a:solidFill>
          <a:ln>
            <a:noFill/>
          </a:ln>
        </p:spPr>
        <p:txBody>
          <a:bodyPr rtlCol="0" anchor="ctr"/>
          <a:lstStyle/>
          <a:p>
            <a:pPr algn="ctr"/>
          </a:p>
        </p:txBody>
      </p:sp>
      <p:sp>
        <p:nvSpPr>
          <p:cNvPr id="82" name="下一页底"/>
          <p:cNvSpPr/>
          <p:nvPr/>
        </p:nvSpPr>
        <p:spPr>
          <a:xfrm>
            <a:off x="46620000" y="17028000"/>
            <a:ext cx="3060000" cy="792000"/>
          </a:xfrm>
          <a:prstGeom prst="roundRect">
            <a:avLst>
              <a:gd name="adj" fmla="val 50000"/>
            </a:avLst>
          </a:prstGeom>
          <a:solidFill>
            <a:srgbClr val="3A0306">
              <a:alpha val="55000"/>
            </a:srgbClr>
          </a:solidFill>
          <a:ln w="36000">
            <a:solidFill>
              <a:srgbClr val="FFD27A"/>
            </a:solidFill>
          </a:ln>
        </p:spPr>
        <p:txBody>
          <a:bodyPr rtlCol="0" anchor="ctr"/>
          <a:lstStyle/>
          <a:p>
            <a:pPr algn="ctr"/>
          </a:p>
        </p:txBody>
      </p:sp>
      <p:sp>
        <p:nvSpPr>
          <p:cNvPr id="83" name="下一页字"/>
          <p:cNvSpPr txBox="1"/>
          <p:nvPr/>
        </p:nvSpPr>
        <p:spPr>
          <a:xfrm>
            <a:off x="46620000" y="17028000"/>
            <a:ext cx="3060000" cy="792000"/>
          </a:xfrm>
          <a:prstGeom prst="rect">
            <a:avLst/>
          </a:prstGeom>
          <a:noFill/>
        </p:spPr>
        <p:txBody>
          <a:bodyPr wrap="square" lIns="0" rIns="0" tIns="0" bIns="0" anchor="ctr">
            <a:noAutofit/>
          </a:bodyPr>
          <a:lstStyle/>
          <a:p>
            <a:pPr algn="ctr"/>
            <a:r>
              <a:rPr sz="3401" b="0" spc="340">
                <a:solidFill>
                  <a:srgbClr val="FFD27A"/>
                </a:solidFill>
                <a:latin typeface="Microsoft YaHei"/>
                <a:ea typeface="微软雅黑"/>
              </a:rPr>
              <a:t>下一页 ›</a:t>
            </a:r>
          </a:p>
        </p:txBody>
      </p:sp>
      <p:sp>
        <p:nvSpPr>
          <p:cNvPr id="84" name="下一页">
            <a:hlinkClick action="ppaction://hlinksldjump" r:id="rId18"/>
          </p:cNvPr>
          <p:cNvSpPr/>
          <p:nvPr/>
        </p:nvSpPr>
        <p:spPr>
          <a:xfrm>
            <a:off x="46620000" y="17028000"/>
            <a:ext cx="3060000" cy="792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1"/>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刘明利</a:t>
            </a:r>
          </a:p>
        </p:txBody>
      </p:sp>
      <p:sp>
        <p:nvSpPr>
          <p:cNvPr id="29" name="分隔左1"/>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1"/>
          <p:cNvSpPr/>
          <p:nvPr/>
        </p:nvSpPr>
        <p:spPr>
          <a:xfrm>
            <a:off x="6253005" y="9633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
          <p:cNvSpPr txBox="1"/>
          <p:nvPr/>
        </p:nvSpPr>
        <p:spPr>
          <a:xfrm>
            <a:off x="6253005" y="9633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技术支持处</a:t>
            </a:r>
          </a:p>
        </p:txBody>
      </p:sp>
      <p:sp>
        <p:nvSpPr>
          <p:cNvPr id="34" name="事迹1"/>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“精准研判1号机主给水泵B电机振动隐患”</a:t>
            </a:r>
          </a:p>
        </p:txBody>
      </p:sp>
      <p:sp>
        <p:nvSpPr>
          <p:cNvPr id="35" name="标题1"/>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1"/>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1"/>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1"/>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1"/>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1"/>
          <p:cNvSpPr txBox="1"/>
          <p:nvPr/>
        </p:nvSpPr>
        <p:spPr>
          <a:xfrm>
            <a:off x="32580390" y="4824000"/>
            <a:ext cx="15299610" cy="10116000"/>
          </a:xfrm>
          <a:prstGeom prst="rect">
            <a:avLst/>
          </a:prstGeom>
          <a:noFill/>
        </p:spPr>
        <p:txBody>
          <a:bodyPr wrap="square" lIns="0" rIns="0" tIns="0" bIns="0" anchor="ctr">
            <a:noAutofit/>
          </a:bodyPr>
          <a:lstStyle/>
          <a:p>
            <a:pPr algn="just" marL="0" indent="1728000">
              <a:lnSpc>
                <a:spcPts val="11565"/>
              </a:lnSpc>
            </a:pPr>
            <a:r>
              <a:rPr sz="6803" b="0">
                <a:solidFill>
                  <a:srgbClr val="FFF3E2"/>
                </a:solidFill>
                <a:latin typeface="Microsoft YaHei"/>
                <a:ea typeface="微软雅黑"/>
              </a:rPr>
              <a:t>刘明利精准研判1号机主给水泵B电机振动隐患，彰显了刘明利的技术自信、专业担当与对未知的执着探索精神——正是这些，构成了核安全文化的深层底色。刘明利同志用实际行动诠释了“我为核安全文化代言”的深刻内涵。</a:t>
            </a:r>
          </a:p>
        </p:txBody>
      </p:sp>
      <p:sp>
        <p:nvSpPr>
          <p:cNvPr id="41" name="返回1">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2"/>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张岩</a:t>
            </a:r>
          </a:p>
        </p:txBody>
      </p:sp>
      <p:sp>
        <p:nvSpPr>
          <p:cNvPr id="29" name="分隔左2"/>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2"/>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运行一处</a:t>
            </a:r>
          </a:p>
        </p:txBody>
      </p:sp>
      <p:sp>
        <p:nvSpPr>
          <p:cNvPr id="34" name="事迹2"/>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“发现并及时上报2号机CPS取样架标识与实际取样点不一致”</a:t>
            </a:r>
          </a:p>
        </p:txBody>
      </p:sp>
      <p:sp>
        <p:nvSpPr>
          <p:cNvPr id="35" name="标题2"/>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2"/>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2"/>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2"/>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2"/>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2"/>
          <p:cNvSpPr txBox="1"/>
          <p:nvPr/>
        </p:nvSpPr>
        <p:spPr>
          <a:xfrm>
            <a:off x="32580390" y="4824000"/>
            <a:ext cx="15299610" cy="10116000"/>
          </a:xfrm>
          <a:prstGeom prst="rect">
            <a:avLst/>
          </a:prstGeom>
          <a:noFill/>
        </p:spPr>
        <p:txBody>
          <a:bodyPr wrap="square" lIns="0" rIns="0" tIns="0" bIns="0" anchor="ctr">
            <a:noAutofit/>
          </a:bodyPr>
          <a:lstStyle/>
          <a:p>
            <a:pPr algn="just" marL="0" indent="1512000">
              <a:lnSpc>
                <a:spcPts val="10119"/>
              </a:lnSpc>
            </a:pPr>
            <a:r>
              <a:rPr sz="5952" b="0">
                <a:solidFill>
                  <a:srgbClr val="FFF3E2"/>
                </a:solidFill>
                <a:latin typeface="Microsoft YaHei"/>
                <a:ea typeface="微软雅黑"/>
              </a:rPr>
              <a:t>张岩发现并及时上报2号机CPS取样架标识与实际取样点不一致。张岩同志在隔离操作中，遇疑则停，并充分发挥主观能动性，对该系统有关取样管排逐根细致排查，确定CPS取样架区域存在系统性标牌错误，并及时上报，体现了严慎细实的工作作风，用实际行动履行了运行人员对核安全的庄重承诺。</a:t>
            </a:r>
          </a:p>
        </p:txBody>
      </p:sp>
      <p:sp>
        <p:nvSpPr>
          <p:cNvPr id="41" name="返回2">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3"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3"/>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3"/>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3"/>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3"/>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杨帆</a:t>
            </a:r>
          </a:p>
        </p:txBody>
      </p:sp>
      <p:sp>
        <p:nvSpPr>
          <p:cNvPr id="29" name="分隔左3"/>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3"/>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3"/>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3"/>
          <p:cNvSpPr/>
          <p:nvPr/>
        </p:nvSpPr>
        <p:spPr>
          <a:xfrm>
            <a:off x="6253005" y="9633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3"/>
          <p:cNvSpPr txBox="1"/>
          <p:nvPr/>
        </p:nvSpPr>
        <p:spPr>
          <a:xfrm>
            <a:off x="6253005" y="9633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化学环保处</a:t>
            </a:r>
          </a:p>
        </p:txBody>
      </p:sp>
      <p:sp>
        <p:nvSpPr>
          <p:cNvPr id="34" name="事迹3"/>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“紧盯外委监测质量，严守监测数据安全防线”</a:t>
            </a:r>
          </a:p>
        </p:txBody>
      </p:sp>
      <p:sp>
        <p:nvSpPr>
          <p:cNvPr id="35" name="标题3"/>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3"/>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3"/>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3"/>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3"/>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3"/>
          <p:cNvSpPr txBox="1"/>
          <p:nvPr/>
        </p:nvSpPr>
        <p:spPr>
          <a:xfrm>
            <a:off x="32580390" y="4824000"/>
            <a:ext cx="15299610" cy="10116000"/>
          </a:xfrm>
          <a:prstGeom prst="rect">
            <a:avLst/>
          </a:prstGeom>
          <a:noFill/>
        </p:spPr>
        <p:txBody>
          <a:bodyPr wrap="square" lIns="0" rIns="0" tIns="0" bIns="0" anchor="ctr">
            <a:noAutofit/>
          </a:bodyPr>
          <a:lstStyle/>
          <a:p>
            <a:pPr algn="just" marL="0" indent="1728000">
              <a:lnSpc>
                <a:spcPts val="11565"/>
              </a:lnSpc>
            </a:pPr>
            <a:r>
              <a:rPr sz="6803" b="0">
                <a:solidFill>
                  <a:srgbClr val="FFF3E2"/>
                </a:solidFill>
                <a:latin typeface="Microsoft YaHei"/>
                <a:ea typeface="微软雅黑"/>
              </a:rPr>
              <a:t>杨帆紧盯外委监测质量，严守监测数据安全防线。工作中，该同志始终秉持“严、慎、细、实”的优良作风，防患未然、精益求精，以高度的责任担当持续推动核安全文化走深走实，为核与辐射环境安全稳定保驾护航。</a:t>
            </a:r>
          </a:p>
        </p:txBody>
      </p:sp>
      <p:sp>
        <p:nvSpPr>
          <p:cNvPr id="41" name="返回3">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4"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4"/>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4"/>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4"/>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4"/>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庞立成</a:t>
            </a:r>
          </a:p>
        </p:txBody>
      </p:sp>
      <p:sp>
        <p:nvSpPr>
          <p:cNvPr id="29" name="分隔左4"/>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4"/>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4"/>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4"/>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4"/>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运行二处</a:t>
            </a:r>
          </a:p>
        </p:txBody>
      </p:sp>
      <p:sp>
        <p:nvSpPr>
          <p:cNvPr id="34" name="事迹4"/>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“及时发现并处置CCS B泵异常情况，成功避免设备损坏风险”</a:t>
            </a:r>
          </a:p>
        </p:txBody>
      </p:sp>
      <p:sp>
        <p:nvSpPr>
          <p:cNvPr id="35" name="标题4"/>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4"/>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4"/>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4"/>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4"/>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4"/>
          <p:cNvSpPr txBox="1"/>
          <p:nvPr/>
        </p:nvSpPr>
        <p:spPr>
          <a:xfrm>
            <a:off x="32580390" y="4824000"/>
            <a:ext cx="15299610" cy="10116000"/>
          </a:xfrm>
          <a:prstGeom prst="rect">
            <a:avLst/>
          </a:prstGeom>
          <a:noFill/>
        </p:spPr>
        <p:txBody>
          <a:bodyPr wrap="square" lIns="0" rIns="0" tIns="0" bIns="0" anchor="ctr">
            <a:noAutofit/>
          </a:bodyPr>
          <a:lstStyle/>
          <a:p>
            <a:pPr algn="just" marL="0" indent="1656000">
              <a:lnSpc>
                <a:spcPts val="11083"/>
              </a:lnSpc>
            </a:pPr>
            <a:r>
              <a:rPr sz="6519" b="0">
                <a:solidFill>
                  <a:srgbClr val="FFF3E2"/>
                </a:solidFill>
                <a:latin typeface="Microsoft YaHei"/>
                <a:ea typeface="微软雅黑"/>
              </a:rPr>
              <a:t>运行二处3号机五值庞立成及时发现并处置CCS B泵异常情况，成功避免设备损坏风险。庞立成不轻易放过任何隐患，尽职履责，对设备参数保持敏感，发现异常后第一时间响应，处置果断，行动高效，避免设备损坏和事件升级，用实际行动履行了对核安全的承诺。</a:t>
            </a:r>
          </a:p>
        </p:txBody>
      </p:sp>
      <p:sp>
        <p:nvSpPr>
          <p:cNvPr id="41" name="返回4">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5"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5"/>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5"/>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5"/>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5"/>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于海青</a:t>
            </a:r>
          </a:p>
        </p:txBody>
      </p:sp>
      <p:sp>
        <p:nvSpPr>
          <p:cNvPr id="29" name="分隔左5"/>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5"/>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5"/>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5"/>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5"/>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上海申亿</a:t>
            </a:r>
          </a:p>
        </p:txBody>
      </p:sp>
      <p:sp>
        <p:nvSpPr>
          <p:cNvPr id="34" name="事迹5"/>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“发现低压氢气站门口静电消除器故障，暂停脚手架搭设”</a:t>
            </a:r>
          </a:p>
        </p:txBody>
      </p:sp>
      <p:sp>
        <p:nvSpPr>
          <p:cNvPr id="35" name="标题5"/>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5"/>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5"/>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5"/>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5"/>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5"/>
          <p:cNvSpPr txBox="1"/>
          <p:nvPr/>
        </p:nvSpPr>
        <p:spPr>
          <a:xfrm>
            <a:off x="32580390" y="4824000"/>
            <a:ext cx="15299610" cy="10116000"/>
          </a:xfrm>
          <a:prstGeom prst="rect">
            <a:avLst/>
          </a:prstGeom>
          <a:noFill/>
        </p:spPr>
        <p:txBody>
          <a:bodyPr wrap="square" lIns="0" rIns="0" tIns="0" bIns="0" anchor="ctr">
            <a:noAutofit/>
          </a:bodyPr>
          <a:lstStyle/>
          <a:p>
            <a:pPr algn="just" marL="0" indent="1296000">
              <a:lnSpc>
                <a:spcPts val="8674"/>
              </a:lnSpc>
            </a:pPr>
            <a:r>
              <a:rPr sz="5102" b="0">
                <a:solidFill>
                  <a:srgbClr val="FFF3E2"/>
                </a:solidFill>
                <a:latin typeface="Microsoft YaHei"/>
                <a:ea typeface="微软雅黑"/>
              </a:rPr>
              <a:t>上海申亿脚手架班组以质疑的工作态度发现低压氢气站门口静电消除器故障，暂停脚手架搭设，避免了潜在作业风险。于海青班组在此次作业准备中，坚持以质疑的工作态度审视每一个安全环节，不放过任何一项不符合条件的因素，有效避免了潜在的作业风险，展现了于海青班组严谨务实的工作作风和时刻将核安全放在首位的责任意识。他们的做法，是健康核安全文化在一线落地的真实写照。</a:t>
            </a:r>
          </a:p>
        </p:txBody>
      </p:sp>
      <p:sp>
        <p:nvSpPr>
          <p:cNvPr id="41" name="返回5">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6"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6"/>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6"/>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6"/>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6"/>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潘绍卓</a:t>
            </a:r>
          </a:p>
        </p:txBody>
      </p:sp>
      <p:sp>
        <p:nvSpPr>
          <p:cNvPr id="29" name="分隔左6"/>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6"/>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6"/>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6"/>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6"/>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运行一处</a:t>
            </a:r>
          </a:p>
        </p:txBody>
      </p:sp>
      <p:sp>
        <p:nvSpPr>
          <p:cNvPr id="34" name="事迹6"/>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“就地发现2号机低压缸轴封汽腔定位螺栓螺母松脱”</a:t>
            </a:r>
          </a:p>
        </p:txBody>
      </p:sp>
      <p:sp>
        <p:nvSpPr>
          <p:cNvPr id="35" name="标题6"/>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6"/>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6"/>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6"/>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6"/>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6"/>
          <p:cNvSpPr txBox="1"/>
          <p:nvPr/>
        </p:nvSpPr>
        <p:spPr>
          <a:xfrm>
            <a:off x="32580390" y="4824000"/>
            <a:ext cx="15299610" cy="10116000"/>
          </a:xfrm>
          <a:prstGeom prst="rect">
            <a:avLst/>
          </a:prstGeom>
          <a:noFill/>
        </p:spPr>
        <p:txBody>
          <a:bodyPr wrap="square" lIns="0" rIns="0" tIns="0" bIns="0" anchor="ctr">
            <a:noAutofit/>
          </a:bodyPr>
          <a:lstStyle/>
          <a:p>
            <a:pPr algn="just" marL="0" indent="1584000">
              <a:lnSpc>
                <a:spcPts val="10601"/>
              </a:lnSpc>
            </a:pPr>
            <a:r>
              <a:rPr sz="6236" b="0">
                <a:solidFill>
                  <a:srgbClr val="FFF3E2"/>
                </a:solidFill>
                <a:latin typeface="Microsoft YaHei"/>
                <a:ea typeface="微软雅黑"/>
              </a:rPr>
              <a:t>运行一处2号机五值潘绍卓就地发现2号机低压缸轴封汽腔定位螺栓螺母松脱。潘绍卓发现现场重要设备安全稳定运行的安全隐患，及时跟踪处理，避免小缺陷演变成为重大的设备损坏事件，凭借扎实的现场工作经验与主人翁的责任担当，用心坚守机组安全运行最后的防线。</a:t>
            </a:r>
          </a:p>
        </p:txBody>
      </p:sp>
      <p:sp>
        <p:nvSpPr>
          <p:cNvPr id="41" name="返回6">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7"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7"/>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7"/>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7"/>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7"/>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成鹏飞</a:t>
            </a:r>
          </a:p>
        </p:txBody>
      </p:sp>
      <p:sp>
        <p:nvSpPr>
          <p:cNvPr id="29" name="分隔左7"/>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7"/>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7"/>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7"/>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7"/>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中核凯利</a:t>
            </a:r>
          </a:p>
        </p:txBody>
      </p:sp>
      <p:sp>
        <p:nvSpPr>
          <p:cNvPr id="34" name="事迹7"/>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“及时识别放射性废物包装剂量率测量错误的安全隐患”</a:t>
            </a:r>
          </a:p>
        </p:txBody>
      </p:sp>
      <p:sp>
        <p:nvSpPr>
          <p:cNvPr id="35" name="标题7"/>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7"/>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7"/>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7"/>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7"/>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7"/>
          <p:cNvSpPr txBox="1"/>
          <p:nvPr/>
        </p:nvSpPr>
        <p:spPr>
          <a:xfrm>
            <a:off x="32580390" y="4824000"/>
            <a:ext cx="15299610" cy="10116000"/>
          </a:xfrm>
          <a:prstGeom prst="rect">
            <a:avLst/>
          </a:prstGeom>
          <a:noFill/>
        </p:spPr>
        <p:txBody>
          <a:bodyPr wrap="square" lIns="0" rIns="0" tIns="0" bIns="0" anchor="ctr">
            <a:noAutofit/>
          </a:bodyPr>
          <a:lstStyle/>
          <a:p>
            <a:pPr algn="just" marL="0" indent="1512000">
              <a:lnSpc>
                <a:spcPts val="10119"/>
              </a:lnSpc>
            </a:pPr>
            <a:r>
              <a:rPr sz="5952" b="0">
                <a:solidFill>
                  <a:srgbClr val="FFF3E2"/>
                </a:solidFill>
                <a:latin typeface="Microsoft YaHei"/>
                <a:ea typeface="微软雅黑"/>
              </a:rPr>
              <a:t>成鹏飞及时识别放射性废物包装剂量率测量错误的安全隐患。成鹏飞日常工作中坚持以质疑的工作态度和严慎细实的工作方法对待每项任务，始终将“安全第一、质量第一”的安全理念落到实处。他以高度责任心和专业技能，体现了公司对核安全的高度重视，为全体员工树立了行为标杆。</a:t>
            </a:r>
          </a:p>
        </p:txBody>
      </p:sp>
      <p:sp>
        <p:nvSpPr>
          <p:cNvPr id="41" name="返回7">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2160000"/>
            <a:ext cx="47880000" cy="13680000"/>
          </a:xfrm>
          <a:prstGeom prst="roundRect">
            <a:avLst>
              <a:gd name="adj" fmla="val 3947"/>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2484000"/>
            <a:ext cx="47232000" cy="13032000"/>
          </a:xfrm>
          <a:prstGeom prst="roundRect">
            <a:avLst>
              <a:gd name="adj" fmla="val 2762"/>
            </a:avLst>
          </a:prstGeom>
          <a:noFill/>
          <a:ln w="27000">
            <a:solidFill>
              <a:srgbClr val="C9A260"/>
            </a:solidFill>
          </a:ln>
        </p:spPr>
        <p:txBody>
          <a:bodyPr rtlCol="0" anchor="ctr"/>
          <a:lstStyle/>
          <a:p>
            <a:pPr algn="ctr"/>
          </a:p>
        </p:txBody>
      </p:sp>
      <p:sp>
        <p:nvSpPr>
          <p:cNvPr id="5" name="!!角横tl"/>
          <p:cNvSpPr/>
          <p:nvPr/>
        </p:nvSpPr>
        <p:spPr>
          <a:xfrm>
            <a:off x="1404000" y="2304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2304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2628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2304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2304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2628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5624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4256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5084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5624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4256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5084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9025610" y="1206000"/>
            <a:ext cx="12348780" cy="15588000"/>
          </a:xfrm>
          <a:prstGeom prst="roundRect">
            <a:avLst>
              <a:gd name="adj" fmla="val 2623"/>
            </a:avLst>
          </a:prstGeom>
          <a:solidFill>
            <a:srgbClr val="7A4A0C"/>
          </a:solidFill>
          <a:ln>
            <a:noFill/>
          </a:ln>
        </p:spPr>
        <p:txBody>
          <a:bodyPr rtlCol="0" anchor="ctr"/>
          <a:lstStyle/>
          <a:p>
            <a:pPr algn="ctr"/>
          </a:p>
        </p:txBody>
      </p:sp>
      <p:sp>
        <p:nvSpPr>
          <p:cNvPr id="18" name="!!frame"/>
          <p:cNvSpPr/>
          <p:nvPr/>
        </p:nvSpPr>
        <p:spPr>
          <a:xfrm>
            <a:off x="19079610" y="1260000"/>
            <a:ext cx="12240780" cy="15480000"/>
          </a:xfrm>
          <a:prstGeom prst="roundRect">
            <a:avLst>
              <a:gd name="adj" fmla="val 2352"/>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9331610" y="1512000"/>
            <a:ext cx="11736780" cy="14976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8" descr="image.jpg"/>
          <p:cNvPicPr>
            <a:picLocks noChangeAspect="1"/>
          </p:cNvPicPr>
          <p:nvPr/>
        </p:nvPicPr>
        <p:blipFill>
          <a:blip r:embed="rId2"/>
          <a:stretch>
            <a:fillRect/>
          </a:stretch>
        </p:blipFill>
        <p:spPr>
          <a:xfrm>
            <a:off x="19583610" y="1764000"/>
            <a:ext cx="11232780" cy="14472000"/>
          </a:xfrm>
          <a:prstGeom prst="rect">
            <a:avLst/>
          </a:prstGeom>
          <a:ln w="36000">
            <a:solidFill>
              <a:srgbClr val="C99A3C"/>
            </a:solidFill>
          </a:ln>
        </p:spPr>
      </p:pic>
      <p:sp>
        <p:nvSpPr>
          <p:cNvPr id="21" name="!!框菱tl"/>
          <p:cNvSpPr/>
          <p:nvPr/>
        </p:nvSpPr>
        <p:spPr>
          <a:xfrm>
            <a:off x="18845610" y="1026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1086390" y="1026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8845610" y="16506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1086390" y="16506000"/>
            <a:ext cx="468000" cy="468000"/>
          </a:xfrm>
          <a:prstGeom prst="diamond">
            <a:avLst/>
          </a:prstGeom>
          <a:solidFill>
            <a:srgbClr val="C8161D"/>
          </a:solidFill>
          <a:ln>
            <a:noFill/>
          </a:ln>
        </p:spPr>
        <p:txBody>
          <a:bodyPr rtlCol="0" anchor="ctr"/>
          <a:lstStyle/>
          <a:p>
            <a:pPr algn="ctr"/>
          </a:p>
        </p:txBody>
      </p:sp>
      <p:sp>
        <p:nvSpPr>
          <p:cNvPr id="25" name="标语8"/>
          <p:cNvSpPr txBox="1"/>
          <p:nvPr/>
        </p:nvSpPr>
        <p:spPr>
          <a:xfrm>
            <a:off x="5893005" y="3636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8"/>
          <p:cNvSpPr/>
          <p:nvPr/>
        </p:nvSpPr>
        <p:spPr>
          <a:xfrm>
            <a:off x="4021005" y="4140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8"/>
          <p:cNvSpPr/>
          <p:nvPr/>
        </p:nvSpPr>
        <p:spPr>
          <a:xfrm>
            <a:off x="14878605" y="4140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8"/>
          <p:cNvSpPr txBox="1"/>
          <p:nvPr/>
        </p:nvSpPr>
        <p:spPr>
          <a:xfrm>
            <a:off x="1800000" y="4896000"/>
            <a:ext cx="1714281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何韶然</a:t>
            </a:r>
          </a:p>
        </p:txBody>
      </p:sp>
      <p:sp>
        <p:nvSpPr>
          <p:cNvPr id="29" name="分隔左8"/>
          <p:cNvSpPr/>
          <p:nvPr/>
        </p:nvSpPr>
        <p:spPr>
          <a:xfrm>
            <a:off x="4661945" y="8949600"/>
            <a:ext cx="518386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8"/>
          <p:cNvSpPr/>
          <p:nvPr/>
        </p:nvSpPr>
        <p:spPr>
          <a:xfrm>
            <a:off x="10493805" y="8949600"/>
            <a:ext cx="518386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8"/>
          <p:cNvSpPr/>
          <p:nvPr/>
        </p:nvSpPr>
        <p:spPr>
          <a:xfrm>
            <a:off x="9971805" y="8769600"/>
            <a:ext cx="396000" cy="396000"/>
          </a:xfrm>
          <a:prstGeom prst="diamond">
            <a:avLst/>
          </a:prstGeom>
          <a:solidFill>
            <a:srgbClr val="FFD27A"/>
          </a:solidFill>
          <a:ln>
            <a:noFill/>
          </a:ln>
        </p:spPr>
        <p:txBody>
          <a:bodyPr rtlCol="0" anchor="ctr"/>
          <a:lstStyle/>
          <a:p>
            <a:pPr algn="ctr"/>
          </a:p>
        </p:txBody>
      </p:sp>
      <p:sp>
        <p:nvSpPr>
          <p:cNvPr id="32" name="单位框8"/>
          <p:cNvSpPr/>
          <p:nvPr/>
        </p:nvSpPr>
        <p:spPr>
          <a:xfrm>
            <a:off x="6827565" y="9633600"/>
            <a:ext cx="668448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8"/>
          <p:cNvSpPr txBox="1"/>
          <p:nvPr/>
        </p:nvSpPr>
        <p:spPr>
          <a:xfrm>
            <a:off x="6827565" y="9633600"/>
            <a:ext cx="682560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运行二处</a:t>
            </a:r>
          </a:p>
        </p:txBody>
      </p:sp>
      <p:sp>
        <p:nvSpPr>
          <p:cNvPr id="34" name="事迹8"/>
          <p:cNvSpPr txBox="1"/>
          <p:nvPr/>
        </p:nvSpPr>
        <p:spPr>
          <a:xfrm>
            <a:off x="2808000" y="12096000"/>
            <a:ext cx="14723610" cy="2448000"/>
          </a:xfrm>
          <a:prstGeom prst="rect">
            <a:avLst/>
          </a:prstGeom>
          <a:noFill/>
        </p:spPr>
        <p:txBody>
          <a:bodyPr wrap="square" lIns="0" rIns="0" tIns="0" bIns="0" anchor="ctr">
            <a:noAutofit/>
          </a:bodyPr>
          <a:lstStyle/>
          <a:p>
            <a:pPr algn="ctr">
              <a:lnSpc>
                <a:spcPts val="8929"/>
              </a:lnSpc>
            </a:pPr>
            <a:r>
              <a:rPr sz="5952" b="1">
                <a:solidFill>
                  <a:srgbClr val="FFF3D6"/>
                </a:solidFill>
                <a:latin typeface="Microsoft YaHei"/>
                <a:ea typeface="微软雅黑"/>
              </a:rPr>
              <a:t>“深入思考，充分质疑，消除主给水泵安全隐患”</a:t>
            </a:r>
          </a:p>
        </p:txBody>
      </p:sp>
      <p:sp>
        <p:nvSpPr>
          <p:cNvPr id="35" name="标题8"/>
          <p:cNvSpPr txBox="1"/>
          <p:nvPr/>
        </p:nvSpPr>
        <p:spPr>
          <a:xfrm>
            <a:off x="36990195" y="3060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6" name="标题线左8"/>
          <p:cNvSpPr/>
          <p:nvPr/>
        </p:nvSpPr>
        <p:spPr>
          <a:xfrm>
            <a:off x="32580390" y="3654000"/>
            <a:ext cx="3689805"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7" name="标题线右8"/>
          <p:cNvSpPr/>
          <p:nvPr/>
        </p:nvSpPr>
        <p:spPr>
          <a:xfrm>
            <a:off x="44190195" y="3654000"/>
            <a:ext cx="3689805"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8" name="标题菱左8"/>
          <p:cNvSpPr/>
          <p:nvPr/>
        </p:nvSpPr>
        <p:spPr>
          <a:xfrm>
            <a:off x="36270195" y="3564000"/>
            <a:ext cx="216000" cy="216000"/>
          </a:xfrm>
          <a:prstGeom prst="diamond">
            <a:avLst/>
          </a:prstGeom>
          <a:solidFill>
            <a:srgbClr val="FFD27A"/>
          </a:solidFill>
          <a:ln>
            <a:noFill/>
          </a:ln>
        </p:spPr>
        <p:txBody>
          <a:bodyPr rtlCol="0" anchor="ctr"/>
          <a:lstStyle/>
          <a:p>
            <a:pPr algn="ctr"/>
          </a:p>
        </p:txBody>
      </p:sp>
      <p:sp>
        <p:nvSpPr>
          <p:cNvPr id="39" name="标题菱右8"/>
          <p:cNvSpPr/>
          <p:nvPr/>
        </p:nvSpPr>
        <p:spPr>
          <a:xfrm>
            <a:off x="43974195" y="3564000"/>
            <a:ext cx="216000" cy="216000"/>
          </a:xfrm>
          <a:prstGeom prst="diamond">
            <a:avLst/>
          </a:prstGeom>
          <a:solidFill>
            <a:srgbClr val="FFD27A"/>
          </a:solidFill>
          <a:ln>
            <a:noFill/>
          </a:ln>
        </p:spPr>
        <p:txBody>
          <a:bodyPr rtlCol="0" anchor="ctr"/>
          <a:lstStyle/>
          <a:p>
            <a:pPr algn="ctr"/>
          </a:p>
        </p:txBody>
      </p:sp>
      <p:sp>
        <p:nvSpPr>
          <p:cNvPr id="40" name="介绍8"/>
          <p:cNvSpPr txBox="1"/>
          <p:nvPr/>
        </p:nvSpPr>
        <p:spPr>
          <a:xfrm>
            <a:off x="32580390" y="4824000"/>
            <a:ext cx="15299610" cy="10116000"/>
          </a:xfrm>
          <a:prstGeom prst="rect">
            <a:avLst/>
          </a:prstGeom>
          <a:noFill/>
        </p:spPr>
        <p:txBody>
          <a:bodyPr wrap="square" lIns="0" rIns="0" tIns="0" bIns="0" anchor="ctr">
            <a:noAutofit/>
          </a:bodyPr>
          <a:lstStyle/>
          <a:p>
            <a:pPr algn="just" marL="0" indent="1656000">
              <a:lnSpc>
                <a:spcPts val="11083"/>
              </a:lnSpc>
            </a:pPr>
            <a:r>
              <a:rPr sz="6519" b="0">
                <a:solidFill>
                  <a:srgbClr val="FFF3E2"/>
                </a:solidFill>
                <a:latin typeface="Microsoft YaHei"/>
                <a:ea typeface="微软雅黑"/>
              </a:rPr>
              <a:t>何韶然深入思考，充分质疑，消除主给水泵安全隐患。何韶然不轻易放过任何隐患，不盲目接受现有逻辑设计，在发现调试机组存在隐患后主动反馈一期生产机组，实现了运行经验指导调试和调试经验反哺运行的双向联动，用实际行动践行了核安全文化核心理念。</a:t>
            </a:r>
          </a:p>
        </p:txBody>
      </p:sp>
      <p:sp>
        <p:nvSpPr>
          <p:cNvPr id="41" name="返回8">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卡框9"/>
          <p:cNvSpPr/>
          <p:nvPr/>
        </p:nvSpPr>
        <p:spPr>
          <a:xfrm>
            <a:off x="145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 name="衬纸9"/>
          <p:cNvSpPr/>
          <p:nvPr/>
        </p:nvSpPr>
        <p:spPr>
          <a:xfrm>
            <a:off x="1548000" y="5490000"/>
            <a:ext cx="5220000" cy="3960000"/>
          </a:xfrm>
          <a:prstGeom prst="rect">
            <a:avLst/>
          </a:prstGeom>
          <a:solidFill>
            <a:srgbClr val="FFFAF0"/>
          </a:solidFill>
          <a:ln>
            <a:noFill/>
          </a:ln>
        </p:spPr>
        <p:txBody>
          <a:bodyPr rtlCol="0" anchor="ctr"/>
          <a:lstStyle/>
          <a:p>
            <a:pPr algn="ctr"/>
          </a:p>
        </p:txBody>
      </p:sp>
      <p:pic>
        <p:nvPicPr>
          <p:cNvPr id="4" name="!!p9" descr="image.jpg"/>
          <p:cNvPicPr>
            <a:picLocks noChangeAspect="1"/>
          </p:cNvPicPr>
          <p:nvPr/>
        </p:nvPicPr>
        <p:blipFill>
          <a:blip r:embed="rId2"/>
          <a:srcRect/>
          <a:stretch>
            <a:fillRect/>
          </a:stretch>
        </p:blipFill>
        <p:spPr>
          <a:xfrm>
            <a:off x="1638000" y="5580000"/>
            <a:ext cx="5040000" cy="3780000"/>
          </a:xfrm>
          <a:prstGeom prst="rect">
            <a:avLst/>
          </a:prstGeom>
        </p:spPr>
      </p:pic>
      <p:sp>
        <p:nvSpPr>
          <p:cNvPr id="5" name="名牌底9"/>
          <p:cNvSpPr/>
          <p:nvPr/>
        </p:nvSpPr>
        <p:spPr>
          <a:xfrm>
            <a:off x="154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 name="名牌金线9"/>
          <p:cNvSpPr/>
          <p:nvPr/>
        </p:nvSpPr>
        <p:spPr>
          <a:xfrm>
            <a:off x="1548000" y="9450000"/>
            <a:ext cx="5220000" cy="54000"/>
          </a:xfrm>
          <a:prstGeom prst="rect">
            <a:avLst/>
          </a:prstGeom>
          <a:solidFill>
            <a:srgbClr val="FFDC8C"/>
          </a:solidFill>
          <a:ln>
            <a:noFill/>
          </a:ln>
        </p:spPr>
        <p:txBody>
          <a:bodyPr rtlCol="0" anchor="ctr"/>
          <a:lstStyle/>
          <a:p>
            <a:pPr algn="ctr"/>
          </a:p>
        </p:txBody>
      </p:sp>
      <p:sp>
        <p:nvSpPr>
          <p:cNvPr id="7" name="名牌9"/>
          <p:cNvSpPr txBox="1"/>
          <p:nvPr/>
        </p:nvSpPr>
        <p:spPr>
          <a:xfrm>
            <a:off x="154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人员09</a:t>
            </a:r>
          </a:p>
          <a:p>
            <a:pPr algn="ctr"/>
            <a:r>
              <a:rPr sz="2692" b="0">
                <a:solidFill>
                  <a:srgbClr val="FFF1D6"/>
                </a:solidFill>
                <a:latin typeface="Microsoft YaHei"/>
                <a:ea typeface="微软雅黑"/>
              </a:rPr>
              <a:t>单位待补充</a:t>
            </a:r>
          </a:p>
        </p:txBody>
      </p:sp>
      <p:sp>
        <p:nvSpPr>
          <p:cNvPr id="8" name="文字框9"/>
          <p:cNvSpPr/>
          <p:nvPr/>
        </p:nvSpPr>
        <p:spPr>
          <a:xfrm>
            <a:off x="145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9" name="文字框饰条9"/>
          <p:cNvSpPr/>
          <p:nvPr/>
        </p:nvSpPr>
        <p:spPr>
          <a:xfrm>
            <a:off x="167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10" name="文字9"/>
          <p:cNvSpPr txBox="1"/>
          <p:nvPr/>
        </p:nvSpPr>
        <p:spPr>
          <a:xfrm>
            <a:off x="1746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11" name="热区9">
            <a:hlinkClick action="ppaction://hlinksldjump" r:id="rId3"/>
          </p:cNvPr>
          <p:cNvSpPr/>
          <p:nvPr/>
        </p:nvSpPr>
        <p:spPr>
          <a:xfrm>
            <a:off x="1458000" y="5400000"/>
            <a:ext cx="5400000" cy="11430000"/>
          </a:xfrm>
          <a:prstGeom prst="rect">
            <a:avLst/>
          </a:prstGeom>
          <a:solidFill>
            <a:srgbClr val="000000">
              <a:alpha val="0"/>
            </a:srgbClr>
          </a:solidFill>
          <a:ln>
            <a:noFill/>
          </a:ln>
        </p:spPr>
        <p:txBody>
          <a:bodyPr rtlCol="0" anchor="ctr"/>
          <a:lstStyle/>
          <a:p>
            <a:pPr algn="ctr"/>
          </a:p>
        </p:txBody>
      </p:sp>
      <p:sp>
        <p:nvSpPr>
          <p:cNvPr id="12" name="卡框10"/>
          <p:cNvSpPr/>
          <p:nvPr/>
        </p:nvSpPr>
        <p:spPr>
          <a:xfrm>
            <a:off x="747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3" name="衬纸10"/>
          <p:cNvSpPr/>
          <p:nvPr/>
        </p:nvSpPr>
        <p:spPr>
          <a:xfrm>
            <a:off x="7560000" y="5490000"/>
            <a:ext cx="5220000" cy="3960000"/>
          </a:xfrm>
          <a:prstGeom prst="rect">
            <a:avLst/>
          </a:prstGeom>
          <a:solidFill>
            <a:srgbClr val="FFFAF0"/>
          </a:solidFill>
          <a:ln>
            <a:noFill/>
          </a:ln>
        </p:spPr>
        <p:txBody>
          <a:bodyPr rtlCol="0" anchor="ctr"/>
          <a:lstStyle/>
          <a:p>
            <a:pPr algn="ctr"/>
          </a:p>
        </p:txBody>
      </p:sp>
      <p:pic>
        <p:nvPicPr>
          <p:cNvPr id="14" name="!!p10" descr="image.jpg"/>
          <p:cNvPicPr>
            <a:picLocks noChangeAspect="1"/>
          </p:cNvPicPr>
          <p:nvPr/>
        </p:nvPicPr>
        <p:blipFill>
          <a:blip r:embed="rId2"/>
          <a:srcRect/>
          <a:stretch>
            <a:fillRect/>
          </a:stretch>
        </p:blipFill>
        <p:spPr>
          <a:xfrm>
            <a:off x="7650000" y="5580000"/>
            <a:ext cx="5040000" cy="3780000"/>
          </a:xfrm>
          <a:prstGeom prst="rect">
            <a:avLst/>
          </a:prstGeom>
        </p:spPr>
      </p:pic>
      <p:sp>
        <p:nvSpPr>
          <p:cNvPr id="15" name="名牌底10"/>
          <p:cNvSpPr/>
          <p:nvPr/>
        </p:nvSpPr>
        <p:spPr>
          <a:xfrm>
            <a:off x="756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16" name="名牌金线10"/>
          <p:cNvSpPr/>
          <p:nvPr/>
        </p:nvSpPr>
        <p:spPr>
          <a:xfrm>
            <a:off x="7560000" y="9450000"/>
            <a:ext cx="5220000" cy="54000"/>
          </a:xfrm>
          <a:prstGeom prst="rect">
            <a:avLst/>
          </a:prstGeom>
          <a:solidFill>
            <a:srgbClr val="FFDC8C"/>
          </a:solidFill>
          <a:ln>
            <a:noFill/>
          </a:ln>
        </p:spPr>
        <p:txBody>
          <a:bodyPr rtlCol="0" anchor="ctr"/>
          <a:lstStyle/>
          <a:p>
            <a:pPr algn="ctr"/>
          </a:p>
        </p:txBody>
      </p:sp>
      <p:sp>
        <p:nvSpPr>
          <p:cNvPr id="17" name="名牌10"/>
          <p:cNvSpPr txBox="1"/>
          <p:nvPr/>
        </p:nvSpPr>
        <p:spPr>
          <a:xfrm>
            <a:off x="756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人员10</a:t>
            </a:r>
          </a:p>
          <a:p>
            <a:pPr algn="ctr"/>
            <a:r>
              <a:rPr sz="2692" b="0">
                <a:solidFill>
                  <a:srgbClr val="FFF1D6"/>
                </a:solidFill>
                <a:latin typeface="Microsoft YaHei"/>
                <a:ea typeface="微软雅黑"/>
              </a:rPr>
              <a:t>单位待补充</a:t>
            </a:r>
          </a:p>
        </p:txBody>
      </p:sp>
      <p:sp>
        <p:nvSpPr>
          <p:cNvPr id="18" name="文字框10"/>
          <p:cNvSpPr/>
          <p:nvPr/>
        </p:nvSpPr>
        <p:spPr>
          <a:xfrm>
            <a:off x="747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19" name="文字框饰条10"/>
          <p:cNvSpPr/>
          <p:nvPr/>
        </p:nvSpPr>
        <p:spPr>
          <a:xfrm>
            <a:off x="768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20" name="文字10"/>
          <p:cNvSpPr txBox="1"/>
          <p:nvPr/>
        </p:nvSpPr>
        <p:spPr>
          <a:xfrm>
            <a:off x="7758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21" name="热区10">
            <a:hlinkClick action="ppaction://hlinksldjump" r:id="rId4"/>
          </p:cNvPr>
          <p:cNvSpPr/>
          <p:nvPr/>
        </p:nvSpPr>
        <p:spPr>
          <a:xfrm>
            <a:off x="7470000" y="5400000"/>
            <a:ext cx="5400000" cy="11430000"/>
          </a:xfrm>
          <a:prstGeom prst="rect">
            <a:avLst/>
          </a:prstGeom>
          <a:solidFill>
            <a:srgbClr val="000000">
              <a:alpha val="0"/>
            </a:srgbClr>
          </a:solidFill>
          <a:ln>
            <a:noFill/>
          </a:ln>
        </p:spPr>
        <p:txBody>
          <a:bodyPr rtlCol="0" anchor="ctr"/>
          <a:lstStyle/>
          <a:p>
            <a:pPr algn="ctr"/>
          </a:p>
        </p:txBody>
      </p:sp>
      <p:sp>
        <p:nvSpPr>
          <p:cNvPr id="22" name="卡框11"/>
          <p:cNvSpPr/>
          <p:nvPr/>
        </p:nvSpPr>
        <p:spPr>
          <a:xfrm>
            <a:off x="1348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23" name="衬纸11"/>
          <p:cNvSpPr/>
          <p:nvPr/>
        </p:nvSpPr>
        <p:spPr>
          <a:xfrm>
            <a:off x="13572000" y="5490000"/>
            <a:ext cx="5220000" cy="3960000"/>
          </a:xfrm>
          <a:prstGeom prst="rect">
            <a:avLst/>
          </a:prstGeom>
          <a:solidFill>
            <a:srgbClr val="FFFAF0"/>
          </a:solidFill>
          <a:ln>
            <a:noFill/>
          </a:ln>
        </p:spPr>
        <p:txBody>
          <a:bodyPr rtlCol="0" anchor="ctr"/>
          <a:lstStyle/>
          <a:p>
            <a:pPr algn="ctr"/>
          </a:p>
        </p:txBody>
      </p:sp>
      <p:pic>
        <p:nvPicPr>
          <p:cNvPr id="24" name="!!p11" descr="image.jpg"/>
          <p:cNvPicPr>
            <a:picLocks noChangeAspect="1"/>
          </p:cNvPicPr>
          <p:nvPr/>
        </p:nvPicPr>
        <p:blipFill>
          <a:blip r:embed="rId2"/>
          <a:srcRect/>
          <a:stretch>
            <a:fillRect/>
          </a:stretch>
        </p:blipFill>
        <p:spPr>
          <a:xfrm>
            <a:off x="13662000" y="5580000"/>
            <a:ext cx="5040000" cy="3780000"/>
          </a:xfrm>
          <a:prstGeom prst="rect">
            <a:avLst/>
          </a:prstGeom>
        </p:spPr>
      </p:pic>
      <p:sp>
        <p:nvSpPr>
          <p:cNvPr id="25" name="名牌底11"/>
          <p:cNvSpPr/>
          <p:nvPr/>
        </p:nvSpPr>
        <p:spPr>
          <a:xfrm>
            <a:off x="1357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26" name="名牌金线11"/>
          <p:cNvSpPr/>
          <p:nvPr/>
        </p:nvSpPr>
        <p:spPr>
          <a:xfrm>
            <a:off x="13572000" y="9450000"/>
            <a:ext cx="5220000" cy="54000"/>
          </a:xfrm>
          <a:prstGeom prst="rect">
            <a:avLst/>
          </a:prstGeom>
          <a:solidFill>
            <a:srgbClr val="FFDC8C"/>
          </a:solidFill>
          <a:ln>
            <a:noFill/>
          </a:ln>
        </p:spPr>
        <p:txBody>
          <a:bodyPr rtlCol="0" anchor="ctr"/>
          <a:lstStyle/>
          <a:p>
            <a:pPr algn="ctr"/>
          </a:p>
        </p:txBody>
      </p:sp>
      <p:sp>
        <p:nvSpPr>
          <p:cNvPr id="27" name="名牌11"/>
          <p:cNvSpPr txBox="1"/>
          <p:nvPr/>
        </p:nvSpPr>
        <p:spPr>
          <a:xfrm>
            <a:off x="1357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人员11</a:t>
            </a:r>
          </a:p>
          <a:p>
            <a:pPr algn="ctr"/>
            <a:r>
              <a:rPr sz="2692" b="0">
                <a:solidFill>
                  <a:srgbClr val="FFF1D6"/>
                </a:solidFill>
                <a:latin typeface="Microsoft YaHei"/>
                <a:ea typeface="微软雅黑"/>
              </a:rPr>
              <a:t>单位待补充</a:t>
            </a:r>
          </a:p>
        </p:txBody>
      </p:sp>
      <p:sp>
        <p:nvSpPr>
          <p:cNvPr id="28" name="文字框11"/>
          <p:cNvSpPr/>
          <p:nvPr/>
        </p:nvSpPr>
        <p:spPr>
          <a:xfrm>
            <a:off x="1348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29" name="文字框饰条11"/>
          <p:cNvSpPr/>
          <p:nvPr/>
        </p:nvSpPr>
        <p:spPr>
          <a:xfrm>
            <a:off x="1369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30" name="文字11"/>
          <p:cNvSpPr txBox="1"/>
          <p:nvPr/>
        </p:nvSpPr>
        <p:spPr>
          <a:xfrm>
            <a:off x="13770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31" name="热区11">
            <a:hlinkClick action="ppaction://hlinksldjump" r:id="rId5"/>
          </p:cNvPr>
          <p:cNvSpPr/>
          <p:nvPr/>
        </p:nvSpPr>
        <p:spPr>
          <a:xfrm>
            <a:off x="13482000" y="5400000"/>
            <a:ext cx="5400000" cy="11430000"/>
          </a:xfrm>
          <a:prstGeom prst="rect">
            <a:avLst/>
          </a:prstGeom>
          <a:solidFill>
            <a:srgbClr val="000000">
              <a:alpha val="0"/>
            </a:srgbClr>
          </a:solidFill>
          <a:ln>
            <a:noFill/>
          </a:ln>
        </p:spPr>
        <p:txBody>
          <a:bodyPr rtlCol="0" anchor="ctr"/>
          <a:lstStyle/>
          <a:p>
            <a:pPr algn="ctr"/>
          </a:p>
        </p:txBody>
      </p:sp>
      <p:sp>
        <p:nvSpPr>
          <p:cNvPr id="32" name="卡框12"/>
          <p:cNvSpPr/>
          <p:nvPr/>
        </p:nvSpPr>
        <p:spPr>
          <a:xfrm>
            <a:off x="19494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3" name="衬纸12"/>
          <p:cNvSpPr/>
          <p:nvPr/>
        </p:nvSpPr>
        <p:spPr>
          <a:xfrm>
            <a:off x="19584000" y="5490000"/>
            <a:ext cx="5220000" cy="3960000"/>
          </a:xfrm>
          <a:prstGeom prst="rect">
            <a:avLst/>
          </a:prstGeom>
          <a:solidFill>
            <a:srgbClr val="FFFAF0"/>
          </a:solidFill>
          <a:ln>
            <a:noFill/>
          </a:ln>
        </p:spPr>
        <p:txBody>
          <a:bodyPr rtlCol="0" anchor="ctr"/>
          <a:lstStyle/>
          <a:p>
            <a:pPr algn="ctr"/>
          </a:p>
        </p:txBody>
      </p:sp>
      <p:pic>
        <p:nvPicPr>
          <p:cNvPr id="34" name="!!p12" descr="image.jpg"/>
          <p:cNvPicPr>
            <a:picLocks noChangeAspect="1"/>
          </p:cNvPicPr>
          <p:nvPr/>
        </p:nvPicPr>
        <p:blipFill>
          <a:blip r:embed="rId2"/>
          <a:srcRect/>
          <a:stretch>
            <a:fillRect/>
          </a:stretch>
        </p:blipFill>
        <p:spPr>
          <a:xfrm>
            <a:off x="19674000" y="5580000"/>
            <a:ext cx="5040000" cy="3780000"/>
          </a:xfrm>
          <a:prstGeom prst="rect">
            <a:avLst/>
          </a:prstGeom>
        </p:spPr>
      </p:pic>
      <p:sp>
        <p:nvSpPr>
          <p:cNvPr id="35" name="名牌底12"/>
          <p:cNvSpPr/>
          <p:nvPr/>
        </p:nvSpPr>
        <p:spPr>
          <a:xfrm>
            <a:off x="19584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36" name="名牌金线12"/>
          <p:cNvSpPr/>
          <p:nvPr/>
        </p:nvSpPr>
        <p:spPr>
          <a:xfrm>
            <a:off x="19584000" y="9450000"/>
            <a:ext cx="5220000" cy="54000"/>
          </a:xfrm>
          <a:prstGeom prst="rect">
            <a:avLst/>
          </a:prstGeom>
          <a:solidFill>
            <a:srgbClr val="FFDC8C"/>
          </a:solidFill>
          <a:ln>
            <a:noFill/>
          </a:ln>
        </p:spPr>
        <p:txBody>
          <a:bodyPr rtlCol="0" anchor="ctr"/>
          <a:lstStyle/>
          <a:p>
            <a:pPr algn="ctr"/>
          </a:p>
        </p:txBody>
      </p:sp>
      <p:sp>
        <p:nvSpPr>
          <p:cNvPr id="37" name="名牌12"/>
          <p:cNvSpPr txBox="1"/>
          <p:nvPr/>
        </p:nvSpPr>
        <p:spPr>
          <a:xfrm>
            <a:off x="19584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人员12</a:t>
            </a:r>
          </a:p>
          <a:p>
            <a:pPr algn="ctr"/>
            <a:r>
              <a:rPr sz="2692" b="0">
                <a:solidFill>
                  <a:srgbClr val="FFF1D6"/>
                </a:solidFill>
                <a:latin typeface="Microsoft YaHei"/>
                <a:ea typeface="微软雅黑"/>
              </a:rPr>
              <a:t>单位待补充</a:t>
            </a:r>
          </a:p>
        </p:txBody>
      </p:sp>
      <p:sp>
        <p:nvSpPr>
          <p:cNvPr id="38" name="文字框12"/>
          <p:cNvSpPr/>
          <p:nvPr/>
        </p:nvSpPr>
        <p:spPr>
          <a:xfrm>
            <a:off x="19494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39" name="文字框饰条12"/>
          <p:cNvSpPr/>
          <p:nvPr/>
        </p:nvSpPr>
        <p:spPr>
          <a:xfrm>
            <a:off x="19710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40" name="文字12"/>
          <p:cNvSpPr txBox="1"/>
          <p:nvPr/>
        </p:nvSpPr>
        <p:spPr>
          <a:xfrm>
            <a:off x="19782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41" name="热区12">
            <a:hlinkClick action="ppaction://hlinksldjump" r:id="rId6"/>
          </p:cNvPr>
          <p:cNvSpPr/>
          <p:nvPr/>
        </p:nvSpPr>
        <p:spPr>
          <a:xfrm>
            <a:off x="19494000" y="5400000"/>
            <a:ext cx="5400000" cy="11430000"/>
          </a:xfrm>
          <a:prstGeom prst="rect">
            <a:avLst/>
          </a:prstGeom>
          <a:solidFill>
            <a:srgbClr val="000000">
              <a:alpha val="0"/>
            </a:srgbClr>
          </a:solidFill>
          <a:ln>
            <a:noFill/>
          </a:ln>
        </p:spPr>
        <p:txBody>
          <a:bodyPr rtlCol="0" anchor="ctr"/>
          <a:lstStyle/>
          <a:p>
            <a:pPr algn="ctr"/>
          </a:p>
        </p:txBody>
      </p:sp>
      <p:sp>
        <p:nvSpPr>
          <p:cNvPr id="42" name="卡框13"/>
          <p:cNvSpPr/>
          <p:nvPr/>
        </p:nvSpPr>
        <p:spPr>
          <a:xfrm>
            <a:off x="25506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43" name="衬纸13"/>
          <p:cNvSpPr/>
          <p:nvPr/>
        </p:nvSpPr>
        <p:spPr>
          <a:xfrm>
            <a:off x="25596000" y="5490000"/>
            <a:ext cx="5220000" cy="3960000"/>
          </a:xfrm>
          <a:prstGeom prst="rect">
            <a:avLst/>
          </a:prstGeom>
          <a:solidFill>
            <a:srgbClr val="FFFAF0"/>
          </a:solidFill>
          <a:ln>
            <a:noFill/>
          </a:ln>
        </p:spPr>
        <p:txBody>
          <a:bodyPr rtlCol="0" anchor="ctr"/>
          <a:lstStyle/>
          <a:p>
            <a:pPr algn="ctr"/>
          </a:p>
        </p:txBody>
      </p:sp>
      <p:pic>
        <p:nvPicPr>
          <p:cNvPr id="44" name="!!p13" descr="image.jpg"/>
          <p:cNvPicPr>
            <a:picLocks noChangeAspect="1"/>
          </p:cNvPicPr>
          <p:nvPr/>
        </p:nvPicPr>
        <p:blipFill>
          <a:blip r:embed="rId2"/>
          <a:srcRect/>
          <a:stretch>
            <a:fillRect/>
          </a:stretch>
        </p:blipFill>
        <p:spPr>
          <a:xfrm>
            <a:off x="25686000" y="5580000"/>
            <a:ext cx="5040000" cy="3780000"/>
          </a:xfrm>
          <a:prstGeom prst="rect">
            <a:avLst/>
          </a:prstGeom>
        </p:spPr>
      </p:pic>
      <p:sp>
        <p:nvSpPr>
          <p:cNvPr id="45" name="名牌底13"/>
          <p:cNvSpPr/>
          <p:nvPr/>
        </p:nvSpPr>
        <p:spPr>
          <a:xfrm>
            <a:off x="25596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46" name="名牌金线13"/>
          <p:cNvSpPr/>
          <p:nvPr/>
        </p:nvSpPr>
        <p:spPr>
          <a:xfrm>
            <a:off x="25596000" y="9450000"/>
            <a:ext cx="5220000" cy="54000"/>
          </a:xfrm>
          <a:prstGeom prst="rect">
            <a:avLst/>
          </a:prstGeom>
          <a:solidFill>
            <a:srgbClr val="FFDC8C"/>
          </a:solidFill>
          <a:ln>
            <a:noFill/>
          </a:ln>
        </p:spPr>
        <p:txBody>
          <a:bodyPr rtlCol="0" anchor="ctr"/>
          <a:lstStyle/>
          <a:p>
            <a:pPr algn="ctr"/>
          </a:p>
        </p:txBody>
      </p:sp>
      <p:sp>
        <p:nvSpPr>
          <p:cNvPr id="47" name="名牌13"/>
          <p:cNvSpPr txBox="1"/>
          <p:nvPr/>
        </p:nvSpPr>
        <p:spPr>
          <a:xfrm>
            <a:off x="25596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人员13</a:t>
            </a:r>
          </a:p>
          <a:p>
            <a:pPr algn="ctr"/>
            <a:r>
              <a:rPr sz="2692" b="0">
                <a:solidFill>
                  <a:srgbClr val="FFF1D6"/>
                </a:solidFill>
                <a:latin typeface="Microsoft YaHei"/>
                <a:ea typeface="微软雅黑"/>
              </a:rPr>
              <a:t>单位待补充</a:t>
            </a:r>
          </a:p>
        </p:txBody>
      </p:sp>
      <p:sp>
        <p:nvSpPr>
          <p:cNvPr id="48" name="文字框13"/>
          <p:cNvSpPr/>
          <p:nvPr/>
        </p:nvSpPr>
        <p:spPr>
          <a:xfrm>
            <a:off x="25506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49" name="文字框饰条13"/>
          <p:cNvSpPr/>
          <p:nvPr/>
        </p:nvSpPr>
        <p:spPr>
          <a:xfrm>
            <a:off x="25722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50" name="文字13"/>
          <p:cNvSpPr txBox="1"/>
          <p:nvPr/>
        </p:nvSpPr>
        <p:spPr>
          <a:xfrm>
            <a:off x="25794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51" name="热区13">
            <a:hlinkClick action="ppaction://hlinksldjump" r:id="rId7"/>
          </p:cNvPr>
          <p:cNvSpPr/>
          <p:nvPr/>
        </p:nvSpPr>
        <p:spPr>
          <a:xfrm>
            <a:off x="25506000" y="5400000"/>
            <a:ext cx="5400000" cy="11430000"/>
          </a:xfrm>
          <a:prstGeom prst="rect">
            <a:avLst/>
          </a:prstGeom>
          <a:solidFill>
            <a:srgbClr val="000000">
              <a:alpha val="0"/>
            </a:srgbClr>
          </a:solidFill>
          <a:ln>
            <a:noFill/>
          </a:ln>
        </p:spPr>
        <p:txBody>
          <a:bodyPr rtlCol="0" anchor="ctr"/>
          <a:lstStyle/>
          <a:p>
            <a:pPr algn="ctr"/>
          </a:p>
        </p:txBody>
      </p:sp>
      <p:sp>
        <p:nvSpPr>
          <p:cNvPr id="52" name="卡框14"/>
          <p:cNvSpPr/>
          <p:nvPr/>
        </p:nvSpPr>
        <p:spPr>
          <a:xfrm>
            <a:off x="3151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53" name="衬纸14"/>
          <p:cNvSpPr/>
          <p:nvPr/>
        </p:nvSpPr>
        <p:spPr>
          <a:xfrm>
            <a:off x="31608000" y="5490000"/>
            <a:ext cx="5220000" cy="3960000"/>
          </a:xfrm>
          <a:prstGeom prst="rect">
            <a:avLst/>
          </a:prstGeom>
          <a:solidFill>
            <a:srgbClr val="FFFAF0"/>
          </a:solidFill>
          <a:ln>
            <a:noFill/>
          </a:ln>
        </p:spPr>
        <p:txBody>
          <a:bodyPr rtlCol="0" anchor="ctr"/>
          <a:lstStyle/>
          <a:p>
            <a:pPr algn="ctr"/>
          </a:p>
        </p:txBody>
      </p:sp>
      <p:pic>
        <p:nvPicPr>
          <p:cNvPr id="54" name="!!p14" descr="image.jpg"/>
          <p:cNvPicPr>
            <a:picLocks noChangeAspect="1"/>
          </p:cNvPicPr>
          <p:nvPr/>
        </p:nvPicPr>
        <p:blipFill>
          <a:blip r:embed="rId2"/>
          <a:srcRect/>
          <a:stretch>
            <a:fillRect/>
          </a:stretch>
        </p:blipFill>
        <p:spPr>
          <a:xfrm>
            <a:off x="31698000" y="5580000"/>
            <a:ext cx="5040000" cy="3780000"/>
          </a:xfrm>
          <a:prstGeom prst="rect">
            <a:avLst/>
          </a:prstGeom>
        </p:spPr>
      </p:pic>
      <p:sp>
        <p:nvSpPr>
          <p:cNvPr id="55" name="名牌底14"/>
          <p:cNvSpPr/>
          <p:nvPr/>
        </p:nvSpPr>
        <p:spPr>
          <a:xfrm>
            <a:off x="3160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56" name="名牌金线14"/>
          <p:cNvSpPr/>
          <p:nvPr/>
        </p:nvSpPr>
        <p:spPr>
          <a:xfrm>
            <a:off x="31608000" y="9450000"/>
            <a:ext cx="5220000" cy="54000"/>
          </a:xfrm>
          <a:prstGeom prst="rect">
            <a:avLst/>
          </a:prstGeom>
          <a:solidFill>
            <a:srgbClr val="FFDC8C"/>
          </a:solidFill>
          <a:ln>
            <a:noFill/>
          </a:ln>
        </p:spPr>
        <p:txBody>
          <a:bodyPr rtlCol="0" anchor="ctr"/>
          <a:lstStyle/>
          <a:p>
            <a:pPr algn="ctr"/>
          </a:p>
        </p:txBody>
      </p:sp>
      <p:sp>
        <p:nvSpPr>
          <p:cNvPr id="57" name="名牌14"/>
          <p:cNvSpPr txBox="1"/>
          <p:nvPr/>
        </p:nvSpPr>
        <p:spPr>
          <a:xfrm>
            <a:off x="3160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人员14</a:t>
            </a:r>
          </a:p>
          <a:p>
            <a:pPr algn="ctr"/>
            <a:r>
              <a:rPr sz="2692" b="0">
                <a:solidFill>
                  <a:srgbClr val="FFF1D6"/>
                </a:solidFill>
                <a:latin typeface="Microsoft YaHei"/>
                <a:ea typeface="微软雅黑"/>
              </a:rPr>
              <a:t>单位待补充</a:t>
            </a:r>
          </a:p>
        </p:txBody>
      </p:sp>
      <p:sp>
        <p:nvSpPr>
          <p:cNvPr id="58" name="文字框14"/>
          <p:cNvSpPr/>
          <p:nvPr/>
        </p:nvSpPr>
        <p:spPr>
          <a:xfrm>
            <a:off x="3151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59" name="文字框饰条14"/>
          <p:cNvSpPr/>
          <p:nvPr/>
        </p:nvSpPr>
        <p:spPr>
          <a:xfrm>
            <a:off x="3173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60" name="文字14"/>
          <p:cNvSpPr txBox="1"/>
          <p:nvPr/>
        </p:nvSpPr>
        <p:spPr>
          <a:xfrm>
            <a:off x="31806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61" name="热区14">
            <a:hlinkClick action="ppaction://hlinksldjump" r:id="rId8"/>
          </p:cNvPr>
          <p:cNvSpPr/>
          <p:nvPr/>
        </p:nvSpPr>
        <p:spPr>
          <a:xfrm>
            <a:off x="31518000" y="5400000"/>
            <a:ext cx="5400000" cy="11430000"/>
          </a:xfrm>
          <a:prstGeom prst="rect">
            <a:avLst/>
          </a:prstGeom>
          <a:solidFill>
            <a:srgbClr val="000000">
              <a:alpha val="0"/>
            </a:srgbClr>
          </a:solidFill>
          <a:ln>
            <a:noFill/>
          </a:ln>
        </p:spPr>
        <p:txBody>
          <a:bodyPr rtlCol="0" anchor="ctr"/>
          <a:lstStyle/>
          <a:p>
            <a:pPr algn="ctr"/>
          </a:p>
        </p:txBody>
      </p:sp>
      <p:sp>
        <p:nvSpPr>
          <p:cNvPr id="62" name="卡框15"/>
          <p:cNvSpPr/>
          <p:nvPr/>
        </p:nvSpPr>
        <p:spPr>
          <a:xfrm>
            <a:off x="3753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63" name="衬纸15"/>
          <p:cNvSpPr/>
          <p:nvPr/>
        </p:nvSpPr>
        <p:spPr>
          <a:xfrm>
            <a:off x="37620000" y="5490000"/>
            <a:ext cx="5220000" cy="3960000"/>
          </a:xfrm>
          <a:prstGeom prst="rect">
            <a:avLst/>
          </a:prstGeom>
          <a:solidFill>
            <a:srgbClr val="FFFAF0"/>
          </a:solidFill>
          <a:ln>
            <a:noFill/>
          </a:ln>
        </p:spPr>
        <p:txBody>
          <a:bodyPr rtlCol="0" anchor="ctr"/>
          <a:lstStyle/>
          <a:p>
            <a:pPr algn="ctr"/>
          </a:p>
        </p:txBody>
      </p:sp>
      <p:pic>
        <p:nvPicPr>
          <p:cNvPr id="64" name="!!p15" descr="image.jpg"/>
          <p:cNvPicPr>
            <a:picLocks noChangeAspect="1"/>
          </p:cNvPicPr>
          <p:nvPr/>
        </p:nvPicPr>
        <p:blipFill>
          <a:blip r:embed="rId2"/>
          <a:srcRect/>
          <a:stretch>
            <a:fillRect/>
          </a:stretch>
        </p:blipFill>
        <p:spPr>
          <a:xfrm>
            <a:off x="37710000" y="5580000"/>
            <a:ext cx="5040000" cy="3780000"/>
          </a:xfrm>
          <a:prstGeom prst="rect">
            <a:avLst/>
          </a:prstGeom>
        </p:spPr>
      </p:pic>
      <p:sp>
        <p:nvSpPr>
          <p:cNvPr id="65" name="名牌底15"/>
          <p:cNvSpPr/>
          <p:nvPr/>
        </p:nvSpPr>
        <p:spPr>
          <a:xfrm>
            <a:off x="3762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6" name="名牌金线15"/>
          <p:cNvSpPr/>
          <p:nvPr/>
        </p:nvSpPr>
        <p:spPr>
          <a:xfrm>
            <a:off x="37620000" y="9450000"/>
            <a:ext cx="5220000" cy="54000"/>
          </a:xfrm>
          <a:prstGeom prst="rect">
            <a:avLst/>
          </a:prstGeom>
          <a:solidFill>
            <a:srgbClr val="FFDC8C"/>
          </a:solidFill>
          <a:ln>
            <a:noFill/>
          </a:ln>
        </p:spPr>
        <p:txBody>
          <a:bodyPr rtlCol="0" anchor="ctr"/>
          <a:lstStyle/>
          <a:p>
            <a:pPr algn="ctr"/>
          </a:p>
        </p:txBody>
      </p:sp>
      <p:sp>
        <p:nvSpPr>
          <p:cNvPr id="67" name="名牌15"/>
          <p:cNvSpPr txBox="1"/>
          <p:nvPr/>
        </p:nvSpPr>
        <p:spPr>
          <a:xfrm>
            <a:off x="3762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人员15</a:t>
            </a:r>
          </a:p>
          <a:p>
            <a:pPr algn="ctr"/>
            <a:r>
              <a:rPr sz="2692" b="0">
                <a:solidFill>
                  <a:srgbClr val="FFF1D6"/>
                </a:solidFill>
                <a:latin typeface="Microsoft YaHei"/>
                <a:ea typeface="微软雅黑"/>
              </a:rPr>
              <a:t>单位待补充</a:t>
            </a:r>
          </a:p>
        </p:txBody>
      </p:sp>
      <p:sp>
        <p:nvSpPr>
          <p:cNvPr id="68" name="文字框15"/>
          <p:cNvSpPr/>
          <p:nvPr/>
        </p:nvSpPr>
        <p:spPr>
          <a:xfrm>
            <a:off x="3753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69" name="文字框饰条15"/>
          <p:cNvSpPr/>
          <p:nvPr/>
        </p:nvSpPr>
        <p:spPr>
          <a:xfrm>
            <a:off x="3774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70" name="文字15"/>
          <p:cNvSpPr txBox="1"/>
          <p:nvPr/>
        </p:nvSpPr>
        <p:spPr>
          <a:xfrm>
            <a:off x="37818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71" name="热区15">
            <a:hlinkClick action="ppaction://hlinksldjump" r:id="rId9"/>
          </p:cNvPr>
          <p:cNvSpPr/>
          <p:nvPr/>
        </p:nvSpPr>
        <p:spPr>
          <a:xfrm>
            <a:off x="37530000" y="5400000"/>
            <a:ext cx="5400000" cy="11430000"/>
          </a:xfrm>
          <a:prstGeom prst="rect">
            <a:avLst/>
          </a:prstGeom>
          <a:solidFill>
            <a:srgbClr val="000000">
              <a:alpha val="0"/>
            </a:srgbClr>
          </a:solidFill>
          <a:ln>
            <a:noFill/>
          </a:ln>
        </p:spPr>
        <p:txBody>
          <a:bodyPr rtlCol="0" anchor="ctr"/>
          <a:lstStyle/>
          <a:p>
            <a:pPr algn="ctr"/>
          </a:p>
        </p:txBody>
      </p:sp>
      <p:sp>
        <p:nvSpPr>
          <p:cNvPr id="72" name="卡框16"/>
          <p:cNvSpPr/>
          <p:nvPr/>
        </p:nvSpPr>
        <p:spPr>
          <a:xfrm>
            <a:off x="4354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73" name="衬纸16"/>
          <p:cNvSpPr/>
          <p:nvPr/>
        </p:nvSpPr>
        <p:spPr>
          <a:xfrm>
            <a:off x="43632000" y="5490000"/>
            <a:ext cx="5220000" cy="3960000"/>
          </a:xfrm>
          <a:prstGeom prst="rect">
            <a:avLst/>
          </a:prstGeom>
          <a:solidFill>
            <a:srgbClr val="FFFAF0"/>
          </a:solidFill>
          <a:ln>
            <a:noFill/>
          </a:ln>
        </p:spPr>
        <p:txBody>
          <a:bodyPr rtlCol="0" anchor="ctr"/>
          <a:lstStyle/>
          <a:p>
            <a:pPr algn="ctr"/>
          </a:p>
        </p:txBody>
      </p:sp>
      <p:pic>
        <p:nvPicPr>
          <p:cNvPr id="74" name="!!p16" descr="image.jpg"/>
          <p:cNvPicPr>
            <a:picLocks noChangeAspect="1"/>
          </p:cNvPicPr>
          <p:nvPr/>
        </p:nvPicPr>
        <p:blipFill>
          <a:blip r:embed="rId2"/>
          <a:srcRect/>
          <a:stretch>
            <a:fillRect/>
          </a:stretch>
        </p:blipFill>
        <p:spPr>
          <a:xfrm>
            <a:off x="43722000" y="5580000"/>
            <a:ext cx="5040000" cy="3780000"/>
          </a:xfrm>
          <a:prstGeom prst="rect">
            <a:avLst/>
          </a:prstGeom>
        </p:spPr>
      </p:pic>
      <p:sp>
        <p:nvSpPr>
          <p:cNvPr id="75" name="名牌底16"/>
          <p:cNvSpPr/>
          <p:nvPr/>
        </p:nvSpPr>
        <p:spPr>
          <a:xfrm>
            <a:off x="4363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76" name="名牌金线16"/>
          <p:cNvSpPr/>
          <p:nvPr/>
        </p:nvSpPr>
        <p:spPr>
          <a:xfrm>
            <a:off x="43632000" y="9450000"/>
            <a:ext cx="5220000" cy="54000"/>
          </a:xfrm>
          <a:prstGeom prst="rect">
            <a:avLst/>
          </a:prstGeom>
          <a:solidFill>
            <a:srgbClr val="FFDC8C"/>
          </a:solidFill>
          <a:ln>
            <a:noFill/>
          </a:ln>
        </p:spPr>
        <p:txBody>
          <a:bodyPr rtlCol="0" anchor="ctr"/>
          <a:lstStyle/>
          <a:p>
            <a:pPr algn="ctr"/>
          </a:p>
        </p:txBody>
      </p:sp>
      <p:sp>
        <p:nvSpPr>
          <p:cNvPr id="77" name="名牌16"/>
          <p:cNvSpPr txBox="1"/>
          <p:nvPr/>
        </p:nvSpPr>
        <p:spPr>
          <a:xfrm>
            <a:off x="4363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人员16</a:t>
            </a:r>
          </a:p>
          <a:p>
            <a:pPr algn="ctr"/>
            <a:r>
              <a:rPr sz="2692" b="0">
                <a:solidFill>
                  <a:srgbClr val="FFF1D6"/>
                </a:solidFill>
                <a:latin typeface="Microsoft YaHei"/>
                <a:ea typeface="微软雅黑"/>
              </a:rPr>
              <a:t>单位待补充</a:t>
            </a:r>
          </a:p>
        </p:txBody>
      </p:sp>
      <p:sp>
        <p:nvSpPr>
          <p:cNvPr id="78" name="文字框16"/>
          <p:cNvSpPr/>
          <p:nvPr/>
        </p:nvSpPr>
        <p:spPr>
          <a:xfrm>
            <a:off x="4354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79" name="文字框饰条16"/>
          <p:cNvSpPr/>
          <p:nvPr/>
        </p:nvSpPr>
        <p:spPr>
          <a:xfrm>
            <a:off x="4375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80" name="文字16"/>
          <p:cNvSpPr txBox="1"/>
          <p:nvPr/>
        </p:nvSpPr>
        <p:spPr>
          <a:xfrm>
            <a:off x="43830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81" name="热区16">
            <a:hlinkClick action="ppaction://hlinksldjump" r:id="rId10"/>
          </p:cNvPr>
          <p:cNvSpPr/>
          <p:nvPr/>
        </p:nvSpPr>
        <p:spPr>
          <a:xfrm>
            <a:off x="43542000" y="5400000"/>
            <a:ext cx="5400000" cy="11430000"/>
          </a:xfrm>
          <a:prstGeom prst="rect">
            <a:avLst/>
          </a:prstGeom>
          <a:solidFill>
            <a:srgbClr val="000000">
              <a:alpha val="0"/>
            </a:srgbClr>
          </a:solidFill>
          <a:ln>
            <a:noFill/>
          </a:ln>
        </p:spPr>
        <p:txBody>
          <a:bodyPr rtlCol="0" anchor="ctr"/>
          <a:lstStyle/>
          <a:p>
            <a:pPr algn="ctr"/>
          </a:p>
        </p:txBody>
      </p:sp>
      <p:sp>
        <p:nvSpPr>
          <p:cNvPr id="82" name="上一页底"/>
          <p:cNvSpPr/>
          <p:nvPr/>
        </p:nvSpPr>
        <p:spPr>
          <a:xfrm>
            <a:off x="720000" y="17028000"/>
            <a:ext cx="3060000" cy="792000"/>
          </a:xfrm>
          <a:prstGeom prst="roundRect">
            <a:avLst>
              <a:gd name="adj" fmla="val 50000"/>
            </a:avLst>
          </a:prstGeom>
          <a:solidFill>
            <a:srgbClr val="3A0306">
              <a:alpha val="55000"/>
            </a:srgbClr>
          </a:solidFill>
          <a:ln w="36000">
            <a:solidFill>
              <a:srgbClr val="FFD27A"/>
            </a:solidFill>
          </a:ln>
        </p:spPr>
        <p:txBody>
          <a:bodyPr rtlCol="0" anchor="ctr"/>
          <a:lstStyle/>
          <a:p>
            <a:pPr algn="ctr"/>
          </a:p>
        </p:txBody>
      </p:sp>
      <p:sp>
        <p:nvSpPr>
          <p:cNvPr id="83" name="上一页字"/>
          <p:cNvSpPr txBox="1"/>
          <p:nvPr/>
        </p:nvSpPr>
        <p:spPr>
          <a:xfrm>
            <a:off x="720000" y="17028000"/>
            <a:ext cx="3060000" cy="792000"/>
          </a:xfrm>
          <a:prstGeom prst="rect">
            <a:avLst/>
          </a:prstGeom>
          <a:noFill/>
        </p:spPr>
        <p:txBody>
          <a:bodyPr wrap="square" lIns="0" rIns="0" tIns="0" bIns="0" anchor="ctr">
            <a:noAutofit/>
          </a:bodyPr>
          <a:lstStyle/>
          <a:p>
            <a:pPr algn="ctr"/>
            <a:r>
              <a:rPr sz="3401" b="0" spc="340">
                <a:solidFill>
                  <a:srgbClr val="FFD27A"/>
                </a:solidFill>
                <a:latin typeface="Microsoft YaHei"/>
                <a:ea typeface="微软雅黑"/>
              </a:rPr>
              <a:t>‹ 上一页</a:t>
            </a:r>
          </a:p>
        </p:txBody>
      </p:sp>
      <p:sp>
        <p:nvSpPr>
          <p:cNvPr id="84" name="上一页">
            <a:hlinkClick action="ppaction://hlinksldjump" r:id="rId11"/>
          </p:cNvPr>
          <p:cNvSpPr/>
          <p:nvPr/>
        </p:nvSpPr>
        <p:spPr>
          <a:xfrm>
            <a:off x="720000" y="17028000"/>
            <a:ext cx="3060000" cy="792000"/>
          </a:xfrm>
          <a:prstGeom prst="rect">
            <a:avLst/>
          </a:prstGeom>
          <a:solidFill>
            <a:srgbClr val="000000">
              <a:alpha val="0"/>
            </a:srgbClr>
          </a:solidFill>
          <a:ln>
            <a:noFill/>
          </a:ln>
        </p:spPr>
        <p:txBody>
          <a:bodyPr rtlCol="0" anchor="ctr"/>
          <a:lstStyle/>
          <a:p>
            <a:pPr algn="ctr"/>
          </a:p>
        </p:txBody>
      </p:sp>
      <p:sp>
        <p:nvSpPr>
          <p:cNvPr id="85" name="下一页底"/>
          <p:cNvSpPr/>
          <p:nvPr/>
        </p:nvSpPr>
        <p:spPr>
          <a:xfrm>
            <a:off x="46620000" y="17028000"/>
            <a:ext cx="3060000" cy="792000"/>
          </a:xfrm>
          <a:prstGeom prst="roundRect">
            <a:avLst>
              <a:gd name="adj" fmla="val 50000"/>
            </a:avLst>
          </a:prstGeom>
          <a:solidFill>
            <a:srgbClr val="3A0306">
              <a:alpha val="55000"/>
            </a:srgbClr>
          </a:solidFill>
          <a:ln w="36000">
            <a:solidFill>
              <a:srgbClr val="FFD27A"/>
            </a:solidFill>
          </a:ln>
        </p:spPr>
        <p:txBody>
          <a:bodyPr rtlCol="0" anchor="ctr"/>
          <a:lstStyle/>
          <a:p>
            <a:pPr algn="ctr"/>
          </a:p>
        </p:txBody>
      </p:sp>
      <p:sp>
        <p:nvSpPr>
          <p:cNvPr id="86" name="下一页字"/>
          <p:cNvSpPr txBox="1"/>
          <p:nvPr/>
        </p:nvSpPr>
        <p:spPr>
          <a:xfrm>
            <a:off x="46620000" y="17028000"/>
            <a:ext cx="3060000" cy="792000"/>
          </a:xfrm>
          <a:prstGeom prst="rect">
            <a:avLst/>
          </a:prstGeom>
          <a:noFill/>
        </p:spPr>
        <p:txBody>
          <a:bodyPr wrap="square" lIns="0" rIns="0" tIns="0" bIns="0" anchor="ctr">
            <a:noAutofit/>
          </a:bodyPr>
          <a:lstStyle/>
          <a:p>
            <a:pPr algn="ctr"/>
            <a:r>
              <a:rPr sz="3401" b="0" spc="340">
                <a:solidFill>
                  <a:srgbClr val="FFD27A"/>
                </a:solidFill>
                <a:latin typeface="Microsoft YaHei"/>
                <a:ea typeface="微软雅黑"/>
              </a:rPr>
              <a:t>下一页 ›</a:t>
            </a:r>
          </a:p>
        </p:txBody>
      </p:sp>
      <p:sp>
        <p:nvSpPr>
          <p:cNvPr id="87" name="下一页">
            <a:hlinkClick action="ppaction://hlinksldjump" r:id="rId12"/>
          </p:cNvPr>
          <p:cNvSpPr/>
          <p:nvPr/>
        </p:nvSpPr>
        <p:spPr>
          <a:xfrm>
            <a:off x="46620000" y="17028000"/>
            <a:ext cx="3060000" cy="792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9"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9"/>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9"/>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9"/>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9"/>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人员09</a:t>
            </a:r>
          </a:p>
        </p:txBody>
      </p:sp>
      <p:sp>
        <p:nvSpPr>
          <p:cNvPr id="29" name="分隔左9"/>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9"/>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9"/>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9"/>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9"/>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9"/>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9"/>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9"/>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9"/>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9"/>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9"/>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9">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0"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0"/>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0"/>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0"/>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0"/>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人员10</a:t>
            </a:r>
          </a:p>
        </p:txBody>
      </p:sp>
      <p:sp>
        <p:nvSpPr>
          <p:cNvPr id="29" name="分隔左10"/>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0"/>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0"/>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0"/>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0"/>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0"/>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0"/>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0"/>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0"/>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0"/>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0"/>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0">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1"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1"/>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1"/>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1"/>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1"/>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人员11</a:t>
            </a:r>
          </a:p>
        </p:txBody>
      </p:sp>
      <p:sp>
        <p:nvSpPr>
          <p:cNvPr id="29" name="分隔左11"/>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1"/>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1"/>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1"/>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1"/>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1"/>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1"/>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1"/>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1"/>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1"/>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1"/>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1">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2"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2"/>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2"/>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2"/>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2"/>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人员12</a:t>
            </a:r>
          </a:p>
        </p:txBody>
      </p:sp>
      <p:sp>
        <p:nvSpPr>
          <p:cNvPr id="29" name="分隔左12"/>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2"/>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2"/>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2"/>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2"/>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2"/>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2"/>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2"/>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2"/>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2"/>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2"/>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2">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3"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3"/>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3"/>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3"/>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3"/>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人员13</a:t>
            </a:r>
          </a:p>
        </p:txBody>
      </p:sp>
      <p:sp>
        <p:nvSpPr>
          <p:cNvPr id="29" name="分隔左13"/>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3"/>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3"/>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3"/>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3"/>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3"/>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3"/>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3"/>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3"/>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3"/>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3"/>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3">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4"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4"/>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4"/>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4"/>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4"/>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人员14</a:t>
            </a:r>
          </a:p>
        </p:txBody>
      </p:sp>
      <p:sp>
        <p:nvSpPr>
          <p:cNvPr id="29" name="分隔左14"/>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4"/>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4"/>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4"/>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4"/>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4"/>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4"/>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4"/>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4"/>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4"/>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4"/>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4">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5"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5"/>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5"/>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5"/>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5"/>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人员15</a:t>
            </a:r>
          </a:p>
        </p:txBody>
      </p:sp>
      <p:sp>
        <p:nvSpPr>
          <p:cNvPr id="29" name="分隔左15"/>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5"/>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5"/>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5"/>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5"/>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5"/>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5"/>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5"/>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5"/>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5"/>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5"/>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5">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6"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6"/>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6"/>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6"/>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6"/>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人员16</a:t>
            </a:r>
          </a:p>
        </p:txBody>
      </p:sp>
      <p:sp>
        <p:nvSpPr>
          <p:cNvPr id="29" name="分隔左16"/>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6"/>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6"/>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6"/>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6"/>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6"/>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6"/>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6"/>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6"/>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6"/>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6"/>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6">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卡框17"/>
          <p:cNvSpPr/>
          <p:nvPr/>
        </p:nvSpPr>
        <p:spPr>
          <a:xfrm>
            <a:off x="145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 name="衬纸17"/>
          <p:cNvSpPr/>
          <p:nvPr/>
        </p:nvSpPr>
        <p:spPr>
          <a:xfrm>
            <a:off x="1548000" y="5490000"/>
            <a:ext cx="5220000" cy="3960000"/>
          </a:xfrm>
          <a:prstGeom prst="rect">
            <a:avLst/>
          </a:prstGeom>
          <a:solidFill>
            <a:srgbClr val="FFFAF0"/>
          </a:solidFill>
          <a:ln>
            <a:noFill/>
          </a:ln>
        </p:spPr>
        <p:txBody>
          <a:bodyPr rtlCol="0" anchor="ctr"/>
          <a:lstStyle/>
          <a:p>
            <a:pPr algn="ctr"/>
          </a:p>
        </p:txBody>
      </p:sp>
      <p:pic>
        <p:nvPicPr>
          <p:cNvPr id="4" name="!!p17" descr="image.jpg"/>
          <p:cNvPicPr>
            <a:picLocks noChangeAspect="1"/>
          </p:cNvPicPr>
          <p:nvPr/>
        </p:nvPicPr>
        <p:blipFill>
          <a:blip r:embed="rId2"/>
          <a:srcRect/>
          <a:stretch>
            <a:fillRect/>
          </a:stretch>
        </p:blipFill>
        <p:spPr>
          <a:xfrm>
            <a:off x="1638000" y="5580000"/>
            <a:ext cx="5040000" cy="3780000"/>
          </a:xfrm>
          <a:prstGeom prst="rect">
            <a:avLst/>
          </a:prstGeom>
        </p:spPr>
      </p:pic>
      <p:sp>
        <p:nvSpPr>
          <p:cNvPr id="5" name="名牌底17"/>
          <p:cNvSpPr/>
          <p:nvPr/>
        </p:nvSpPr>
        <p:spPr>
          <a:xfrm>
            <a:off x="154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 name="名牌金线17"/>
          <p:cNvSpPr/>
          <p:nvPr/>
        </p:nvSpPr>
        <p:spPr>
          <a:xfrm>
            <a:off x="1548000" y="9450000"/>
            <a:ext cx="5220000" cy="54000"/>
          </a:xfrm>
          <a:prstGeom prst="rect">
            <a:avLst/>
          </a:prstGeom>
          <a:solidFill>
            <a:srgbClr val="FFDC8C"/>
          </a:solidFill>
          <a:ln>
            <a:noFill/>
          </a:ln>
        </p:spPr>
        <p:txBody>
          <a:bodyPr rtlCol="0" anchor="ctr"/>
          <a:lstStyle/>
          <a:p>
            <a:pPr algn="ctr"/>
          </a:p>
        </p:txBody>
      </p:sp>
      <p:sp>
        <p:nvSpPr>
          <p:cNvPr id="7" name="名牌17"/>
          <p:cNvSpPr txBox="1"/>
          <p:nvPr/>
        </p:nvSpPr>
        <p:spPr>
          <a:xfrm>
            <a:off x="154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人员17</a:t>
            </a:r>
          </a:p>
          <a:p>
            <a:pPr algn="ctr"/>
            <a:r>
              <a:rPr sz="2692" b="0">
                <a:solidFill>
                  <a:srgbClr val="FFF1D6"/>
                </a:solidFill>
                <a:latin typeface="Microsoft YaHei"/>
                <a:ea typeface="微软雅黑"/>
              </a:rPr>
              <a:t>单位待补充</a:t>
            </a:r>
          </a:p>
        </p:txBody>
      </p:sp>
      <p:sp>
        <p:nvSpPr>
          <p:cNvPr id="8" name="文字框17"/>
          <p:cNvSpPr/>
          <p:nvPr/>
        </p:nvSpPr>
        <p:spPr>
          <a:xfrm>
            <a:off x="145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9" name="文字框饰条17"/>
          <p:cNvSpPr/>
          <p:nvPr/>
        </p:nvSpPr>
        <p:spPr>
          <a:xfrm>
            <a:off x="167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10" name="文字17"/>
          <p:cNvSpPr txBox="1"/>
          <p:nvPr/>
        </p:nvSpPr>
        <p:spPr>
          <a:xfrm>
            <a:off x="1746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11" name="热区17">
            <a:hlinkClick action="ppaction://hlinksldjump" r:id="rId3"/>
          </p:cNvPr>
          <p:cNvSpPr/>
          <p:nvPr/>
        </p:nvSpPr>
        <p:spPr>
          <a:xfrm>
            <a:off x="1458000" y="5400000"/>
            <a:ext cx="5400000" cy="11430000"/>
          </a:xfrm>
          <a:prstGeom prst="rect">
            <a:avLst/>
          </a:prstGeom>
          <a:solidFill>
            <a:srgbClr val="000000">
              <a:alpha val="0"/>
            </a:srgbClr>
          </a:solidFill>
          <a:ln>
            <a:noFill/>
          </a:ln>
        </p:spPr>
        <p:txBody>
          <a:bodyPr rtlCol="0" anchor="ctr"/>
          <a:lstStyle/>
          <a:p>
            <a:pPr algn="ctr"/>
          </a:p>
        </p:txBody>
      </p:sp>
      <p:sp>
        <p:nvSpPr>
          <p:cNvPr id="12" name="卡框18"/>
          <p:cNvSpPr/>
          <p:nvPr/>
        </p:nvSpPr>
        <p:spPr>
          <a:xfrm>
            <a:off x="747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3" name="衬纸18"/>
          <p:cNvSpPr/>
          <p:nvPr/>
        </p:nvSpPr>
        <p:spPr>
          <a:xfrm>
            <a:off x="7560000" y="5490000"/>
            <a:ext cx="5220000" cy="3960000"/>
          </a:xfrm>
          <a:prstGeom prst="rect">
            <a:avLst/>
          </a:prstGeom>
          <a:solidFill>
            <a:srgbClr val="FFFAF0"/>
          </a:solidFill>
          <a:ln>
            <a:noFill/>
          </a:ln>
        </p:spPr>
        <p:txBody>
          <a:bodyPr rtlCol="0" anchor="ctr"/>
          <a:lstStyle/>
          <a:p>
            <a:pPr algn="ctr"/>
          </a:p>
        </p:txBody>
      </p:sp>
      <p:pic>
        <p:nvPicPr>
          <p:cNvPr id="14" name="!!p18" descr="image.jpg"/>
          <p:cNvPicPr>
            <a:picLocks noChangeAspect="1"/>
          </p:cNvPicPr>
          <p:nvPr/>
        </p:nvPicPr>
        <p:blipFill>
          <a:blip r:embed="rId2"/>
          <a:srcRect/>
          <a:stretch>
            <a:fillRect/>
          </a:stretch>
        </p:blipFill>
        <p:spPr>
          <a:xfrm>
            <a:off x="7650000" y="5580000"/>
            <a:ext cx="5040000" cy="3780000"/>
          </a:xfrm>
          <a:prstGeom prst="rect">
            <a:avLst/>
          </a:prstGeom>
        </p:spPr>
      </p:pic>
      <p:sp>
        <p:nvSpPr>
          <p:cNvPr id="15" name="名牌底18"/>
          <p:cNvSpPr/>
          <p:nvPr/>
        </p:nvSpPr>
        <p:spPr>
          <a:xfrm>
            <a:off x="756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16" name="名牌金线18"/>
          <p:cNvSpPr/>
          <p:nvPr/>
        </p:nvSpPr>
        <p:spPr>
          <a:xfrm>
            <a:off x="7560000" y="9450000"/>
            <a:ext cx="5220000" cy="54000"/>
          </a:xfrm>
          <a:prstGeom prst="rect">
            <a:avLst/>
          </a:prstGeom>
          <a:solidFill>
            <a:srgbClr val="FFDC8C"/>
          </a:solidFill>
          <a:ln>
            <a:noFill/>
          </a:ln>
        </p:spPr>
        <p:txBody>
          <a:bodyPr rtlCol="0" anchor="ctr"/>
          <a:lstStyle/>
          <a:p>
            <a:pPr algn="ctr"/>
          </a:p>
        </p:txBody>
      </p:sp>
      <p:sp>
        <p:nvSpPr>
          <p:cNvPr id="17" name="名牌18"/>
          <p:cNvSpPr txBox="1"/>
          <p:nvPr/>
        </p:nvSpPr>
        <p:spPr>
          <a:xfrm>
            <a:off x="756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人员18</a:t>
            </a:r>
          </a:p>
          <a:p>
            <a:pPr algn="ctr"/>
            <a:r>
              <a:rPr sz="2692" b="0">
                <a:solidFill>
                  <a:srgbClr val="FFF1D6"/>
                </a:solidFill>
                <a:latin typeface="Microsoft YaHei"/>
                <a:ea typeface="微软雅黑"/>
              </a:rPr>
              <a:t>单位待补充</a:t>
            </a:r>
          </a:p>
        </p:txBody>
      </p:sp>
      <p:sp>
        <p:nvSpPr>
          <p:cNvPr id="18" name="文字框18"/>
          <p:cNvSpPr/>
          <p:nvPr/>
        </p:nvSpPr>
        <p:spPr>
          <a:xfrm>
            <a:off x="747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19" name="文字框饰条18"/>
          <p:cNvSpPr/>
          <p:nvPr/>
        </p:nvSpPr>
        <p:spPr>
          <a:xfrm>
            <a:off x="768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20" name="文字18"/>
          <p:cNvSpPr txBox="1"/>
          <p:nvPr/>
        </p:nvSpPr>
        <p:spPr>
          <a:xfrm>
            <a:off x="7758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21" name="热区18">
            <a:hlinkClick action="ppaction://hlinksldjump" r:id="rId4"/>
          </p:cNvPr>
          <p:cNvSpPr/>
          <p:nvPr/>
        </p:nvSpPr>
        <p:spPr>
          <a:xfrm>
            <a:off x="7470000" y="5400000"/>
            <a:ext cx="5400000" cy="11430000"/>
          </a:xfrm>
          <a:prstGeom prst="rect">
            <a:avLst/>
          </a:prstGeom>
          <a:solidFill>
            <a:srgbClr val="000000">
              <a:alpha val="0"/>
            </a:srgbClr>
          </a:solidFill>
          <a:ln>
            <a:noFill/>
          </a:ln>
        </p:spPr>
        <p:txBody>
          <a:bodyPr rtlCol="0" anchor="ctr"/>
          <a:lstStyle/>
          <a:p>
            <a:pPr algn="ctr"/>
          </a:p>
        </p:txBody>
      </p:sp>
      <p:sp>
        <p:nvSpPr>
          <p:cNvPr id="22" name="卡框19"/>
          <p:cNvSpPr/>
          <p:nvPr/>
        </p:nvSpPr>
        <p:spPr>
          <a:xfrm>
            <a:off x="1348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23" name="衬纸19"/>
          <p:cNvSpPr/>
          <p:nvPr/>
        </p:nvSpPr>
        <p:spPr>
          <a:xfrm>
            <a:off x="13572000" y="5490000"/>
            <a:ext cx="5220000" cy="3960000"/>
          </a:xfrm>
          <a:prstGeom prst="rect">
            <a:avLst/>
          </a:prstGeom>
          <a:solidFill>
            <a:srgbClr val="FFFAF0"/>
          </a:solidFill>
          <a:ln>
            <a:noFill/>
          </a:ln>
        </p:spPr>
        <p:txBody>
          <a:bodyPr rtlCol="0" anchor="ctr"/>
          <a:lstStyle/>
          <a:p>
            <a:pPr algn="ctr"/>
          </a:p>
        </p:txBody>
      </p:sp>
      <p:pic>
        <p:nvPicPr>
          <p:cNvPr id="24" name="!!p19" descr="image.jpg"/>
          <p:cNvPicPr>
            <a:picLocks noChangeAspect="1"/>
          </p:cNvPicPr>
          <p:nvPr/>
        </p:nvPicPr>
        <p:blipFill>
          <a:blip r:embed="rId2"/>
          <a:srcRect/>
          <a:stretch>
            <a:fillRect/>
          </a:stretch>
        </p:blipFill>
        <p:spPr>
          <a:xfrm>
            <a:off x="13662000" y="5580000"/>
            <a:ext cx="5040000" cy="3780000"/>
          </a:xfrm>
          <a:prstGeom prst="rect">
            <a:avLst/>
          </a:prstGeom>
        </p:spPr>
      </p:pic>
      <p:sp>
        <p:nvSpPr>
          <p:cNvPr id="25" name="名牌底19"/>
          <p:cNvSpPr/>
          <p:nvPr/>
        </p:nvSpPr>
        <p:spPr>
          <a:xfrm>
            <a:off x="1357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26" name="名牌金线19"/>
          <p:cNvSpPr/>
          <p:nvPr/>
        </p:nvSpPr>
        <p:spPr>
          <a:xfrm>
            <a:off x="13572000" y="9450000"/>
            <a:ext cx="5220000" cy="54000"/>
          </a:xfrm>
          <a:prstGeom prst="rect">
            <a:avLst/>
          </a:prstGeom>
          <a:solidFill>
            <a:srgbClr val="FFDC8C"/>
          </a:solidFill>
          <a:ln>
            <a:noFill/>
          </a:ln>
        </p:spPr>
        <p:txBody>
          <a:bodyPr rtlCol="0" anchor="ctr"/>
          <a:lstStyle/>
          <a:p>
            <a:pPr algn="ctr"/>
          </a:p>
        </p:txBody>
      </p:sp>
      <p:sp>
        <p:nvSpPr>
          <p:cNvPr id="27" name="名牌19"/>
          <p:cNvSpPr txBox="1"/>
          <p:nvPr/>
        </p:nvSpPr>
        <p:spPr>
          <a:xfrm>
            <a:off x="1357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人员19</a:t>
            </a:r>
          </a:p>
          <a:p>
            <a:pPr algn="ctr"/>
            <a:r>
              <a:rPr sz="2692" b="0">
                <a:solidFill>
                  <a:srgbClr val="FFF1D6"/>
                </a:solidFill>
                <a:latin typeface="Microsoft YaHei"/>
                <a:ea typeface="微软雅黑"/>
              </a:rPr>
              <a:t>单位待补充</a:t>
            </a:r>
          </a:p>
        </p:txBody>
      </p:sp>
      <p:sp>
        <p:nvSpPr>
          <p:cNvPr id="28" name="文字框19"/>
          <p:cNvSpPr/>
          <p:nvPr/>
        </p:nvSpPr>
        <p:spPr>
          <a:xfrm>
            <a:off x="1348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29" name="文字框饰条19"/>
          <p:cNvSpPr/>
          <p:nvPr/>
        </p:nvSpPr>
        <p:spPr>
          <a:xfrm>
            <a:off x="1369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30" name="文字19"/>
          <p:cNvSpPr txBox="1"/>
          <p:nvPr/>
        </p:nvSpPr>
        <p:spPr>
          <a:xfrm>
            <a:off x="13770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31" name="热区19">
            <a:hlinkClick action="ppaction://hlinksldjump" r:id="rId5"/>
          </p:cNvPr>
          <p:cNvSpPr/>
          <p:nvPr/>
        </p:nvSpPr>
        <p:spPr>
          <a:xfrm>
            <a:off x="13482000" y="5400000"/>
            <a:ext cx="5400000" cy="11430000"/>
          </a:xfrm>
          <a:prstGeom prst="rect">
            <a:avLst/>
          </a:prstGeom>
          <a:solidFill>
            <a:srgbClr val="000000">
              <a:alpha val="0"/>
            </a:srgbClr>
          </a:solidFill>
          <a:ln>
            <a:noFill/>
          </a:ln>
        </p:spPr>
        <p:txBody>
          <a:bodyPr rtlCol="0" anchor="ctr"/>
          <a:lstStyle/>
          <a:p>
            <a:pPr algn="ctr"/>
          </a:p>
        </p:txBody>
      </p:sp>
      <p:sp>
        <p:nvSpPr>
          <p:cNvPr id="32" name="卡框20"/>
          <p:cNvSpPr/>
          <p:nvPr/>
        </p:nvSpPr>
        <p:spPr>
          <a:xfrm>
            <a:off x="19494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33" name="衬纸20"/>
          <p:cNvSpPr/>
          <p:nvPr/>
        </p:nvSpPr>
        <p:spPr>
          <a:xfrm>
            <a:off x="19584000" y="5490000"/>
            <a:ext cx="5220000" cy="3960000"/>
          </a:xfrm>
          <a:prstGeom prst="rect">
            <a:avLst/>
          </a:prstGeom>
          <a:solidFill>
            <a:srgbClr val="FFFAF0"/>
          </a:solidFill>
          <a:ln>
            <a:noFill/>
          </a:ln>
        </p:spPr>
        <p:txBody>
          <a:bodyPr rtlCol="0" anchor="ctr"/>
          <a:lstStyle/>
          <a:p>
            <a:pPr algn="ctr"/>
          </a:p>
        </p:txBody>
      </p:sp>
      <p:pic>
        <p:nvPicPr>
          <p:cNvPr id="34" name="!!p20" descr="image.jpg"/>
          <p:cNvPicPr>
            <a:picLocks noChangeAspect="1"/>
          </p:cNvPicPr>
          <p:nvPr/>
        </p:nvPicPr>
        <p:blipFill>
          <a:blip r:embed="rId2"/>
          <a:srcRect/>
          <a:stretch>
            <a:fillRect/>
          </a:stretch>
        </p:blipFill>
        <p:spPr>
          <a:xfrm>
            <a:off x="19674000" y="5580000"/>
            <a:ext cx="5040000" cy="3780000"/>
          </a:xfrm>
          <a:prstGeom prst="rect">
            <a:avLst/>
          </a:prstGeom>
        </p:spPr>
      </p:pic>
      <p:sp>
        <p:nvSpPr>
          <p:cNvPr id="35" name="名牌底20"/>
          <p:cNvSpPr/>
          <p:nvPr/>
        </p:nvSpPr>
        <p:spPr>
          <a:xfrm>
            <a:off x="19584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36" name="名牌金线20"/>
          <p:cNvSpPr/>
          <p:nvPr/>
        </p:nvSpPr>
        <p:spPr>
          <a:xfrm>
            <a:off x="19584000" y="9450000"/>
            <a:ext cx="5220000" cy="54000"/>
          </a:xfrm>
          <a:prstGeom prst="rect">
            <a:avLst/>
          </a:prstGeom>
          <a:solidFill>
            <a:srgbClr val="FFDC8C"/>
          </a:solidFill>
          <a:ln>
            <a:noFill/>
          </a:ln>
        </p:spPr>
        <p:txBody>
          <a:bodyPr rtlCol="0" anchor="ctr"/>
          <a:lstStyle/>
          <a:p>
            <a:pPr algn="ctr"/>
          </a:p>
        </p:txBody>
      </p:sp>
      <p:sp>
        <p:nvSpPr>
          <p:cNvPr id="37" name="名牌20"/>
          <p:cNvSpPr txBox="1"/>
          <p:nvPr/>
        </p:nvSpPr>
        <p:spPr>
          <a:xfrm>
            <a:off x="19584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人员20</a:t>
            </a:r>
          </a:p>
          <a:p>
            <a:pPr algn="ctr"/>
            <a:r>
              <a:rPr sz="2692" b="0">
                <a:solidFill>
                  <a:srgbClr val="FFF1D6"/>
                </a:solidFill>
                <a:latin typeface="Microsoft YaHei"/>
                <a:ea typeface="微软雅黑"/>
              </a:rPr>
              <a:t>单位待补充</a:t>
            </a:r>
          </a:p>
        </p:txBody>
      </p:sp>
      <p:sp>
        <p:nvSpPr>
          <p:cNvPr id="38" name="文字框20"/>
          <p:cNvSpPr/>
          <p:nvPr/>
        </p:nvSpPr>
        <p:spPr>
          <a:xfrm>
            <a:off x="19494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39" name="文字框饰条20"/>
          <p:cNvSpPr/>
          <p:nvPr/>
        </p:nvSpPr>
        <p:spPr>
          <a:xfrm>
            <a:off x="19710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40" name="文字20"/>
          <p:cNvSpPr txBox="1"/>
          <p:nvPr/>
        </p:nvSpPr>
        <p:spPr>
          <a:xfrm>
            <a:off x="19782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41" name="热区20">
            <a:hlinkClick action="ppaction://hlinksldjump" r:id="rId6"/>
          </p:cNvPr>
          <p:cNvSpPr/>
          <p:nvPr/>
        </p:nvSpPr>
        <p:spPr>
          <a:xfrm>
            <a:off x="19494000" y="5400000"/>
            <a:ext cx="5400000" cy="11430000"/>
          </a:xfrm>
          <a:prstGeom prst="rect">
            <a:avLst/>
          </a:prstGeom>
          <a:solidFill>
            <a:srgbClr val="000000">
              <a:alpha val="0"/>
            </a:srgbClr>
          </a:solidFill>
          <a:ln>
            <a:noFill/>
          </a:ln>
        </p:spPr>
        <p:txBody>
          <a:bodyPr rtlCol="0" anchor="ctr"/>
          <a:lstStyle/>
          <a:p>
            <a:pPr algn="ctr"/>
          </a:p>
        </p:txBody>
      </p:sp>
      <p:sp>
        <p:nvSpPr>
          <p:cNvPr id="42" name="卡框21"/>
          <p:cNvSpPr/>
          <p:nvPr/>
        </p:nvSpPr>
        <p:spPr>
          <a:xfrm>
            <a:off x="25506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43" name="衬纸21"/>
          <p:cNvSpPr/>
          <p:nvPr/>
        </p:nvSpPr>
        <p:spPr>
          <a:xfrm>
            <a:off x="25596000" y="5490000"/>
            <a:ext cx="5220000" cy="3960000"/>
          </a:xfrm>
          <a:prstGeom prst="rect">
            <a:avLst/>
          </a:prstGeom>
          <a:solidFill>
            <a:srgbClr val="FFFAF0"/>
          </a:solidFill>
          <a:ln>
            <a:noFill/>
          </a:ln>
        </p:spPr>
        <p:txBody>
          <a:bodyPr rtlCol="0" anchor="ctr"/>
          <a:lstStyle/>
          <a:p>
            <a:pPr algn="ctr"/>
          </a:p>
        </p:txBody>
      </p:sp>
      <p:pic>
        <p:nvPicPr>
          <p:cNvPr id="44" name="!!p21" descr="image.jpg"/>
          <p:cNvPicPr>
            <a:picLocks noChangeAspect="1"/>
          </p:cNvPicPr>
          <p:nvPr/>
        </p:nvPicPr>
        <p:blipFill>
          <a:blip r:embed="rId2"/>
          <a:srcRect/>
          <a:stretch>
            <a:fillRect/>
          </a:stretch>
        </p:blipFill>
        <p:spPr>
          <a:xfrm>
            <a:off x="25686000" y="5580000"/>
            <a:ext cx="5040000" cy="3780000"/>
          </a:xfrm>
          <a:prstGeom prst="rect">
            <a:avLst/>
          </a:prstGeom>
        </p:spPr>
      </p:pic>
      <p:sp>
        <p:nvSpPr>
          <p:cNvPr id="45" name="名牌底21"/>
          <p:cNvSpPr/>
          <p:nvPr/>
        </p:nvSpPr>
        <p:spPr>
          <a:xfrm>
            <a:off x="25596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46" name="名牌金线21"/>
          <p:cNvSpPr/>
          <p:nvPr/>
        </p:nvSpPr>
        <p:spPr>
          <a:xfrm>
            <a:off x="25596000" y="9450000"/>
            <a:ext cx="5220000" cy="54000"/>
          </a:xfrm>
          <a:prstGeom prst="rect">
            <a:avLst/>
          </a:prstGeom>
          <a:solidFill>
            <a:srgbClr val="FFDC8C"/>
          </a:solidFill>
          <a:ln>
            <a:noFill/>
          </a:ln>
        </p:spPr>
        <p:txBody>
          <a:bodyPr rtlCol="0" anchor="ctr"/>
          <a:lstStyle/>
          <a:p>
            <a:pPr algn="ctr"/>
          </a:p>
        </p:txBody>
      </p:sp>
      <p:sp>
        <p:nvSpPr>
          <p:cNvPr id="47" name="名牌21"/>
          <p:cNvSpPr txBox="1"/>
          <p:nvPr/>
        </p:nvSpPr>
        <p:spPr>
          <a:xfrm>
            <a:off x="25596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人员21</a:t>
            </a:r>
          </a:p>
          <a:p>
            <a:pPr algn="ctr"/>
            <a:r>
              <a:rPr sz="2692" b="0">
                <a:solidFill>
                  <a:srgbClr val="FFF1D6"/>
                </a:solidFill>
                <a:latin typeface="Microsoft YaHei"/>
                <a:ea typeface="微软雅黑"/>
              </a:rPr>
              <a:t>单位待补充</a:t>
            </a:r>
          </a:p>
        </p:txBody>
      </p:sp>
      <p:sp>
        <p:nvSpPr>
          <p:cNvPr id="48" name="文字框21"/>
          <p:cNvSpPr/>
          <p:nvPr/>
        </p:nvSpPr>
        <p:spPr>
          <a:xfrm>
            <a:off x="25506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49" name="文字框饰条21"/>
          <p:cNvSpPr/>
          <p:nvPr/>
        </p:nvSpPr>
        <p:spPr>
          <a:xfrm>
            <a:off x="25722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50" name="文字21"/>
          <p:cNvSpPr txBox="1"/>
          <p:nvPr/>
        </p:nvSpPr>
        <p:spPr>
          <a:xfrm>
            <a:off x="25794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51" name="热区21">
            <a:hlinkClick action="ppaction://hlinksldjump" r:id="rId7"/>
          </p:cNvPr>
          <p:cNvSpPr/>
          <p:nvPr/>
        </p:nvSpPr>
        <p:spPr>
          <a:xfrm>
            <a:off x="25506000" y="5400000"/>
            <a:ext cx="5400000" cy="11430000"/>
          </a:xfrm>
          <a:prstGeom prst="rect">
            <a:avLst/>
          </a:prstGeom>
          <a:solidFill>
            <a:srgbClr val="000000">
              <a:alpha val="0"/>
            </a:srgbClr>
          </a:solidFill>
          <a:ln>
            <a:noFill/>
          </a:ln>
        </p:spPr>
        <p:txBody>
          <a:bodyPr rtlCol="0" anchor="ctr"/>
          <a:lstStyle/>
          <a:p>
            <a:pPr algn="ctr"/>
          </a:p>
        </p:txBody>
      </p:sp>
      <p:sp>
        <p:nvSpPr>
          <p:cNvPr id="52" name="卡框22"/>
          <p:cNvSpPr/>
          <p:nvPr/>
        </p:nvSpPr>
        <p:spPr>
          <a:xfrm>
            <a:off x="31518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53" name="衬纸22"/>
          <p:cNvSpPr/>
          <p:nvPr/>
        </p:nvSpPr>
        <p:spPr>
          <a:xfrm>
            <a:off x="31608000" y="5490000"/>
            <a:ext cx="5220000" cy="3960000"/>
          </a:xfrm>
          <a:prstGeom prst="rect">
            <a:avLst/>
          </a:prstGeom>
          <a:solidFill>
            <a:srgbClr val="FFFAF0"/>
          </a:solidFill>
          <a:ln>
            <a:noFill/>
          </a:ln>
        </p:spPr>
        <p:txBody>
          <a:bodyPr rtlCol="0" anchor="ctr"/>
          <a:lstStyle/>
          <a:p>
            <a:pPr algn="ctr"/>
          </a:p>
        </p:txBody>
      </p:sp>
      <p:pic>
        <p:nvPicPr>
          <p:cNvPr id="54" name="!!p22" descr="image.jpg"/>
          <p:cNvPicPr>
            <a:picLocks noChangeAspect="1"/>
          </p:cNvPicPr>
          <p:nvPr/>
        </p:nvPicPr>
        <p:blipFill>
          <a:blip r:embed="rId2"/>
          <a:srcRect/>
          <a:stretch>
            <a:fillRect/>
          </a:stretch>
        </p:blipFill>
        <p:spPr>
          <a:xfrm>
            <a:off x="31698000" y="5580000"/>
            <a:ext cx="5040000" cy="3780000"/>
          </a:xfrm>
          <a:prstGeom prst="rect">
            <a:avLst/>
          </a:prstGeom>
        </p:spPr>
      </p:pic>
      <p:sp>
        <p:nvSpPr>
          <p:cNvPr id="55" name="名牌底22"/>
          <p:cNvSpPr/>
          <p:nvPr/>
        </p:nvSpPr>
        <p:spPr>
          <a:xfrm>
            <a:off x="31608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56" name="名牌金线22"/>
          <p:cNvSpPr/>
          <p:nvPr/>
        </p:nvSpPr>
        <p:spPr>
          <a:xfrm>
            <a:off x="31608000" y="9450000"/>
            <a:ext cx="5220000" cy="54000"/>
          </a:xfrm>
          <a:prstGeom prst="rect">
            <a:avLst/>
          </a:prstGeom>
          <a:solidFill>
            <a:srgbClr val="FFDC8C"/>
          </a:solidFill>
          <a:ln>
            <a:noFill/>
          </a:ln>
        </p:spPr>
        <p:txBody>
          <a:bodyPr rtlCol="0" anchor="ctr"/>
          <a:lstStyle/>
          <a:p>
            <a:pPr algn="ctr"/>
          </a:p>
        </p:txBody>
      </p:sp>
      <p:sp>
        <p:nvSpPr>
          <p:cNvPr id="57" name="名牌22"/>
          <p:cNvSpPr txBox="1"/>
          <p:nvPr/>
        </p:nvSpPr>
        <p:spPr>
          <a:xfrm>
            <a:off x="31608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人员22</a:t>
            </a:r>
          </a:p>
          <a:p>
            <a:pPr algn="ctr"/>
            <a:r>
              <a:rPr sz="2692" b="0">
                <a:solidFill>
                  <a:srgbClr val="FFF1D6"/>
                </a:solidFill>
                <a:latin typeface="Microsoft YaHei"/>
                <a:ea typeface="微软雅黑"/>
              </a:rPr>
              <a:t>单位待补充</a:t>
            </a:r>
          </a:p>
        </p:txBody>
      </p:sp>
      <p:sp>
        <p:nvSpPr>
          <p:cNvPr id="58" name="文字框22"/>
          <p:cNvSpPr/>
          <p:nvPr/>
        </p:nvSpPr>
        <p:spPr>
          <a:xfrm>
            <a:off x="31518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59" name="文字框饰条22"/>
          <p:cNvSpPr/>
          <p:nvPr/>
        </p:nvSpPr>
        <p:spPr>
          <a:xfrm>
            <a:off x="31734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60" name="文字22"/>
          <p:cNvSpPr txBox="1"/>
          <p:nvPr/>
        </p:nvSpPr>
        <p:spPr>
          <a:xfrm>
            <a:off x="31806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61" name="热区22">
            <a:hlinkClick action="ppaction://hlinksldjump" r:id="rId8"/>
          </p:cNvPr>
          <p:cNvSpPr/>
          <p:nvPr/>
        </p:nvSpPr>
        <p:spPr>
          <a:xfrm>
            <a:off x="31518000" y="5400000"/>
            <a:ext cx="5400000" cy="11430000"/>
          </a:xfrm>
          <a:prstGeom prst="rect">
            <a:avLst/>
          </a:prstGeom>
          <a:solidFill>
            <a:srgbClr val="000000">
              <a:alpha val="0"/>
            </a:srgbClr>
          </a:solidFill>
          <a:ln>
            <a:noFill/>
          </a:ln>
        </p:spPr>
        <p:txBody>
          <a:bodyPr rtlCol="0" anchor="ctr"/>
          <a:lstStyle/>
          <a:p>
            <a:pPr algn="ctr"/>
          </a:p>
        </p:txBody>
      </p:sp>
      <p:sp>
        <p:nvSpPr>
          <p:cNvPr id="62" name="卡框23"/>
          <p:cNvSpPr/>
          <p:nvPr/>
        </p:nvSpPr>
        <p:spPr>
          <a:xfrm>
            <a:off x="37530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63" name="衬纸23"/>
          <p:cNvSpPr/>
          <p:nvPr/>
        </p:nvSpPr>
        <p:spPr>
          <a:xfrm>
            <a:off x="37620000" y="5490000"/>
            <a:ext cx="5220000" cy="3960000"/>
          </a:xfrm>
          <a:prstGeom prst="rect">
            <a:avLst/>
          </a:prstGeom>
          <a:solidFill>
            <a:srgbClr val="FFFAF0"/>
          </a:solidFill>
          <a:ln>
            <a:noFill/>
          </a:ln>
        </p:spPr>
        <p:txBody>
          <a:bodyPr rtlCol="0" anchor="ctr"/>
          <a:lstStyle/>
          <a:p>
            <a:pPr algn="ctr"/>
          </a:p>
        </p:txBody>
      </p:sp>
      <p:pic>
        <p:nvPicPr>
          <p:cNvPr id="64" name="!!p23" descr="image.jpg"/>
          <p:cNvPicPr>
            <a:picLocks noChangeAspect="1"/>
          </p:cNvPicPr>
          <p:nvPr/>
        </p:nvPicPr>
        <p:blipFill>
          <a:blip r:embed="rId2"/>
          <a:srcRect/>
          <a:stretch>
            <a:fillRect/>
          </a:stretch>
        </p:blipFill>
        <p:spPr>
          <a:xfrm>
            <a:off x="37710000" y="5580000"/>
            <a:ext cx="5040000" cy="3780000"/>
          </a:xfrm>
          <a:prstGeom prst="rect">
            <a:avLst/>
          </a:prstGeom>
        </p:spPr>
      </p:pic>
      <p:sp>
        <p:nvSpPr>
          <p:cNvPr id="65" name="名牌底23"/>
          <p:cNvSpPr/>
          <p:nvPr/>
        </p:nvSpPr>
        <p:spPr>
          <a:xfrm>
            <a:off x="37620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66" name="名牌金线23"/>
          <p:cNvSpPr/>
          <p:nvPr/>
        </p:nvSpPr>
        <p:spPr>
          <a:xfrm>
            <a:off x="37620000" y="9450000"/>
            <a:ext cx="5220000" cy="54000"/>
          </a:xfrm>
          <a:prstGeom prst="rect">
            <a:avLst/>
          </a:prstGeom>
          <a:solidFill>
            <a:srgbClr val="FFDC8C"/>
          </a:solidFill>
          <a:ln>
            <a:noFill/>
          </a:ln>
        </p:spPr>
        <p:txBody>
          <a:bodyPr rtlCol="0" anchor="ctr"/>
          <a:lstStyle/>
          <a:p>
            <a:pPr algn="ctr"/>
          </a:p>
        </p:txBody>
      </p:sp>
      <p:sp>
        <p:nvSpPr>
          <p:cNvPr id="67" name="名牌23"/>
          <p:cNvSpPr txBox="1"/>
          <p:nvPr/>
        </p:nvSpPr>
        <p:spPr>
          <a:xfrm>
            <a:off x="37620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人员23</a:t>
            </a:r>
          </a:p>
          <a:p>
            <a:pPr algn="ctr"/>
            <a:r>
              <a:rPr sz="2692" b="0">
                <a:solidFill>
                  <a:srgbClr val="FFF1D6"/>
                </a:solidFill>
                <a:latin typeface="Microsoft YaHei"/>
                <a:ea typeface="微软雅黑"/>
              </a:rPr>
              <a:t>单位待补充</a:t>
            </a:r>
          </a:p>
        </p:txBody>
      </p:sp>
      <p:sp>
        <p:nvSpPr>
          <p:cNvPr id="68" name="文字框23"/>
          <p:cNvSpPr/>
          <p:nvPr/>
        </p:nvSpPr>
        <p:spPr>
          <a:xfrm>
            <a:off x="37530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69" name="文字框饰条23"/>
          <p:cNvSpPr/>
          <p:nvPr/>
        </p:nvSpPr>
        <p:spPr>
          <a:xfrm>
            <a:off x="37746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70" name="文字23"/>
          <p:cNvSpPr txBox="1"/>
          <p:nvPr/>
        </p:nvSpPr>
        <p:spPr>
          <a:xfrm>
            <a:off x="37818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71" name="热区23">
            <a:hlinkClick action="ppaction://hlinksldjump" r:id="rId9"/>
          </p:cNvPr>
          <p:cNvSpPr/>
          <p:nvPr/>
        </p:nvSpPr>
        <p:spPr>
          <a:xfrm>
            <a:off x="37530000" y="5400000"/>
            <a:ext cx="5400000" cy="11430000"/>
          </a:xfrm>
          <a:prstGeom prst="rect">
            <a:avLst/>
          </a:prstGeom>
          <a:solidFill>
            <a:srgbClr val="000000">
              <a:alpha val="0"/>
            </a:srgbClr>
          </a:solidFill>
          <a:ln>
            <a:noFill/>
          </a:ln>
        </p:spPr>
        <p:txBody>
          <a:bodyPr rtlCol="0" anchor="ctr"/>
          <a:lstStyle/>
          <a:p>
            <a:pPr algn="ctr"/>
          </a:p>
        </p:txBody>
      </p:sp>
      <p:sp>
        <p:nvSpPr>
          <p:cNvPr id="72" name="卡框24"/>
          <p:cNvSpPr/>
          <p:nvPr/>
        </p:nvSpPr>
        <p:spPr>
          <a:xfrm>
            <a:off x="43542000" y="5400000"/>
            <a:ext cx="5400000" cy="5328000"/>
          </a:xfrm>
          <a:prstGeom prst="roundRect">
            <a:avLst>
              <a:gd name="adj" fmla="val 405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73" name="衬纸24"/>
          <p:cNvSpPr/>
          <p:nvPr/>
        </p:nvSpPr>
        <p:spPr>
          <a:xfrm>
            <a:off x="43632000" y="5490000"/>
            <a:ext cx="5220000" cy="3960000"/>
          </a:xfrm>
          <a:prstGeom prst="rect">
            <a:avLst/>
          </a:prstGeom>
          <a:solidFill>
            <a:srgbClr val="FFFAF0"/>
          </a:solidFill>
          <a:ln>
            <a:noFill/>
          </a:ln>
        </p:spPr>
        <p:txBody>
          <a:bodyPr rtlCol="0" anchor="ctr"/>
          <a:lstStyle/>
          <a:p>
            <a:pPr algn="ctr"/>
          </a:p>
        </p:txBody>
      </p:sp>
      <p:pic>
        <p:nvPicPr>
          <p:cNvPr id="74" name="!!p24" descr="image.jpg"/>
          <p:cNvPicPr>
            <a:picLocks noChangeAspect="1"/>
          </p:cNvPicPr>
          <p:nvPr/>
        </p:nvPicPr>
        <p:blipFill>
          <a:blip r:embed="rId2"/>
          <a:srcRect/>
          <a:stretch>
            <a:fillRect/>
          </a:stretch>
        </p:blipFill>
        <p:spPr>
          <a:xfrm>
            <a:off x="43722000" y="5580000"/>
            <a:ext cx="5040000" cy="3780000"/>
          </a:xfrm>
          <a:prstGeom prst="rect">
            <a:avLst/>
          </a:prstGeom>
        </p:spPr>
      </p:pic>
      <p:sp>
        <p:nvSpPr>
          <p:cNvPr id="75" name="名牌底24"/>
          <p:cNvSpPr/>
          <p:nvPr/>
        </p:nvSpPr>
        <p:spPr>
          <a:xfrm>
            <a:off x="43632000" y="9450000"/>
            <a:ext cx="5220000" cy="1188000"/>
          </a:xfrm>
          <a:prstGeom prst="rect">
            <a:avLst/>
          </a:prstGeom>
          <a:gradFill rotWithShape="1">
            <a:gsLst>
              <a:gs pos="0">
                <a:srgbClr val="C81A21"/>
              </a:gs>
              <a:gs pos="100000">
                <a:srgbClr val="8C0910"/>
              </a:gs>
            </a:gsLst>
            <a:lin ang="5400000" scaled="0"/>
          </a:gradFill>
          <a:ln>
            <a:noFill/>
          </a:ln>
        </p:spPr>
        <p:txBody>
          <a:bodyPr rtlCol="0" anchor="ctr"/>
          <a:lstStyle/>
          <a:p>
            <a:pPr algn="ctr"/>
          </a:p>
        </p:txBody>
      </p:sp>
      <p:sp>
        <p:nvSpPr>
          <p:cNvPr id="76" name="名牌金线24"/>
          <p:cNvSpPr/>
          <p:nvPr/>
        </p:nvSpPr>
        <p:spPr>
          <a:xfrm>
            <a:off x="43632000" y="9450000"/>
            <a:ext cx="5220000" cy="54000"/>
          </a:xfrm>
          <a:prstGeom prst="rect">
            <a:avLst/>
          </a:prstGeom>
          <a:solidFill>
            <a:srgbClr val="FFDC8C"/>
          </a:solidFill>
          <a:ln>
            <a:noFill/>
          </a:ln>
        </p:spPr>
        <p:txBody>
          <a:bodyPr rtlCol="0" anchor="ctr"/>
          <a:lstStyle/>
          <a:p>
            <a:pPr algn="ctr"/>
          </a:p>
        </p:txBody>
      </p:sp>
      <p:sp>
        <p:nvSpPr>
          <p:cNvPr id="77" name="名牌24"/>
          <p:cNvSpPr txBox="1"/>
          <p:nvPr/>
        </p:nvSpPr>
        <p:spPr>
          <a:xfrm>
            <a:off x="43632000" y="9504000"/>
            <a:ext cx="5220000" cy="1134000"/>
          </a:xfrm>
          <a:prstGeom prst="rect">
            <a:avLst/>
          </a:prstGeom>
          <a:noFill/>
        </p:spPr>
        <p:txBody>
          <a:bodyPr wrap="square" lIns="0" rIns="0" tIns="0" bIns="0" anchor="ctr">
            <a:noAutofit/>
          </a:bodyPr>
          <a:lstStyle/>
          <a:p>
            <a:pPr algn="ctr"/>
            <a:r>
              <a:rPr sz="4535" b="1">
                <a:solidFill>
                  <a:srgbClr val="FFD27A"/>
                </a:solidFill>
                <a:latin typeface="Microsoft YaHei"/>
                <a:ea typeface="微软雅黑"/>
              </a:rPr>
              <a:t>人员24</a:t>
            </a:r>
          </a:p>
          <a:p>
            <a:pPr algn="ctr"/>
            <a:r>
              <a:rPr sz="2692" b="0">
                <a:solidFill>
                  <a:srgbClr val="FFF1D6"/>
                </a:solidFill>
                <a:latin typeface="Microsoft YaHei"/>
                <a:ea typeface="微软雅黑"/>
              </a:rPr>
              <a:t>单位待补充</a:t>
            </a:r>
          </a:p>
        </p:txBody>
      </p:sp>
      <p:sp>
        <p:nvSpPr>
          <p:cNvPr id="78" name="文字框24"/>
          <p:cNvSpPr/>
          <p:nvPr/>
        </p:nvSpPr>
        <p:spPr>
          <a:xfrm>
            <a:off x="43542000" y="10980000"/>
            <a:ext cx="5400000" cy="5850000"/>
          </a:xfrm>
          <a:prstGeom prst="roundRect">
            <a:avLst>
              <a:gd name="adj" fmla="val 4000"/>
            </a:avLst>
          </a:prstGeom>
          <a:gradFill rotWithShape="1">
            <a:gsLst>
              <a:gs pos="0">
                <a:srgbClr val="FFFDF7"/>
              </a:gs>
              <a:gs pos="100000">
                <a:srgbClr val="FBF1DC"/>
              </a:gs>
            </a:gsLst>
            <a:lin ang="5400000" scaled="0"/>
          </a:gradFill>
          <a:ln w="36000">
            <a:solidFill>
              <a:srgbClr val="E9C46A"/>
            </a:solidFill>
          </a:ln>
        </p:spPr>
        <p:txBody>
          <a:bodyPr rtlCol="0" anchor="ctr"/>
          <a:lstStyle/>
          <a:p>
            <a:pPr algn="ctr"/>
          </a:p>
        </p:txBody>
      </p:sp>
      <p:sp>
        <p:nvSpPr>
          <p:cNvPr id="79" name="文字框饰条24"/>
          <p:cNvSpPr/>
          <p:nvPr/>
        </p:nvSpPr>
        <p:spPr>
          <a:xfrm>
            <a:off x="43758000" y="16578000"/>
            <a:ext cx="4968000" cy="90000"/>
          </a:xfrm>
          <a:prstGeom prst="rect">
            <a:avLst/>
          </a:prstGeom>
          <a:gradFill rotWithShape="1">
            <a:gsLst>
              <a:gs pos="0">
                <a:srgbClr val="C8161D"/>
              </a:gs>
              <a:gs pos="60000">
                <a:srgbClr val="E0A43A"/>
              </a:gs>
              <a:gs pos="100000">
                <a:srgbClr val="FFD27A"/>
              </a:gs>
            </a:gsLst>
            <a:lin ang="0" scaled="0"/>
          </a:gradFill>
          <a:ln>
            <a:noFill/>
          </a:ln>
        </p:spPr>
        <p:txBody>
          <a:bodyPr rtlCol="0" anchor="ctr"/>
          <a:lstStyle/>
          <a:p>
            <a:pPr algn="ctr"/>
          </a:p>
        </p:txBody>
      </p:sp>
      <p:sp>
        <p:nvSpPr>
          <p:cNvPr id="80" name="文字24"/>
          <p:cNvSpPr txBox="1"/>
          <p:nvPr/>
        </p:nvSpPr>
        <p:spPr>
          <a:xfrm>
            <a:off x="43830000" y="11232000"/>
            <a:ext cx="4824000" cy="5130000"/>
          </a:xfrm>
          <a:prstGeom prst="rect">
            <a:avLst/>
          </a:prstGeom>
          <a:noFill/>
        </p:spPr>
        <p:txBody>
          <a:bodyPr wrap="square" lIns="0" rIns="0" tIns="0" bIns="0" anchor="ctr">
            <a:noAutofit/>
          </a:bodyPr>
          <a:lstStyle/>
          <a:p>
            <a:pPr algn="ctr">
              <a:lnSpc>
                <a:spcPts val="4677"/>
              </a:lnSpc>
            </a:pPr>
            <a:r>
              <a:rPr sz="3118" b="0">
                <a:solidFill>
                  <a:srgbClr val="3A2A1A"/>
                </a:solidFill>
                <a:latin typeface="Microsoft YaHei"/>
                <a:ea typeface="微软雅黑"/>
              </a:rPr>
              <a:t>正面行为介绍待补充。</a:t>
            </a:r>
          </a:p>
        </p:txBody>
      </p:sp>
      <p:sp>
        <p:nvSpPr>
          <p:cNvPr id="81" name="热区24">
            <a:hlinkClick action="ppaction://hlinksldjump" r:id="rId10"/>
          </p:cNvPr>
          <p:cNvSpPr/>
          <p:nvPr/>
        </p:nvSpPr>
        <p:spPr>
          <a:xfrm>
            <a:off x="43542000" y="5400000"/>
            <a:ext cx="5400000" cy="11430000"/>
          </a:xfrm>
          <a:prstGeom prst="rect">
            <a:avLst/>
          </a:prstGeom>
          <a:solidFill>
            <a:srgbClr val="000000">
              <a:alpha val="0"/>
            </a:srgbClr>
          </a:solidFill>
          <a:ln>
            <a:noFill/>
          </a:ln>
        </p:spPr>
        <p:txBody>
          <a:bodyPr rtlCol="0" anchor="ctr"/>
          <a:lstStyle/>
          <a:p>
            <a:pPr algn="ctr"/>
          </a:p>
        </p:txBody>
      </p:sp>
      <p:sp>
        <p:nvSpPr>
          <p:cNvPr id="82" name="上一页底"/>
          <p:cNvSpPr/>
          <p:nvPr/>
        </p:nvSpPr>
        <p:spPr>
          <a:xfrm>
            <a:off x="720000" y="17028000"/>
            <a:ext cx="3060000" cy="792000"/>
          </a:xfrm>
          <a:prstGeom prst="roundRect">
            <a:avLst>
              <a:gd name="adj" fmla="val 50000"/>
            </a:avLst>
          </a:prstGeom>
          <a:solidFill>
            <a:srgbClr val="3A0306">
              <a:alpha val="55000"/>
            </a:srgbClr>
          </a:solidFill>
          <a:ln w="36000">
            <a:solidFill>
              <a:srgbClr val="FFD27A"/>
            </a:solidFill>
          </a:ln>
        </p:spPr>
        <p:txBody>
          <a:bodyPr rtlCol="0" anchor="ctr"/>
          <a:lstStyle/>
          <a:p>
            <a:pPr algn="ctr"/>
          </a:p>
        </p:txBody>
      </p:sp>
      <p:sp>
        <p:nvSpPr>
          <p:cNvPr id="83" name="上一页字"/>
          <p:cNvSpPr txBox="1"/>
          <p:nvPr/>
        </p:nvSpPr>
        <p:spPr>
          <a:xfrm>
            <a:off x="720000" y="17028000"/>
            <a:ext cx="3060000" cy="792000"/>
          </a:xfrm>
          <a:prstGeom prst="rect">
            <a:avLst/>
          </a:prstGeom>
          <a:noFill/>
        </p:spPr>
        <p:txBody>
          <a:bodyPr wrap="square" lIns="0" rIns="0" tIns="0" bIns="0" anchor="ctr">
            <a:noAutofit/>
          </a:bodyPr>
          <a:lstStyle/>
          <a:p>
            <a:pPr algn="ctr"/>
            <a:r>
              <a:rPr sz="3401" b="0" spc="340">
                <a:solidFill>
                  <a:srgbClr val="FFD27A"/>
                </a:solidFill>
                <a:latin typeface="Microsoft YaHei"/>
                <a:ea typeface="微软雅黑"/>
              </a:rPr>
              <a:t>‹ 上一页</a:t>
            </a:r>
          </a:p>
        </p:txBody>
      </p:sp>
      <p:sp>
        <p:nvSpPr>
          <p:cNvPr id="84" name="上一页">
            <a:hlinkClick action="ppaction://hlinksldjump" r:id="rId11"/>
          </p:cNvPr>
          <p:cNvSpPr/>
          <p:nvPr/>
        </p:nvSpPr>
        <p:spPr>
          <a:xfrm>
            <a:off x="720000" y="17028000"/>
            <a:ext cx="3060000" cy="792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7"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7"/>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7"/>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7"/>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7"/>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人员17</a:t>
            </a:r>
          </a:p>
        </p:txBody>
      </p:sp>
      <p:sp>
        <p:nvSpPr>
          <p:cNvPr id="29" name="分隔左17"/>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7"/>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7"/>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7"/>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7"/>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7"/>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7"/>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7"/>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7"/>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7"/>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7"/>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7">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8"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8"/>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8"/>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8"/>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8"/>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人员18</a:t>
            </a:r>
          </a:p>
        </p:txBody>
      </p:sp>
      <p:sp>
        <p:nvSpPr>
          <p:cNvPr id="29" name="分隔左18"/>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8"/>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8"/>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8"/>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8"/>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8"/>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8"/>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8"/>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8"/>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8"/>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8"/>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8">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19"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19"/>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19"/>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19"/>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19"/>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人员19</a:t>
            </a:r>
          </a:p>
        </p:txBody>
      </p:sp>
      <p:sp>
        <p:nvSpPr>
          <p:cNvPr id="29" name="分隔左19"/>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19"/>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19"/>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19"/>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19"/>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19"/>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19"/>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19"/>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19"/>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19"/>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19"/>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19">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0"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20"/>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0"/>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0"/>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0"/>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人员20</a:t>
            </a:r>
          </a:p>
        </p:txBody>
      </p:sp>
      <p:sp>
        <p:nvSpPr>
          <p:cNvPr id="29" name="分隔左20"/>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0"/>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0"/>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20"/>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0"/>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20"/>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20"/>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20"/>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20"/>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20"/>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20"/>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20">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1"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21"/>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1"/>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1"/>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1"/>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人员21</a:t>
            </a:r>
          </a:p>
        </p:txBody>
      </p:sp>
      <p:sp>
        <p:nvSpPr>
          <p:cNvPr id="29" name="分隔左21"/>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1"/>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1"/>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21"/>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1"/>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21"/>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21"/>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21"/>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21"/>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21"/>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21"/>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21">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2"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22"/>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2"/>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2"/>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2"/>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人员22</a:t>
            </a:r>
          </a:p>
        </p:txBody>
      </p:sp>
      <p:sp>
        <p:nvSpPr>
          <p:cNvPr id="29" name="分隔左22"/>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2"/>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2"/>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22"/>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2"/>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22"/>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22"/>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22"/>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22"/>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22"/>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22"/>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22">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3"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23"/>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3"/>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3"/>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3"/>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人员23</a:t>
            </a:r>
          </a:p>
        </p:txBody>
      </p:sp>
      <p:sp>
        <p:nvSpPr>
          <p:cNvPr id="29" name="分隔左23"/>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3"/>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3"/>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23"/>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3"/>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23"/>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23"/>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23"/>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23"/>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23"/>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23"/>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23">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m"/>
          <p:cNvSpPr/>
          <p:nvPr/>
        </p:nvSpPr>
        <p:spPr>
          <a:xfrm>
            <a:off x="0" y="0"/>
            <a:ext cx="50400000" cy="18000000"/>
          </a:xfrm>
          <a:prstGeom prst="rect">
            <a:avLst/>
          </a:prstGeom>
          <a:solidFill>
            <a:srgbClr val="1E0003">
              <a:alpha val="82000"/>
            </a:srgbClr>
          </a:solidFill>
          <a:ln>
            <a:noFill/>
          </a:ln>
        </p:spPr>
        <p:txBody>
          <a:bodyPr rtlCol="0" anchor="ctr"/>
          <a:lstStyle/>
          <a:p>
            <a:pPr algn="ctr"/>
          </a:p>
        </p:txBody>
      </p:sp>
      <p:sp>
        <p:nvSpPr>
          <p:cNvPr id="3" name="!!board"/>
          <p:cNvSpPr/>
          <p:nvPr/>
        </p:nvSpPr>
        <p:spPr>
          <a:xfrm>
            <a:off x="1260000" y="3024000"/>
            <a:ext cx="47880000" cy="11952000"/>
          </a:xfrm>
          <a:prstGeom prst="roundRect">
            <a:avLst>
              <a:gd name="adj" fmla="val 4518"/>
            </a:avLst>
          </a:prstGeom>
          <a:gradFill rotWithShape="1">
            <a:gsLst>
              <a:gs pos="0">
                <a:srgbClr val="A3121A"/>
              </a:gs>
              <a:gs pos="58000">
                <a:srgbClr val="7C0A11"/>
              </a:gs>
              <a:gs pos="100000">
                <a:srgbClr val="5A050A"/>
              </a:gs>
            </a:gsLst>
            <a:lin ang="5400000" scaled="0"/>
          </a:gradFill>
          <a:ln w="45000">
            <a:solidFill>
              <a:srgbClr val="FFD682"/>
            </a:solidFill>
          </a:ln>
        </p:spPr>
        <p:txBody>
          <a:bodyPr rtlCol="0" anchor="ctr"/>
          <a:lstStyle/>
          <a:p>
            <a:pPr algn="ctr"/>
          </a:p>
        </p:txBody>
      </p:sp>
      <p:sp>
        <p:nvSpPr>
          <p:cNvPr id="4" name="!!boardLine"/>
          <p:cNvSpPr/>
          <p:nvPr/>
        </p:nvSpPr>
        <p:spPr>
          <a:xfrm>
            <a:off x="1584000" y="3348000"/>
            <a:ext cx="47232000" cy="11304000"/>
          </a:xfrm>
          <a:prstGeom prst="roundRect">
            <a:avLst>
              <a:gd name="adj" fmla="val 3184"/>
            </a:avLst>
          </a:prstGeom>
          <a:noFill/>
          <a:ln w="27000">
            <a:solidFill>
              <a:srgbClr val="C9A260"/>
            </a:solidFill>
          </a:ln>
        </p:spPr>
        <p:txBody>
          <a:bodyPr rtlCol="0" anchor="ctr"/>
          <a:lstStyle/>
          <a:p>
            <a:pPr algn="ctr"/>
          </a:p>
        </p:txBody>
      </p:sp>
      <p:sp>
        <p:nvSpPr>
          <p:cNvPr id="5" name="!!角横tl"/>
          <p:cNvSpPr/>
          <p:nvPr/>
        </p:nvSpPr>
        <p:spPr>
          <a:xfrm>
            <a:off x="1404000" y="3168000"/>
            <a:ext cx="1440000" cy="72000"/>
          </a:xfrm>
          <a:prstGeom prst="rect">
            <a:avLst/>
          </a:prstGeom>
          <a:solidFill>
            <a:srgbClr val="FFD27A"/>
          </a:solidFill>
          <a:ln>
            <a:noFill/>
          </a:ln>
        </p:spPr>
        <p:txBody>
          <a:bodyPr rtlCol="0" anchor="ctr"/>
          <a:lstStyle/>
          <a:p>
            <a:pPr algn="ctr"/>
          </a:p>
        </p:txBody>
      </p:sp>
      <p:sp>
        <p:nvSpPr>
          <p:cNvPr id="6" name="!!角竖tl"/>
          <p:cNvSpPr/>
          <p:nvPr/>
        </p:nvSpPr>
        <p:spPr>
          <a:xfrm>
            <a:off x="1404000" y="3168000"/>
            <a:ext cx="72000" cy="1440000"/>
          </a:xfrm>
          <a:prstGeom prst="rect">
            <a:avLst/>
          </a:prstGeom>
          <a:solidFill>
            <a:srgbClr val="FFD27A"/>
          </a:solidFill>
          <a:ln>
            <a:noFill/>
          </a:ln>
        </p:spPr>
        <p:txBody>
          <a:bodyPr rtlCol="0" anchor="ctr"/>
          <a:lstStyle/>
          <a:p>
            <a:pPr algn="ctr"/>
          </a:p>
        </p:txBody>
      </p:sp>
      <p:sp>
        <p:nvSpPr>
          <p:cNvPr id="7" name="!!角菱tl"/>
          <p:cNvSpPr/>
          <p:nvPr/>
        </p:nvSpPr>
        <p:spPr>
          <a:xfrm>
            <a:off x="1728000" y="3492000"/>
            <a:ext cx="288000" cy="288000"/>
          </a:xfrm>
          <a:prstGeom prst="diamond">
            <a:avLst/>
          </a:prstGeom>
          <a:solidFill>
            <a:srgbClr val="FFD27A"/>
          </a:solidFill>
          <a:ln>
            <a:noFill/>
          </a:ln>
        </p:spPr>
        <p:txBody>
          <a:bodyPr rtlCol="0" anchor="ctr"/>
          <a:lstStyle/>
          <a:p>
            <a:pPr algn="ctr"/>
          </a:p>
        </p:txBody>
      </p:sp>
      <p:sp>
        <p:nvSpPr>
          <p:cNvPr id="8" name="!!角横tr"/>
          <p:cNvSpPr/>
          <p:nvPr/>
        </p:nvSpPr>
        <p:spPr>
          <a:xfrm>
            <a:off x="47556000" y="3168000"/>
            <a:ext cx="1440000" cy="72000"/>
          </a:xfrm>
          <a:prstGeom prst="rect">
            <a:avLst/>
          </a:prstGeom>
          <a:solidFill>
            <a:srgbClr val="FFD27A"/>
          </a:solidFill>
          <a:ln>
            <a:noFill/>
          </a:ln>
        </p:spPr>
        <p:txBody>
          <a:bodyPr rtlCol="0" anchor="ctr"/>
          <a:lstStyle/>
          <a:p>
            <a:pPr algn="ctr"/>
          </a:p>
        </p:txBody>
      </p:sp>
      <p:sp>
        <p:nvSpPr>
          <p:cNvPr id="9" name="!!角竖tr"/>
          <p:cNvSpPr/>
          <p:nvPr/>
        </p:nvSpPr>
        <p:spPr>
          <a:xfrm>
            <a:off x="48924000" y="3168000"/>
            <a:ext cx="72000" cy="1440000"/>
          </a:xfrm>
          <a:prstGeom prst="rect">
            <a:avLst/>
          </a:prstGeom>
          <a:solidFill>
            <a:srgbClr val="FFD27A"/>
          </a:solidFill>
          <a:ln>
            <a:noFill/>
          </a:ln>
        </p:spPr>
        <p:txBody>
          <a:bodyPr rtlCol="0" anchor="ctr"/>
          <a:lstStyle/>
          <a:p>
            <a:pPr algn="ctr"/>
          </a:p>
        </p:txBody>
      </p:sp>
      <p:sp>
        <p:nvSpPr>
          <p:cNvPr id="10" name="!!角菱tr"/>
          <p:cNvSpPr/>
          <p:nvPr/>
        </p:nvSpPr>
        <p:spPr>
          <a:xfrm>
            <a:off x="48384000" y="3492000"/>
            <a:ext cx="288000" cy="288000"/>
          </a:xfrm>
          <a:prstGeom prst="diamond">
            <a:avLst/>
          </a:prstGeom>
          <a:solidFill>
            <a:srgbClr val="FFD27A"/>
          </a:solidFill>
          <a:ln>
            <a:noFill/>
          </a:ln>
        </p:spPr>
        <p:txBody>
          <a:bodyPr rtlCol="0" anchor="ctr"/>
          <a:lstStyle/>
          <a:p>
            <a:pPr algn="ctr"/>
          </a:p>
        </p:txBody>
      </p:sp>
      <p:sp>
        <p:nvSpPr>
          <p:cNvPr id="11" name="!!角横bl"/>
          <p:cNvSpPr/>
          <p:nvPr/>
        </p:nvSpPr>
        <p:spPr>
          <a:xfrm>
            <a:off x="1404000" y="14760000"/>
            <a:ext cx="1440000" cy="72000"/>
          </a:xfrm>
          <a:prstGeom prst="rect">
            <a:avLst/>
          </a:prstGeom>
          <a:solidFill>
            <a:srgbClr val="FFD27A"/>
          </a:solidFill>
          <a:ln>
            <a:noFill/>
          </a:ln>
        </p:spPr>
        <p:txBody>
          <a:bodyPr rtlCol="0" anchor="ctr"/>
          <a:lstStyle/>
          <a:p>
            <a:pPr algn="ctr"/>
          </a:p>
        </p:txBody>
      </p:sp>
      <p:sp>
        <p:nvSpPr>
          <p:cNvPr id="12" name="!!角竖bl"/>
          <p:cNvSpPr/>
          <p:nvPr/>
        </p:nvSpPr>
        <p:spPr>
          <a:xfrm>
            <a:off x="1404000" y="13392000"/>
            <a:ext cx="72000" cy="1440000"/>
          </a:xfrm>
          <a:prstGeom prst="rect">
            <a:avLst/>
          </a:prstGeom>
          <a:solidFill>
            <a:srgbClr val="FFD27A"/>
          </a:solidFill>
          <a:ln>
            <a:noFill/>
          </a:ln>
        </p:spPr>
        <p:txBody>
          <a:bodyPr rtlCol="0" anchor="ctr"/>
          <a:lstStyle/>
          <a:p>
            <a:pPr algn="ctr"/>
          </a:p>
        </p:txBody>
      </p:sp>
      <p:sp>
        <p:nvSpPr>
          <p:cNvPr id="13" name="!!角菱bl"/>
          <p:cNvSpPr/>
          <p:nvPr/>
        </p:nvSpPr>
        <p:spPr>
          <a:xfrm>
            <a:off x="1728000" y="14220000"/>
            <a:ext cx="288000" cy="288000"/>
          </a:xfrm>
          <a:prstGeom prst="diamond">
            <a:avLst/>
          </a:prstGeom>
          <a:solidFill>
            <a:srgbClr val="FFD27A"/>
          </a:solidFill>
          <a:ln>
            <a:noFill/>
          </a:ln>
        </p:spPr>
        <p:txBody>
          <a:bodyPr rtlCol="0" anchor="ctr"/>
          <a:lstStyle/>
          <a:p>
            <a:pPr algn="ctr"/>
          </a:p>
        </p:txBody>
      </p:sp>
      <p:sp>
        <p:nvSpPr>
          <p:cNvPr id="14" name="!!角横br"/>
          <p:cNvSpPr/>
          <p:nvPr/>
        </p:nvSpPr>
        <p:spPr>
          <a:xfrm>
            <a:off x="47556000" y="14760000"/>
            <a:ext cx="1440000" cy="72000"/>
          </a:xfrm>
          <a:prstGeom prst="rect">
            <a:avLst/>
          </a:prstGeom>
          <a:solidFill>
            <a:srgbClr val="FFD27A"/>
          </a:solidFill>
          <a:ln>
            <a:noFill/>
          </a:ln>
        </p:spPr>
        <p:txBody>
          <a:bodyPr rtlCol="0" anchor="ctr"/>
          <a:lstStyle/>
          <a:p>
            <a:pPr algn="ctr"/>
          </a:p>
        </p:txBody>
      </p:sp>
      <p:sp>
        <p:nvSpPr>
          <p:cNvPr id="15" name="!!角竖br"/>
          <p:cNvSpPr/>
          <p:nvPr/>
        </p:nvSpPr>
        <p:spPr>
          <a:xfrm>
            <a:off x="48924000" y="13392000"/>
            <a:ext cx="72000" cy="1440000"/>
          </a:xfrm>
          <a:prstGeom prst="rect">
            <a:avLst/>
          </a:prstGeom>
          <a:solidFill>
            <a:srgbClr val="FFD27A"/>
          </a:solidFill>
          <a:ln>
            <a:noFill/>
          </a:ln>
        </p:spPr>
        <p:txBody>
          <a:bodyPr rtlCol="0" anchor="ctr"/>
          <a:lstStyle/>
          <a:p>
            <a:pPr algn="ctr"/>
          </a:p>
        </p:txBody>
      </p:sp>
      <p:sp>
        <p:nvSpPr>
          <p:cNvPr id="16" name="!!角菱br"/>
          <p:cNvSpPr/>
          <p:nvPr/>
        </p:nvSpPr>
        <p:spPr>
          <a:xfrm>
            <a:off x="48384000" y="14220000"/>
            <a:ext cx="288000" cy="288000"/>
          </a:xfrm>
          <a:prstGeom prst="diamond">
            <a:avLst/>
          </a:prstGeom>
          <a:solidFill>
            <a:srgbClr val="FFD27A"/>
          </a:solidFill>
          <a:ln>
            <a:noFill/>
          </a:ln>
        </p:spPr>
        <p:txBody>
          <a:bodyPr rtlCol="0" anchor="ctr"/>
          <a:lstStyle/>
          <a:p>
            <a:pPr algn="ctr"/>
          </a:p>
        </p:txBody>
      </p:sp>
      <p:sp>
        <p:nvSpPr>
          <p:cNvPr id="17" name="!!frameEdge"/>
          <p:cNvSpPr/>
          <p:nvPr/>
        </p:nvSpPr>
        <p:spPr>
          <a:xfrm>
            <a:off x="16146000" y="2070000"/>
            <a:ext cx="18108000" cy="13860000"/>
          </a:xfrm>
          <a:prstGeom prst="roundRect">
            <a:avLst>
              <a:gd name="adj" fmla="val 2337"/>
            </a:avLst>
          </a:prstGeom>
          <a:solidFill>
            <a:srgbClr val="7A4A0C"/>
          </a:solidFill>
          <a:ln>
            <a:noFill/>
          </a:ln>
        </p:spPr>
        <p:txBody>
          <a:bodyPr rtlCol="0" anchor="ctr"/>
          <a:lstStyle/>
          <a:p>
            <a:pPr algn="ctr"/>
          </a:p>
        </p:txBody>
      </p:sp>
      <p:sp>
        <p:nvSpPr>
          <p:cNvPr id="18" name="!!frame"/>
          <p:cNvSpPr/>
          <p:nvPr/>
        </p:nvSpPr>
        <p:spPr>
          <a:xfrm>
            <a:off x="16200000" y="2124000"/>
            <a:ext cx="18000000" cy="13752000"/>
          </a:xfrm>
          <a:prstGeom prst="roundRect">
            <a:avLst>
              <a:gd name="adj" fmla="val 2094"/>
            </a:avLst>
          </a:prstGeom>
          <a:gradFill rotWithShape="1">
            <a:gsLst>
              <a:gs pos="0">
                <a:srgbClr val="FFF4C8"/>
              </a:gs>
              <a:gs pos="22000">
                <a:srgbClr val="D9A03E"/>
              </a:gs>
              <a:gs pos="46000">
                <a:srgbClr val="FFF1C0"/>
              </a:gs>
              <a:gs pos="70000">
                <a:srgbClr val="B9822A"/>
              </a:gs>
              <a:gs pos="100000">
                <a:srgbClr val="FFE7A8"/>
              </a:gs>
            </a:gsLst>
            <a:lin ang="2700000" scaled="0"/>
          </a:gradFill>
          <a:ln>
            <a:noFill/>
          </a:ln>
        </p:spPr>
        <p:txBody>
          <a:bodyPr rtlCol="0" anchor="ctr"/>
          <a:lstStyle/>
          <a:p>
            <a:pPr algn="ctr"/>
          </a:p>
        </p:txBody>
      </p:sp>
      <p:sp>
        <p:nvSpPr>
          <p:cNvPr id="19" name="!!mat"/>
          <p:cNvSpPr/>
          <p:nvPr/>
        </p:nvSpPr>
        <p:spPr>
          <a:xfrm>
            <a:off x="16452000" y="2376000"/>
            <a:ext cx="17496000" cy="13248000"/>
          </a:xfrm>
          <a:prstGeom prst="rect">
            <a:avLst/>
          </a:prstGeom>
          <a:gradFill rotWithShape="1">
            <a:gsLst>
              <a:gs pos="0">
                <a:srgbClr val="FFFDF6"/>
              </a:gs>
              <a:gs pos="100000">
                <a:srgbClr val="F6EAD0"/>
              </a:gs>
            </a:gsLst>
            <a:lin ang="5400000" scaled="0"/>
          </a:gradFill>
          <a:ln w="36000">
            <a:solidFill>
              <a:srgbClr val="96641E"/>
            </a:solidFill>
          </a:ln>
        </p:spPr>
        <p:txBody>
          <a:bodyPr rtlCol="0" anchor="ctr"/>
          <a:lstStyle/>
          <a:p>
            <a:pPr algn="ctr"/>
          </a:p>
        </p:txBody>
      </p:sp>
      <p:pic>
        <p:nvPicPr>
          <p:cNvPr id="20" name="!!p24" descr="image.jpg"/>
          <p:cNvPicPr>
            <a:picLocks noChangeAspect="1"/>
          </p:cNvPicPr>
          <p:nvPr/>
        </p:nvPicPr>
        <p:blipFill>
          <a:blip r:embed="rId2"/>
          <a:stretch>
            <a:fillRect/>
          </a:stretch>
        </p:blipFill>
        <p:spPr>
          <a:xfrm>
            <a:off x="16704000" y="2628000"/>
            <a:ext cx="16992000" cy="12744000"/>
          </a:xfrm>
          <a:prstGeom prst="rect">
            <a:avLst/>
          </a:prstGeom>
          <a:ln w="36000">
            <a:solidFill>
              <a:srgbClr val="C99A3C"/>
            </a:solidFill>
          </a:ln>
        </p:spPr>
      </p:pic>
      <p:sp>
        <p:nvSpPr>
          <p:cNvPr id="21" name="!!框菱tl"/>
          <p:cNvSpPr/>
          <p:nvPr/>
        </p:nvSpPr>
        <p:spPr>
          <a:xfrm>
            <a:off x="15966000" y="1890000"/>
            <a:ext cx="468000" cy="468000"/>
          </a:xfrm>
          <a:prstGeom prst="diamond">
            <a:avLst/>
          </a:prstGeom>
          <a:solidFill>
            <a:srgbClr val="C8161D"/>
          </a:solidFill>
          <a:ln>
            <a:noFill/>
          </a:ln>
        </p:spPr>
        <p:txBody>
          <a:bodyPr rtlCol="0" anchor="ctr"/>
          <a:lstStyle/>
          <a:p>
            <a:pPr algn="ctr"/>
          </a:p>
        </p:txBody>
      </p:sp>
      <p:sp>
        <p:nvSpPr>
          <p:cNvPr id="22" name="!!框菱tr"/>
          <p:cNvSpPr/>
          <p:nvPr/>
        </p:nvSpPr>
        <p:spPr>
          <a:xfrm>
            <a:off x="33966000" y="1890000"/>
            <a:ext cx="468000" cy="468000"/>
          </a:xfrm>
          <a:prstGeom prst="diamond">
            <a:avLst/>
          </a:prstGeom>
          <a:solidFill>
            <a:srgbClr val="C8161D"/>
          </a:solidFill>
          <a:ln>
            <a:noFill/>
          </a:ln>
        </p:spPr>
        <p:txBody>
          <a:bodyPr rtlCol="0" anchor="ctr"/>
          <a:lstStyle/>
          <a:p>
            <a:pPr algn="ctr"/>
          </a:p>
        </p:txBody>
      </p:sp>
      <p:sp>
        <p:nvSpPr>
          <p:cNvPr id="23" name="!!框菱bl"/>
          <p:cNvSpPr/>
          <p:nvPr/>
        </p:nvSpPr>
        <p:spPr>
          <a:xfrm>
            <a:off x="15966000" y="15642000"/>
            <a:ext cx="468000" cy="468000"/>
          </a:xfrm>
          <a:prstGeom prst="diamond">
            <a:avLst/>
          </a:prstGeom>
          <a:solidFill>
            <a:srgbClr val="C8161D"/>
          </a:solidFill>
          <a:ln>
            <a:noFill/>
          </a:ln>
        </p:spPr>
        <p:txBody>
          <a:bodyPr rtlCol="0" anchor="ctr"/>
          <a:lstStyle/>
          <a:p>
            <a:pPr algn="ctr"/>
          </a:p>
        </p:txBody>
      </p:sp>
      <p:sp>
        <p:nvSpPr>
          <p:cNvPr id="24" name="!!框菱br"/>
          <p:cNvSpPr/>
          <p:nvPr/>
        </p:nvSpPr>
        <p:spPr>
          <a:xfrm>
            <a:off x="33966000" y="15642000"/>
            <a:ext cx="468000" cy="468000"/>
          </a:xfrm>
          <a:prstGeom prst="diamond">
            <a:avLst/>
          </a:prstGeom>
          <a:solidFill>
            <a:srgbClr val="C8161D"/>
          </a:solidFill>
          <a:ln>
            <a:noFill/>
          </a:ln>
        </p:spPr>
        <p:txBody>
          <a:bodyPr rtlCol="0" anchor="ctr"/>
          <a:lstStyle/>
          <a:p>
            <a:pPr algn="ctr"/>
          </a:p>
        </p:txBody>
      </p:sp>
      <p:sp>
        <p:nvSpPr>
          <p:cNvPr id="25" name="标语24"/>
          <p:cNvSpPr txBox="1"/>
          <p:nvPr/>
        </p:nvSpPr>
        <p:spPr>
          <a:xfrm>
            <a:off x="4453200" y="5130000"/>
            <a:ext cx="8784000" cy="1008000"/>
          </a:xfrm>
          <a:prstGeom prst="rect">
            <a:avLst/>
          </a:prstGeom>
          <a:noFill/>
        </p:spPr>
        <p:txBody>
          <a:bodyPr wrap="square" lIns="0" rIns="0" tIns="0" bIns="0" anchor="ctr">
            <a:noAutofit/>
          </a:bodyPr>
          <a:lstStyle/>
          <a:p>
            <a:pPr algn="ctr"/>
            <a:r>
              <a:rPr sz="5669" b="0" spc="1814">
                <a:solidFill>
                  <a:srgbClr val="FFD27A"/>
                </a:solidFill>
                <a:latin typeface="Microsoft YaHei"/>
                <a:ea typeface="微软雅黑"/>
              </a:rPr>
              <a:t>我为核安全文化代言</a:t>
            </a:r>
          </a:p>
        </p:txBody>
      </p:sp>
      <p:sp>
        <p:nvSpPr>
          <p:cNvPr id="26" name="标语线左24"/>
          <p:cNvSpPr/>
          <p:nvPr/>
        </p:nvSpPr>
        <p:spPr>
          <a:xfrm>
            <a:off x="2581200" y="5634000"/>
            <a:ext cx="144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27" name="标语线右24"/>
          <p:cNvSpPr/>
          <p:nvPr/>
        </p:nvSpPr>
        <p:spPr>
          <a:xfrm>
            <a:off x="13438800" y="5634000"/>
            <a:ext cx="144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28" name="姓名24"/>
          <p:cNvSpPr txBox="1"/>
          <p:nvPr/>
        </p:nvSpPr>
        <p:spPr>
          <a:xfrm>
            <a:off x="1800000" y="6390000"/>
            <a:ext cx="14263200" cy="3513600"/>
          </a:xfrm>
          <a:prstGeom prst="rect">
            <a:avLst/>
          </a:prstGeom>
          <a:noFill/>
        </p:spPr>
        <p:txBody>
          <a:bodyPr wrap="square" lIns="0" rIns="0" tIns="0" bIns="0" anchor="ctr">
            <a:noAutofit/>
          </a:bodyPr>
          <a:lstStyle/>
          <a:p>
            <a:pPr algn="ctr"/>
            <a:r>
              <a:rPr sz="22677" b="1" spc="3174">
                <a:gradFill rotWithShape="1">
                  <a:gsLst>
                    <a:gs pos="0">
                      <a:srgbClr val="FFF8DC"/>
                    </a:gs>
                    <a:gs pos="46000">
                      <a:srgbClr val="FFE39A"/>
                    </a:gs>
                    <a:gs pos="100000">
                      <a:srgbClr val="E0A43A"/>
                    </a:gs>
                  </a:gsLst>
                  <a:lin ang="5400000" scaled="0"/>
                </a:gradFill>
                <a:effectLst>
                  <a:outerShdw blurRad="288000" dist="108000" dir="5400000" algn="t" rotWithShape="0">
                    <a:srgbClr val="000000">
                      <a:alpha val="50000"/>
                    </a:srgbClr>
                  </a:outerShdw>
                </a:effectLst>
                <a:latin typeface="Microsoft YaHei"/>
                <a:ea typeface="微软雅黑"/>
              </a:rPr>
              <a:t>人员24</a:t>
            </a:r>
          </a:p>
        </p:txBody>
      </p:sp>
      <p:sp>
        <p:nvSpPr>
          <p:cNvPr id="29" name="分隔左24"/>
          <p:cNvSpPr/>
          <p:nvPr/>
        </p:nvSpPr>
        <p:spPr>
          <a:xfrm>
            <a:off x="4258800" y="10443600"/>
            <a:ext cx="41472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0" name="分隔右24"/>
          <p:cNvSpPr/>
          <p:nvPr/>
        </p:nvSpPr>
        <p:spPr>
          <a:xfrm>
            <a:off x="9054000" y="10443600"/>
            <a:ext cx="41472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1" name="分隔菱24"/>
          <p:cNvSpPr/>
          <p:nvPr/>
        </p:nvSpPr>
        <p:spPr>
          <a:xfrm>
            <a:off x="8532000" y="10263600"/>
            <a:ext cx="396000" cy="396000"/>
          </a:xfrm>
          <a:prstGeom prst="diamond">
            <a:avLst/>
          </a:prstGeom>
          <a:solidFill>
            <a:srgbClr val="FFD27A"/>
          </a:solidFill>
          <a:ln>
            <a:noFill/>
          </a:ln>
        </p:spPr>
        <p:txBody>
          <a:bodyPr rtlCol="0" anchor="ctr"/>
          <a:lstStyle/>
          <a:p>
            <a:pPr algn="ctr"/>
          </a:p>
        </p:txBody>
      </p:sp>
      <p:sp>
        <p:nvSpPr>
          <p:cNvPr id="32" name="单位框24"/>
          <p:cNvSpPr/>
          <p:nvPr/>
        </p:nvSpPr>
        <p:spPr>
          <a:xfrm>
            <a:off x="4813200" y="11127600"/>
            <a:ext cx="7833600" cy="1742400"/>
          </a:xfrm>
          <a:prstGeom prst="roundRect">
            <a:avLst>
              <a:gd name="adj" fmla="val 50000"/>
            </a:avLst>
          </a:prstGeom>
          <a:solidFill>
            <a:srgbClr val="FFD682">
              <a:alpha val="16000"/>
            </a:srgbClr>
          </a:solidFill>
          <a:ln w="36000">
            <a:solidFill>
              <a:srgbClr val="FFD682"/>
            </a:solidFill>
          </a:ln>
        </p:spPr>
        <p:txBody>
          <a:bodyPr rtlCol="0" anchor="ctr"/>
          <a:lstStyle/>
          <a:p>
            <a:pPr algn="ctr"/>
          </a:p>
        </p:txBody>
      </p:sp>
      <p:sp>
        <p:nvSpPr>
          <p:cNvPr id="33" name="单位24"/>
          <p:cNvSpPr txBox="1"/>
          <p:nvPr/>
        </p:nvSpPr>
        <p:spPr>
          <a:xfrm>
            <a:off x="4813200" y="11127600"/>
            <a:ext cx="7974720" cy="1742400"/>
          </a:xfrm>
          <a:prstGeom prst="rect">
            <a:avLst/>
          </a:prstGeom>
          <a:noFill/>
        </p:spPr>
        <p:txBody>
          <a:bodyPr wrap="square" lIns="0" rIns="0" tIns="0" bIns="0" anchor="ctr">
            <a:noAutofit/>
          </a:bodyPr>
          <a:lstStyle/>
          <a:p>
            <a:pPr algn="ctr"/>
            <a:r>
              <a:rPr sz="7937" b="1" spc="1111">
                <a:solidFill>
                  <a:srgbClr val="FFF1CF"/>
                </a:solidFill>
                <a:latin typeface="Microsoft YaHei"/>
                <a:ea typeface="微软雅黑"/>
              </a:rPr>
              <a:t>单位待补充</a:t>
            </a:r>
          </a:p>
        </p:txBody>
      </p:sp>
      <p:sp>
        <p:nvSpPr>
          <p:cNvPr id="34" name="标题24"/>
          <p:cNvSpPr txBox="1"/>
          <p:nvPr/>
        </p:nvSpPr>
        <p:spPr>
          <a:xfrm>
            <a:off x="38430000" y="3924000"/>
            <a:ext cx="6660000" cy="1188000"/>
          </a:xfrm>
          <a:prstGeom prst="rect">
            <a:avLst/>
          </a:prstGeom>
          <a:noFill/>
        </p:spPr>
        <p:txBody>
          <a:bodyPr wrap="square" lIns="0" rIns="0" tIns="0" bIns="0" anchor="ctr">
            <a:noAutofit/>
          </a:bodyPr>
          <a:lstStyle/>
          <a:p>
            <a:pPr algn="ctr"/>
            <a:r>
              <a:rPr sz="7086" b="1" spc="1417">
                <a:solidFill>
                  <a:srgbClr val="FFD27A"/>
                </a:solidFill>
                <a:latin typeface="Microsoft YaHei"/>
                <a:ea typeface="微软雅黑"/>
              </a:rPr>
              <a:t>正面行为介绍</a:t>
            </a:r>
          </a:p>
        </p:txBody>
      </p:sp>
      <p:sp>
        <p:nvSpPr>
          <p:cNvPr id="35" name="标题线左24"/>
          <p:cNvSpPr/>
          <p:nvPr/>
        </p:nvSpPr>
        <p:spPr>
          <a:xfrm>
            <a:off x="35460000" y="4518000"/>
            <a:ext cx="2250000" cy="45000"/>
          </a:xfrm>
          <a:prstGeom prst="rect">
            <a:avLst/>
          </a:prstGeom>
          <a:gradFill rotWithShape="1">
            <a:gsLst>
              <a:gs pos="0">
                <a:srgbClr val="FFD27A">
                  <a:alpha val="0"/>
                </a:srgbClr>
              </a:gs>
              <a:gs pos="100000">
                <a:srgbClr val="FFD27A"/>
              </a:gs>
            </a:gsLst>
            <a:lin ang="0" scaled="0"/>
          </a:gradFill>
          <a:ln>
            <a:noFill/>
          </a:ln>
        </p:spPr>
        <p:txBody>
          <a:bodyPr rtlCol="0" anchor="ctr"/>
          <a:lstStyle/>
          <a:p>
            <a:pPr algn="ctr"/>
          </a:p>
        </p:txBody>
      </p:sp>
      <p:sp>
        <p:nvSpPr>
          <p:cNvPr id="36" name="标题线右24"/>
          <p:cNvSpPr/>
          <p:nvPr/>
        </p:nvSpPr>
        <p:spPr>
          <a:xfrm>
            <a:off x="45630000" y="4518000"/>
            <a:ext cx="2250000" cy="45000"/>
          </a:xfrm>
          <a:prstGeom prst="rect">
            <a:avLst/>
          </a:prstGeom>
          <a:gradFill rotWithShape="1">
            <a:gsLst>
              <a:gs pos="0">
                <a:srgbClr val="FFD27A"/>
              </a:gs>
              <a:gs pos="100000">
                <a:srgbClr val="FFD27A">
                  <a:alpha val="0"/>
                </a:srgbClr>
              </a:gs>
            </a:gsLst>
            <a:lin ang="0" scaled="0"/>
          </a:gradFill>
          <a:ln>
            <a:noFill/>
          </a:ln>
        </p:spPr>
        <p:txBody>
          <a:bodyPr rtlCol="0" anchor="ctr"/>
          <a:lstStyle/>
          <a:p>
            <a:pPr algn="ctr"/>
          </a:p>
        </p:txBody>
      </p:sp>
      <p:sp>
        <p:nvSpPr>
          <p:cNvPr id="37" name="标题菱左24"/>
          <p:cNvSpPr/>
          <p:nvPr/>
        </p:nvSpPr>
        <p:spPr>
          <a:xfrm>
            <a:off x="37710000" y="4428000"/>
            <a:ext cx="216000" cy="216000"/>
          </a:xfrm>
          <a:prstGeom prst="diamond">
            <a:avLst/>
          </a:prstGeom>
          <a:solidFill>
            <a:srgbClr val="FFD27A"/>
          </a:solidFill>
          <a:ln>
            <a:noFill/>
          </a:ln>
        </p:spPr>
        <p:txBody>
          <a:bodyPr rtlCol="0" anchor="ctr"/>
          <a:lstStyle/>
          <a:p>
            <a:pPr algn="ctr"/>
          </a:p>
        </p:txBody>
      </p:sp>
      <p:sp>
        <p:nvSpPr>
          <p:cNvPr id="38" name="标题菱右24"/>
          <p:cNvSpPr/>
          <p:nvPr/>
        </p:nvSpPr>
        <p:spPr>
          <a:xfrm>
            <a:off x="45414000" y="4428000"/>
            <a:ext cx="216000" cy="216000"/>
          </a:xfrm>
          <a:prstGeom prst="diamond">
            <a:avLst/>
          </a:prstGeom>
          <a:solidFill>
            <a:srgbClr val="FFD27A"/>
          </a:solidFill>
          <a:ln>
            <a:noFill/>
          </a:ln>
        </p:spPr>
        <p:txBody>
          <a:bodyPr rtlCol="0" anchor="ctr"/>
          <a:lstStyle/>
          <a:p>
            <a:pPr algn="ctr"/>
          </a:p>
        </p:txBody>
      </p:sp>
      <p:sp>
        <p:nvSpPr>
          <p:cNvPr id="39" name="介绍24"/>
          <p:cNvSpPr txBox="1"/>
          <p:nvPr/>
        </p:nvSpPr>
        <p:spPr>
          <a:xfrm>
            <a:off x="35460000" y="5688000"/>
            <a:ext cx="12420000" cy="8388000"/>
          </a:xfrm>
          <a:prstGeom prst="rect">
            <a:avLst/>
          </a:prstGeom>
          <a:noFill/>
        </p:spPr>
        <p:txBody>
          <a:bodyPr wrap="square" lIns="0" rIns="0" tIns="0" bIns="0" anchor="ctr">
            <a:noAutofit/>
          </a:bodyPr>
          <a:lstStyle/>
          <a:p>
            <a:pPr algn="ctr">
              <a:lnSpc>
                <a:spcPts val="13492"/>
              </a:lnSpc>
            </a:pPr>
            <a:r>
              <a:rPr sz="7937" b="0">
                <a:solidFill>
                  <a:srgbClr val="FFF3E2"/>
                </a:solidFill>
                <a:latin typeface="Microsoft YaHei"/>
                <a:ea typeface="微软雅黑"/>
              </a:rPr>
              <a:t>正面行为介绍待补充。</a:t>
            </a:r>
          </a:p>
        </p:txBody>
      </p:sp>
      <p:sp>
        <p:nvSpPr>
          <p:cNvPr id="40" name="返回24">
            <a:hlinkClick action="ppaction://hlinksldjump" r:id="rId3"/>
          </p:cNvPr>
          <p:cNvSpPr/>
          <p:nvPr/>
        </p:nvSpPr>
        <p:spPr>
          <a:xfrm>
            <a:off x="0" y="0"/>
            <a:ext cx="50400000" cy="18000000"/>
          </a:xfrm>
          <a:prstGeom prst="rect">
            <a:avLst/>
          </a:prstGeom>
          <a:solidFill>
            <a:srgbClr val="000000">
              <a:alpha val="0"/>
            </a:srgbClr>
          </a:solidFill>
          <a:ln>
            <a:noFill/>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advClick="0">
        <p159:morph option="byObject"/>
      </p:transition>
    </mc:Choice>
    <mc:Fallback>
      <p:transition spd="slow"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