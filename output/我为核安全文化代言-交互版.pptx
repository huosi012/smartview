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50400000" cy="180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总览页。点击照片放大；翻页笔“下一页”按顺序放大；放映中输入页码+回车可直接跳转：</a:t>
            </a:r>
          </a:p>
          <a:p>
            <a:r>
              <a:t>第 2 页：刘明利（技术支持处）</a:t>
            </a:r>
          </a:p>
          <a:p>
            <a:r>
              <a:t>第 3 页：张岩（运行一处）</a:t>
            </a:r>
          </a:p>
          <a:p>
            <a:r>
              <a:t>第 4 页：杨帆（化学环保处）</a:t>
            </a:r>
          </a:p>
          <a:p>
            <a:r>
              <a:t>第 5 页：庞立成（运行二处）</a:t>
            </a:r>
          </a:p>
          <a:p>
            <a:r>
              <a:t>第 6 页：于海青（上海申亿）</a:t>
            </a:r>
          </a:p>
          <a:p>
            <a:r>
              <a:t>第 7 页：潘绍卓（运行一处）</a:t>
            </a:r>
          </a:p>
          <a:p>
            <a:r>
              <a:t>第 8 页：成鹏飞（中核凯利）</a:t>
            </a:r>
          </a:p>
          <a:p>
            <a:r>
              <a:t>第 9 页：何韶然（运行二处）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位：刘明利（技术支持处）</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位：张岩（运行一处）</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位：杨帆（化学环保处）</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位：庞立成（运行二处）</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位：于海青（上海申亿）</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位：潘绍卓（运行一处）</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位：成鹏飞（中核凯利）</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位：何韶然（运行二处）</a:t>
            </a:r>
          </a:p>
          <a:p>
            <a:r>
              <a:t>点击任意处返回总览；翻页笔“下一页”放大下一位。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6.xml"/><Relationship Id="rId8" Type="http://schemas.openxmlformats.org/officeDocument/2006/relationships/slide" Target="slide7.xml"/><Relationship Id="rId9" Type="http://schemas.openxmlformats.org/officeDocument/2006/relationships/slide" Target="slide8.xml"/><Relationship Id="rId10" Type="http://schemas.openxmlformats.org/officeDocument/2006/relationships/slide" Target="slide9.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slide" Target="slide1.xml"/><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6"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7"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8"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9"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10"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1" name="热区1">
            <a:hlinkClick action="ppaction://hlinksldjump" r:id="rId3"/>
          </p:cNvPr>
          <p:cNvSpPr/>
          <p:nvPr/>
        </p:nvSpPr>
        <p:spPr>
          <a:xfrm>
            <a:off x="1587600" y="4210200"/>
            <a:ext cx="5418000" cy="10461600"/>
          </a:xfrm>
          <a:prstGeom prst="rect">
            <a:avLst/>
          </a:prstGeom>
          <a:solidFill>
            <a:srgbClr val="000000">
              <a:alpha val="0"/>
            </a:srgbClr>
          </a:solidFill>
          <a:ln>
            <a:noFill/>
          </a:ln>
        </p:spPr>
        <p:txBody>
          <a:bodyPr rtlCol="0" anchor="ctr"/>
          <a:lstStyle/>
          <a:p>
            <a:pPr algn="ctr"/>
          </a:p>
        </p:txBody>
      </p:sp>
      <p:sp>
        <p:nvSpPr>
          <p:cNvPr id="12" name="热区2">
            <a:hlinkClick action="ppaction://hlinksldjump" r:id="rId4"/>
          </p:cNvPr>
          <p:cNvSpPr/>
          <p:nvPr/>
        </p:nvSpPr>
        <p:spPr>
          <a:xfrm>
            <a:off x="7585200" y="4210200"/>
            <a:ext cx="5418000" cy="10461600"/>
          </a:xfrm>
          <a:prstGeom prst="rect">
            <a:avLst/>
          </a:prstGeom>
          <a:solidFill>
            <a:srgbClr val="000000">
              <a:alpha val="0"/>
            </a:srgbClr>
          </a:solidFill>
          <a:ln>
            <a:noFill/>
          </a:ln>
        </p:spPr>
        <p:txBody>
          <a:bodyPr rtlCol="0" anchor="ctr"/>
          <a:lstStyle/>
          <a:p>
            <a:pPr algn="ctr"/>
          </a:p>
        </p:txBody>
      </p:sp>
      <p:sp>
        <p:nvSpPr>
          <p:cNvPr id="13" name="热区3">
            <a:hlinkClick action="ppaction://hlinksldjump" r:id="rId5"/>
          </p:cNvPr>
          <p:cNvSpPr/>
          <p:nvPr/>
        </p:nvSpPr>
        <p:spPr>
          <a:xfrm>
            <a:off x="13532400" y="4210200"/>
            <a:ext cx="5418000" cy="10461600"/>
          </a:xfrm>
          <a:prstGeom prst="rect">
            <a:avLst/>
          </a:prstGeom>
          <a:solidFill>
            <a:srgbClr val="000000">
              <a:alpha val="0"/>
            </a:srgbClr>
          </a:solidFill>
          <a:ln>
            <a:noFill/>
          </a:ln>
        </p:spPr>
        <p:txBody>
          <a:bodyPr rtlCol="0" anchor="ctr"/>
          <a:lstStyle/>
          <a:p>
            <a:pPr algn="ctr"/>
          </a:p>
        </p:txBody>
      </p:sp>
      <p:sp>
        <p:nvSpPr>
          <p:cNvPr id="14" name="热区4">
            <a:hlinkClick action="ppaction://hlinksldjump" r:id="rId6"/>
          </p:cNvPr>
          <p:cNvSpPr/>
          <p:nvPr/>
        </p:nvSpPr>
        <p:spPr>
          <a:xfrm>
            <a:off x="19504800" y="4210200"/>
            <a:ext cx="5418000" cy="10461600"/>
          </a:xfrm>
          <a:prstGeom prst="rect">
            <a:avLst/>
          </a:prstGeom>
          <a:solidFill>
            <a:srgbClr val="000000">
              <a:alpha val="0"/>
            </a:srgbClr>
          </a:solidFill>
          <a:ln>
            <a:noFill/>
          </a:ln>
        </p:spPr>
        <p:txBody>
          <a:bodyPr rtlCol="0" anchor="ctr"/>
          <a:lstStyle/>
          <a:p>
            <a:pPr algn="ctr"/>
          </a:p>
        </p:txBody>
      </p:sp>
      <p:sp>
        <p:nvSpPr>
          <p:cNvPr id="15" name="热区5">
            <a:hlinkClick action="ppaction://hlinksldjump" r:id="rId7"/>
          </p:cNvPr>
          <p:cNvSpPr/>
          <p:nvPr/>
        </p:nvSpPr>
        <p:spPr>
          <a:xfrm>
            <a:off x="25477200" y="4210200"/>
            <a:ext cx="5418000" cy="10461600"/>
          </a:xfrm>
          <a:prstGeom prst="rect">
            <a:avLst/>
          </a:prstGeom>
          <a:solidFill>
            <a:srgbClr val="000000">
              <a:alpha val="0"/>
            </a:srgbClr>
          </a:solidFill>
          <a:ln>
            <a:noFill/>
          </a:ln>
        </p:spPr>
        <p:txBody>
          <a:bodyPr rtlCol="0" anchor="ctr"/>
          <a:lstStyle/>
          <a:p>
            <a:pPr algn="ctr"/>
          </a:p>
        </p:txBody>
      </p:sp>
      <p:sp>
        <p:nvSpPr>
          <p:cNvPr id="16" name="热区6">
            <a:hlinkClick action="ppaction://hlinksldjump" r:id="rId8"/>
          </p:cNvPr>
          <p:cNvSpPr/>
          <p:nvPr/>
        </p:nvSpPr>
        <p:spPr>
          <a:xfrm>
            <a:off x="31449600" y="4210200"/>
            <a:ext cx="5418000" cy="10461600"/>
          </a:xfrm>
          <a:prstGeom prst="rect">
            <a:avLst/>
          </a:prstGeom>
          <a:solidFill>
            <a:srgbClr val="000000">
              <a:alpha val="0"/>
            </a:srgbClr>
          </a:solidFill>
          <a:ln>
            <a:noFill/>
          </a:ln>
        </p:spPr>
        <p:txBody>
          <a:bodyPr rtlCol="0" anchor="ctr"/>
          <a:lstStyle/>
          <a:p>
            <a:pPr algn="ctr"/>
          </a:p>
        </p:txBody>
      </p:sp>
      <p:sp>
        <p:nvSpPr>
          <p:cNvPr id="17" name="热区7">
            <a:hlinkClick action="ppaction://hlinksldjump" r:id="rId9"/>
          </p:cNvPr>
          <p:cNvSpPr/>
          <p:nvPr/>
        </p:nvSpPr>
        <p:spPr>
          <a:xfrm>
            <a:off x="37396800" y="4210200"/>
            <a:ext cx="5418000" cy="10461600"/>
          </a:xfrm>
          <a:prstGeom prst="rect">
            <a:avLst/>
          </a:prstGeom>
          <a:solidFill>
            <a:srgbClr val="000000">
              <a:alpha val="0"/>
            </a:srgbClr>
          </a:solidFill>
          <a:ln>
            <a:noFill/>
          </a:ln>
        </p:spPr>
        <p:txBody>
          <a:bodyPr rtlCol="0" anchor="ctr"/>
          <a:lstStyle/>
          <a:p>
            <a:pPr algn="ctr"/>
          </a:p>
        </p:txBody>
      </p:sp>
      <p:sp>
        <p:nvSpPr>
          <p:cNvPr id="18" name="热区8">
            <a:hlinkClick action="ppaction://hlinksldjump" r:id="rId10"/>
          </p:cNvPr>
          <p:cNvSpPr/>
          <p:nvPr/>
        </p:nvSpPr>
        <p:spPr>
          <a:xfrm>
            <a:off x="43369200" y="4210200"/>
            <a:ext cx="5418000" cy="104616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4"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5"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6"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7"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8"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1" descr="image.jpg"/>
          <p:cNvPicPr>
            <a:picLocks noChangeAspect="1"/>
          </p:cNvPicPr>
          <p:nvPr/>
        </p:nvPicPr>
        <p:blipFill>
          <a:blip r:embed="rId2"/>
          <a:srcRect l="3150" t="23390" r="8610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1"/>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1"/>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刘明利</a:t>
            </a:r>
          </a:p>
        </p:txBody>
      </p:sp>
      <p:sp>
        <p:nvSpPr>
          <p:cNvPr id="14" name="金线1"/>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1"/>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技术支持处</a:t>
            </a:r>
          </a:p>
        </p:txBody>
      </p:sp>
      <p:sp>
        <p:nvSpPr>
          <p:cNvPr id="16" name="简介卡1"/>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1"/>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1"/>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1"/>
          <p:cNvSpPr txBox="1"/>
          <p:nvPr/>
        </p:nvSpPr>
        <p:spPr>
          <a:xfrm>
            <a:off x="33764845" y="4680000"/>
            <a:ext cx="13395155" cy="10188000"/>
          </a:xfrm>
          <a:prstGeom prst="rect">
            <a:avLst/>
          </a:prstGeom>
          <a:noFill/>
        </p:spPr>
        <p:txBody>
          <a:bodyPr wrap="square" lIns="0" rIns="0" tIns="0" bIns="0" anchor="t">
            <a:noAutofit/>
          </a:bodyPr>
          <a:lstStyle/>
          <a:p>
            <a:pPr algn="just" marL="0" indent="1728000">
              <a:lnSpc>
                <a:spcPts val="10885"/>
              </a:lnSpc>
            </a:pPr>
            <a:r>
              <a:rPr sz="6803" b="0">
                <a:solidFill>
                  <a:srgbClr val="2A1A1A"/>
                </a:solidFill>
                <a:latin typeface="Microsoft YaHei"/>
                <a:ea typeface="微软雅黑"/>
              </a:rPr>
              <a:t>刘明利精准研判1号机主给水泵B电机振动隐患，彰显了刘明利的技术自信、专业担当与对未知的执着探索精神——正是这些，构成了核安全文化的深层底色。刘明利同志用实际行动诠释了“我为核安全文化代言”的深刻内涵。</a:t>
            </a:r>
          </a:p>
        </p:txBody>
      </p:sp>
      <p:sp>
        <p:nvSpPr>
          <p:cNvPr id="20" name="返回1">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5"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6"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7"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8"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2" descr="image.jpg"/>
          <p:cNvPicPr>
            <a:picLocks noChangeAspect="1"/>
          </p:cNvPicPr>
          <p:nvPr/>
        </p:nvPicPr>
        <p:blipFill>
          <a:blip r:embed="rId2"/>
          <a:srcRect l="15050" t="23390" r="7420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2"/>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2"/>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张岩</a:t>
            </a:r>
          </a:p>
        </p:txBody>
      </p:sp>
      <p:sp>
        <p:nvSpPr>
          <p:cNvPr id="14" name="金线2"/>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2"/>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运行一处</a:t>
            </a:r>
          </a:p>
        </p:txBody>
      </p:sp>
      <p:sp>
        <p:nvSpPr>
          <p:cNvPr id="16" name="简介卡2"/>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2"/>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2"/>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2"/>
          <p:cNvSpPr txBox="1"/>
          <p:nvPr/>
        </p:nvSpPr>
        <p:spPr>
          <a:xfrm>
            <a:off x="33764845" y="4680000"/>
            <a:ext cx="13395155" cy="10188000"/>
          </a:xfrm>
          <a:prstGeom prst="rect">
            <a:avLst/>
          </a:prstGeom>
          <a:noFill/>
        </p:spPr>
        <p:txBody>
          <a:bodyPr wrap="square" lIns="0" rIns="0" tIns="0" bIns="0" anchor="t">
            <a:noAutofit/>
          </a:bodyPr>
          <a:lstStyle/>
          <a:p>
            <a:pPr algn="just" marL="0" indent="1512000">
              <a:lnSpc>
                <a:spcPts val="9524"/>
              </a:lnSpc>
            </a:pPr>
            <a:r>
              <a:rPr sz="5952" b="0">
                <a:solidFill>
                  <a:srgbClr val="2A1A1A"/>
                </a:solidFill>
                <a:latin typeface="Microsoft YaHei"/>
                <a:ea typeface="微软雅黑"/>
              </a:rPr>
              <a:t>张岩发现并及时上报2号机CPS取样架标识与实际取样点不一致。张岩同志在隔离操作中，遇疑则停，并充分发挥主观能动性，对该系统有关取样管排逐根细致排查，确定CPS取样架区域存在系统性标牌错误，并及时上报，体现了严慎细实的工作作风，用实际行动履行了运行人员对核安全的庄重承诺。</a:t>
            </a:r>
          </a:p>
        </p:txBody>
      </p:sp>
      <p:sp>
        <p:nvSpPr>
          <p:cNvPr id="20" name="返回2">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6"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7"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8"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3" descr="image.jpg"/>
          <p:cNvPicPr>
            <a:picLocks noChangeAspect="1"/>
          </p:cNvPicPr>
          <p:nvPr/>
        </p:nvPicPr>
        <p:blipFill>
          <a:blip r:embed="rId2"/>
          <a:srcRect l="26850" t="23390" r="6240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3"/>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3"/>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杨帆</a:t>
            </a:r>
          </a:p>
        </p:txBody>
      </p:sp>
      <p:sp>
        <p:nvSpPr>
          <p:cNvPr id="14" name="金线3"/>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3"/>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化学环保处</a:t>
            </a:r>
          </a:p>
        </p:txBody>
      </p:sp>
      <p:sp>
        <p:nvSpPr>
          <p:cNvPr id="16" name="简介卡3"/>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3"/>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3"/>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3"/>
          <p:cNvSpPr txBox="1"/>
          <p:nvPr/>
        </p:nvSpPr>
        <p:spPr>
          <a:xfrm>
            <a:off x="33764845" y="4680000"/>
            <a:ext cx="13395155" cy="10188000"/>
          </a:xfrm>
          <a:prstGeom prst="rect">
            <a:avLst/>
          </a:prstGeom>
          <a:noFill/>
        </p:spPr>
        <p:txBody>
          <a:bodyPr wrap="square" lIns="0" rIns="0" tIns="0" bIns="0" anchor="t">
            <a:noAutofit/>
          </a:bodyPr>
          <a:lstStyle/>
          <a:p>
            <a:pPr algn="just" marL="0" indent="1728000">
              <a:lnSpc>
                <a:spcPts val="10885"/>
              </a:lnSpc>
            </a:pPr>
            <a:r>
              <a:rPr sz="6803" b="0">
                <a:solidFill>
                  <a:srgbClr val="2A1A1A"/>
                </a:solidFill>
                <a:latin typeface="Microsoft YaHei"/>
                <a:ea typeface="微软雅黑"/>
              </a:rPr>
              <a:t>杨帆紧盯外委监测质量，严守监测数据安全防线。工作中，该同志始终秉持“严、慎、细、实”的优良作风，防患未然、精益求精，以高度的责任担当持续推动核安全文化走深走实，为核与辐射环境安全稳定保驾护航。</a:t>
            </a:r>
          </a:p>
        </p:txBody>
      </p:sp>
      <p:sp>
        <p:nvSpPr>
          <p:cNvPr id="20" name="返回3">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6"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7"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8"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4" descr="image.jpg"/>
          <p:cNvPicPr>
            <a:picLocks noChangeAspect="1"/>
          </p:cNvPicPr>
          <p:nvPr/>
        </p:nvPicPr>
        <p:blipFill>
          <a:blip r:embed="rId2"/>
          <a:srcRect l="38700" t="23390" r="5055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4"/>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4"/>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庞立成</a:t>
            </a:r>
          </a:p>
        </p:txBody>
      </p:sp>
      <p:sp>
        <p:nvSpPr>
          <p:cNvPr id="14" name="金线4"/>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4"/>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运行二处</a:t>
            </a:r>
          </a:p>
        </p:txBody>
      </p:sp>
      <p:sp>
        <p:nvSpPr>
          <p:cNvPr id="16" name="简介卡4"/>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4"/>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4"/>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4"/>
          <p:cNvSpPr txBox="1"/>
          <p:nvPr/>
        </p:nvSpPr>
        <p:spPr>
          <a:xfrm>
            <a:off x="33764845" y="4680000"/>
            <a:ext cx="13395155" cy="10188000"/>
          </a:xfrm>
          <a:prstGeom prst="rect">
            <a:avLst/>
          </a:prstGeom>
          <a:noFill/>
        </p:spPr>
        <p:txBody>
          <a:bodyPr wrap="square" lIns="0" rIns="0" tIns="0" bIns="0" anchor="t">
            <a:noAutofit/>
          </a:bodyPr>
          <a:lstStyle/>
          <a:p>
            <a:pPr algn="just" marL="0" indent="1512000">
              <a:lnSpc>
                <a:spcPts val="9524"/>
              </a:lnSpc>
            </a:pPr>
            <a:r>
              <a:rPr sz="5952" b="0">
                <a:solidFill>
                  <a:srgbClr val="2A1A1A"/>
                </a:solidFill>
                <a:latin typeface="Microsoft YaHei"/>
                <a:ea typeface="微软雅黑"/>
              </a:rPr>
              <a:t>运行二处3号机五值庞立成及时发现并处置CCS B泵异常情况，成功避免设备损坏风险。庞立成不轻易放过任何隐患，尽职履责，对设备参数保持敏感，发现异常后第一时间响应，处置果断，行动高效，避免设备损坏和事件升级，用实际行动履行了对核安全的承诺。</a:t>
            </a:r>
          </a:p>
        </p:txBody>
      </p:sp>
      <p:sp>
        <p:nvSpPr>
          <p:cNvPr id="20" name="返回4">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6"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7"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8"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5" descr="image.jpg"/>
          <p:cNvPicPr>
            <a:picLocks noChangeAspect="1"/>
          </p:cNvPicPr>
          <p:nvPr/>
        </p:nvPicPr>
        <p:blipFill>
          <a:blip r:embed="rId2"/>
          <a:srcRect l="50550" t="23390" r="3870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5"/>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5"/>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于海青</a:t>
            </a:r>
          </a:p>
        </p:txBody>
      </p:sp>
      <p:sp>
        <p:nvSpPr>
          <p:cNvPr id="14" name="金线5"/>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5"/>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上海申亿</a:t>
            </a:r>
          </a:p>
        </p:txBody>
      </p:sp>
      <p:sp>
        <p:nvSpPr>
          <p:cNvPr id="16" name="简介卡5"/>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5"/>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5"/>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5"/>
          <p:cNvSpPr txBox="1"/>
          <p:nvPr/>
        </p:nvSpPr>
        <p:spPr>
          <a:xfrm>
            <a:off x="33764845" y="4680000"/>
            <a:ext cx="13395155" cy="10188000"/>
          </a:xfrm>
          <a:prstGeom prst="rect">
            <a:avLst/>
          </a:prstGeom>
          <a:noFill/>
        </p:spPr>
        <p:txBody>
          <a:bodyPr wrap="square" lIns="0" rIns="0" tIns="0" bIns="0" anchor="t">
            <a:noAutofit/>
          </a:bodyPr>
          <a:lstStyle/>
          <a:p>
            <a:pPr algn="just" marL="0" indent="1296000">
              <a:lnSpc>
                <a:spcPts val="8163"/>
              </a:lnSpc>
            </a:pPr>
            <a:r>
              <a:rPr sz="5102" b="0">
                <a:solidFill>
                  <a:srgbClr val="2A1A1A"/>
                </a:solidFill>
                <a:latin typeface="Microsoft YaHei"/>
                <a:ea typeface="微软雅黑"/>
              </a:rPr>
              <a:t>上海申亿脚手架班组以质疑的工作态度发现低压氢气站门口静电消除器故障，暂停脚手架搭设，避免了潜在作业风险。于海青班组在此次作业准备中，坚持以质疑的工作态度审视每一个安全环节，不放过任何一项不符合条件的因素，有效避免了潜在的作业风险，展现了于海青班组严谨务实的工作作风和时刻将核安全放在首位的责任意识。他们的做法，是健康核安全文化在一线落地的真实写照。</a:t>
            </a:r>
          </a:p>
        </p:txBody>
      </p:sp>
      <p:sp>
        <p:nvSpPr>
          <p:cNvPr id="20" name="返回5">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6"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7"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8"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6" descr="image.jpg"/>
          <p:cNvPicPr>
            <a:picLocks noChangeAspect="1"/>
          </p:cNvPicPr>
          <p:nvPr/>
        </p:nvPicPr>
        <p:blipFill>
          <a:blip r:embed="rId2"/>
          <a:srcRect l="62400" t="23390" r="2685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6"/>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6"/>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潘绍卓</a:t>
            </a:r>
          </a:p>
        </p:txBody>
      </p:sp>
      <p:sp>
        <p:nvSpPr>
          <p:cNvPr id="14" name="金线6"/>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6"/>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运行一处</a:t>
            </a:r>
          </a:p>
        </p:txBody>
      </p:sp>
      <p:sp>
        <p:nvSpPr>
          <p:cNvPr id="16" name="简介卡6"/>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6"/>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6"/>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6"/>
          <p:cNvSpPr txBox="1"/>
          <p:nvPr/>
        </p:nvSpPr>
        <p:spPr>
          <a:xfrm>
            <a:off x="33764845" y="4680000"/>
            <a:ext cx="13395155" cy="10188000"/>
          </a:xfrm>
          <a:prstGeom prst="rect">
            <a:avLst/>
          </a:prstGeom>
          <a:noFill/>
        </p:spPr>
        <p:txBody>
          <a:bodyPr wrap="square" lIns="0" rIns="0" tIns="0" bIns="0" anchor="t">
            <a:noAutofit/>
          </a:bodyPr>
          <a:lstStyle/>
          <a:p>
            <a:pPr algn="just" marL="0" indent="1512000">
              <a:lnSpc>
                <a:spcPts val="9524"/>
              </a:lnSpc>
            </a:pPr>
            <a:r>
              <a:rPr sz="5952" b="0">
                <a:solidFill>
                  <a:srgbClr val="2A1A1A"/>
                </a:solidFill>
                <a:latin typeface="Microsoft YaHei"/>
                <a:ea typeface="微软雅黑"/>
              </a:rPr>
              <a:t>运行一处2号机五值潘绍卓就地发现2号机低压缸轴封汽腔定位螺栓螺母松脱。潘绍卓发现现场重要设备安全稳定运行的安全隐患，及时跟踪处理，避免小缺陷演变成为重大的设备损坏事件，凭借扎实的现场工作经验与主人翁的责任担当，用心坚守机组安全运行最后的防线。</a:t>
            </a:r>
          </a:p>
        </p:txBody>
      </p:sp>
      <p:sp>
        <p:nvSpPr>
          <p:cNvPr id="20" name="返回6">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6"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7"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8"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9" name="!!p8" descr="image.jpg"/>
          <p:cNvPicPr>
            <a:picLocks noChangeAspect="1"/>
          </p:cNvPicPr>
          <p:nvPr/>
        </p:nvPicPr>
        <p:blipFill>
          <a:blip r:embed="rId2"/>
          <a:srcRect l="86050" t="23390" r="3200" b="37810"/>
          <a:stretch>
            <a:fillRect/>
          </a:stretch>
        </p:blipFill>
        <p:spPr>
          <a:xfrm>
            <a:off x="433692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7" descr="image.jpg"/>
          <p:cNvPicPr>
            <a:picLocks noChangeAspect="1"/>
          </p:cNvPicPr>
          <p:nvPr/>
        </p:nvPicPr>
        <p:blipFill>
          <a:blip r:embed="rId2"/>
          <a:srcRect l="74200" t="23390" r="1505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7"/>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7"/>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成鹏飞</a:t>
            </a:r>
          </a:p>
        </p:txBody>
      </p:sp>
      <p:sp>
        <p:nvSpPr>
          <p:cNvPr id="14" name="金线7"/>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7"/>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中核凯利</a:t>
            </a:r>
          </a:p>
        </p:txBody>
      </p:sp>
      <p:sp>
        <p:nvSpPr>
          <p:cNvPr id="16" name="简介卡7"/>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7"/>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7"/>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7"/>
          <p:cNvSpPr txBox="1"/>
          <p:nvPr/>
        </p:nvSpPr>
        <p:spPr>
          <a:xfrm>
            <a:off x="33764845" y="4680000"/>
            <a:ext cx="13395155" cy="10188000"/>
          </a:xfrm>
          <a:prstGeom prst="rect">
            <a:avLst/>
          </a:prstGeom>
          <a:noFill/>
        </p:spPr>
        <p:txBody>
          <a:bodyPr wrap="square" lIns="0" rIns="0" tIns="0" bIns="0" anchor="t">
            <a:noAutofit/>
          </a:bodyPr>
          <a:lstStyle/>
          <a:p>
            <a:pPr algn="just" marL="0" indent="1512000">
              <a:lnSpc>
                <a:spcPts val="9524"/>
              </a:lnSpc>
            </a:pPr>
            <a:r>
              <a:rPr sz="5952" b="0">
                <a:solidFill>
                  <a:srgbClr val="2A1A1A"/>
                </a:solidFill>
                <a:latin typeface="Microsoft YaHei"/>
                <a:ea typeface="微软雅黑"/>
              </a:rPr>
              <a:t>成鹏飞及时识别放射性废物包装剂量率测量错误的安全隐患。成鹏飞日常工作中坚持以质疑的工作态度和严慎细实的工作方法对待每项任务，始终将“安全第一、质量第一”的安全理念落到实处。他以高度责任心和专业技能，体现了公司对核安全的高度重视，为全体员工树立了行为标杆。</a:t>
            </a:r>
          </a:p>
        </p:txBody>
      </p:sp>
      <p:sp>
        <p:nvSpPr>
          <p:cNvPr id="20" name="返回7">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g" descr="image.jpg"/>
          <p:cNvPicPr>
            <a:picLocks noChangeAspect="1"/>
          </p:cNvPicPr>
          <p:nvPr/>
        </p:nvPicPr>
        <p:blipFill>
          <a:blip r:embed="rId2"/>
          <a:stretch>
            <a:fillRect/>
          </a:stretch>
        </p:blipFill>
        <p:spPr>
          <a:xfrm>
            <a:off x="0" y="0"/>
            <a:ext cx="50400000" cy="18000000"/>
          </a:xfrm>
          <a:prstGeom prst="rect">
            <a:avLst/>
          </a:prstGeom>
        </p:spPr>
      </p:pic>
      <p:pic>
        <p:nvPicPr>
          <p:cNvPr id="3" name="!!p1" descr="image.jpg"/>
          <p:cNvPicPr>
            <a:picLocks noChangeAspect="1"/>
          </p:cNvPicPr>
          <p:nvPr/>
        </p:nvPicPr>
        <p:blipFill>
          <a:blip r:embed="rId2"/>
          <a:srcRect l="3150" t="23390" r="86100" b="37810"/>
          <a:stretch>
            <a:fillRect/>
          </a:stretch>
        </p:blipFill>
        <p:spPr>
          <a:xfrm>
            <a:off x="1587600" y="4210200"/>
            <a:ext cx="5418000" cy="6984000"/>
          </a:xfrm>
          <a:prstGeom prst="roundRect">
            <a:avLst>
              <a:gd name="adj" fmla="val 3000"/>
            </a:avLst>
          </a:prstGeom>
        </p:spPr>
      </p:pic>
      <p:pic>
        <p:nvPicPr>
          <p:cNvPr id="4" name="!!p2" descr="image.jpg"/>
          <p:cNvPicPr>
            <a:picLocks noChangeAspect="1"/>
          </p:cNvPicPr>
          <p:nvPr/>
        </p:nvPicPr>
        <p:blipFill>
          <a:blip r:embed="rId2"/>
          <a:srcRect l="15050" t="23390" r="74200" b="37810"/>
          <a:stretch>
            <a:fillRect/>
          </a:stretch>
        </p:blipFill>
        <p:spPr>
          <a:xfrm>
            <a:off x="7585200" y="4210200"/>
            <a:ext cx="5418000" cy="6984000"/>
          </a:xfrm>
          <a:prstGeom prst="roundRect">
            <a:avLst>
              <a:gd name="adj" fmla="val 3000"/>
            </a:avLst>
          </a:prstGeom>
        </p:spPr>
      </p:pic>
      <p:pic>
        <p:nvPicPr>
          <p:cNvPr id="5" name="!!p3" descr="image.jpg"/>
          <p:cNvPicPr>
            <a:picLocks noChangeAspect="1"/>
          </p:cNvPicPr>
          <p:nvPr/>
        </p:nvPicPr>
        <p:blipFill>
          <a:blip r:embed="rId2"/>
          <a:srcRect l="26850" t="23390" r="62400" b="37810"/>
          <a:stretch>
            <a:fillRect/>
          </a:stretch>
        </p:blipFill>
        <p:spPr>
          <a:xfrm>
            <a:off x="13532400" y="4210200"/>
            <a:ext cx="5418000" cy="6984000"/>
          </a:xfrm>
          <a:prstGeom prst="roundRect">
            <a:avLst>
              <a:gd name="adj" fmla="val 3000"/>
            </a:avLst>
          </a:prstGeom>
        </p:spPr>
      </p:pic>
      <p:pic>
        <p:nvPicPr>
          <p:cNvPr id="6" name="!!p4" descr="image.jpg"/>
          <p:cNvPicPr>
            <a:picLocks noChangeAspect="1"/>
          </p:cNvPicPr>
          <p:nvPr/>
        </p:nvPicPr>
        <p:blipFill>
          <a:blip r:embed="rId2"/>
          <a:srcRect l="38700" t="23390" r="50550" b="37810"/>
          <a:stretch>
            <a:fillRect/>
          </a:stretch>
        </p:blipFill>
        <p:spPr>
          <a:xfrm>
            <a:off x="19504800" y="4210200"/>
            <a:ext cx="5418000" cy="6984000"/>
          </a:xfrm>
          <a:prstGeom prst="roundRect">
            <a:avLst>
              <a:gd name="adj" fmla="val 3000"/>
            </a:avLst>
          </a:prstGeom>
        </p:spPr>
      </p:pic>
      <p:pic>
        <p:nvPicPr>
          <p:cNvPr id="7" name="!!p5" descr="image.jpg"/>
          <p:cNvPicPr>
            <a:picLocks noChangeAspect="1"/>
          </p:cNvPicPr>
          <p:nvPr/>
        </p:nvPicPr>
        <p:blipFill>
          <a:blip r:embed="rId2"/>
          <a:srcRect l="50550" t="23390" r="38700" b="37810"/>
          <a:stretch>
            <a:fillRect/>
          </a:stretch>
        </p:blipFill>
        <p:spPr>
          <a:xfrm>
            <a:off x="25477200" y="4210200"/>
            <a:ext cx="5418000" cy="6984000"/>
          </a:xfrm>
          <a:prstGeom prst="roundRect">
            <a:avLst>
              <a:gd name="adj" fmla="val 3000"/>
            </a:avLst>
          </a:prstGeom>
        </p:spPr>
      </p:pic>
      <p:pic>
        <p:nvPicPr>
          <p:cNvPr id="8" name="!!p6" descr="image.jpg"/>
          <p:cNvPicPr>
            <a:picLocks noChangeAspect="1"/>
          </p:cNvPicPr>
          <p:nvPr/>
        </p:nvPicPr>
        <p:blipFill>
          <a:blip r:embed="rId2"/>
          <a:srcRect l="62400" t="23390" r="26850" b="37810"/>
          <a:stretch>
            <a:fillRect/>
          </a:stretch>
        </p:blipFill>
        <p:spPr>
          <a:xfrm>
            <a:off x="31449600" y="4210200"/>
            <a:ext cx="5418000" cy="6984000"/>
          </a:xfrm>
          <a:prstGeom prst="roundRect">
            <a:avLst>
              <a:gd name="adj" fmla="val 3000"/>
            </a:avLst>
          </a:prstGeom>
        </p:spPr>
      </p:pic>
      <p:pic>
        <p:nvPicPr>
          <p:cNvPr id="9" name="!!p7" descr="image.jpg"/>
          <p:cNvPicPr>
            <a:picLocks noChangeAspect="1"/>
          </p:cNvPicPr>
          <p:nvPr/>
        </p:nvPicPr>
        <p:blipFill>
          <a:blip r:embed="rId2"/>
          <a:srcRect l="74200" t="23390" r="15050" b="37810"/>
          <a:stretch>
            <a:fillRect/>
          </a:stretch>
        </p:blipFill>
        <p:spPr>
          <a:xfrm>
            <a:off x="37396800" y="4210200"/>
            <a:ext cx="5418000" cy="6984000"/>
          </a:xfrm>
          <a:prstGeom prst="roundRect">
            <a:avLst>
              <a:gd name="adj" fmla="val 3000"/>
            </a:avLst>
          </a:prstGeom>
        </p:spPr>
      </p:pic>
      <p:sp>
        <p:nvSpPr>
          <p:cNvPr id="10" name="!!dim"/>
          <p:cNvSpPr/>
          <p:nvPr/>
        </p:nvSpPr>
        <p:spPr>
          <a:xfrm>
            <a:off x="0" y="0"/>
            <a:ext cx="50400000" cy="18000000"/>
          </a:xfrm>
          <a:prstGeom prst="rect">
            <a:avLst/>
          </a:prstGeom>
          <a:solidFill>
            <a:srgbClr val="1E0003">
              <a:alpha val="82000"/>
            </a:srgbClr>
          </a:solidFill>
          <a:ln>
            <a:noFill/>
          </a:ln>
        </p:spPr>
        <p:txBody>
          <a:bodyPr rtlCol="0" anchor="ctr"/>
          <a:lstStyle/>
          <a:p>
            <a:pPr algn="ctr"/>
          </a:p>
        </p:txBody>
      </p:sp>
      <p:pic>
        <p:nvPicPr>
          <p:cNvPr id="11" name="!!p8" descr="image.jpg"/>
          <p:cNvPicPr>
            <a:picLocks noChangeAspect="1"/>
          </p:cNvPicPr>
          <p:nvPr/>
        </p:nvPicPr>
        <p:blipFill>
          <a:blip r:embed="rId2"/>
          <a:srcRect l="86050" t="23390" r="3200" b="37810"/>
          <a:stretch>
            <a:fillRect/>
          </a:stretch>
        </p:blipFill>
        <p:spPr>
          <a:xfrm>
            <a:off x="19335155" y="1440000"/>
            <a:ext cx="11729691" cy="15120000"/>
          </a:xfrm>
          <a:prstGeom prst="roundRect">
            <a:avLst>
              <a:gd name="adj" fmla="val 3000"/>
            </a:avLst>
          </a:prstGeom>
          <a:ln w="216000">
            <a:solidFill>
              <a:srgbClr val="FFFFFF"/>
            </a:solidFill>
          </a:ln>
          <a:effectLst>
            <a:outerShdw blurRad="2160000" dist="540000" dir="5400000" algn="t" rotWithShape="0">
              <a:srgbClr val="000000">
                <a:alpha val="65000"/>
              </a:srgbClr>
            </a:outerShdw>
          </a:effectLst>
        </p:spPr>
      </p:pic>
      <p:sp>
        <p:nvSpPr>
          <p:cNvPr id="12" name="标语8"/>
          <p:cNvSpPr txBox="1"/>
          <p:nvPr/>
        </p:nvSpPr>
        <p:spPr>
          <a:xfrm>
            <a:off x="2160000" y="4914000"/>
            <a:ext cx="15803555" cy="1080000"/>
          </a:xfrm>
          <a:prstGeom prst="rect">
            <a:avLst/>
          </a:prstGeom>
          <a:noFill/>
        </p:spPr>
        <p:txBody>
          <a:bodyPr wrap="square" lIns="0" rIns="0" tIns="0" bIns="0" anchor="t">
            <a:noAutofit/>
          </a:bodyPr>
          <a:lstStyle/>
          <a:p>
            <a:pPr algn="r"/>
            <a:r>
              <a:rPr sz="6519" b="0" spc="1955">
                <a:solidFill>
                  <a:srgbClr val="FFD27A"/>
                </a:solidFill>
                <a:latin typeface="Microsoft YaHei"/>
                <a:ea typeface="微软雅黑"/>
              </a:rPr>
              <a:t>我为核安全文化代言</a:t>
            </a:r>
          </a:p>
        </p:txBody>
      </p:sp>
      <p:sp>
        <p:nvSpPr>
          <p:cNvPr id="13" name="姓名8"/>
          <p:cNvSpPr txBox="1"/>
          <p:nvPr/>
        </p:nvSpPr>
        <p:spPr>
          <a:xfrm>
            <a:off x="2160000" y="5994000"/>
            <a:ext cx="15943955" cy="4050000"/>
          </a:xfrm>
          <a:prstGeom prst="rect">
            <a:avLst/>
          </a:prstGeom>
          <a:noFill/>
        </p:spPr>
        <p:txBody>
          <a:bodyPr wrap="square" lIns="0" rIns="0" tIns="0" bIns="0" anchor="t">
            <a:noAutofit/>
          </a:bodyPr>
          <a:lstStyle/>
          <a:p>
            <a:pPr algn="r"/>
            <a:r>
              <a:rPr sz="25511" b="1" spc="3061">
                <a:solidFill>
                  <a:srgbClr val="FFFFFF"/>
                </a:solidFill>
                <a:latin typeface="Microsoft YaHei"/>
                <a:ea typeface="微软雅黑"/>
              </a:rPr>
              <a:t>何韶然</a:t>
            </a:r>
          </a:p>
        </p:txBody>
      </p:sp>
      <p:sp>
        <p:nvSpPr>
          <p:cNvPr id="14" name="金线8"/>
          <p:cNvSpPr/>
          <p:nvPr/>
        </p:nvSpPr>
        <p:spPr>
          <a:xfrm>
            <a:off x="12315155" y="10512000"/>
            <a:ext cx="5400000" cy="180000"/>
          </a:xfrm>
          <a:prstGeom prst="roundRect">
            <a:avLst>
              <a:gd name="adj" fmla="val 50000"/>
            </a:avLst>
          </a:prstGeom>
          <a:gradFill rotWithShape="1">
            <a:gsLst>
              <a:gs pos="0">
                <a:srgbClr val="FFD27A">
                  <a:alpha val="0"/>
                </a:srgbClr>
              </a:gs>
              <a:gs pos="100000">
                <a:srgbClr val="FFD27A"/>
              </a:gs>
            </a:gsLst>
            <a:lin ang="0" scaled="0"/>
          </a:gradFill>
          <a:ln>
            <a:noFill/>
          </a:ln>
        </p:spPr>
        <p:txBody>
          <a:bodyPr rtlCol="0" anchor="ctr"/>
          <a:lstStyle/>
          <a:p>
            <a:pPr algn="ctr"/>
          </a:p>
        </p:txBody>
      </p:sp>
      <p:sp>
        <p:nvSpPr>
          <p:cNvPr id="15" name="单位8"/>
          <p:cNvSpPr txBox="1"/>
          <p:nvPr/>
        </p:nvSpPr>
        <p:spPr>
          <a:xfrm>
            <a:off x="2160000" y="11304000"/>
            <a:ext cx="15691955" cy="1800000"/>
          </a:xfrm>
          <a:prstGeom prst="rect">
            <a:avLst/>
          </a:prstGeom>
          <a:noFill/>
        </p:spPr>
        <p:txBody>
          <a:bodyPr wrap="square" lIns="0" rIns="0" tIns="0" bIns="0" anchor="t">
            <a:noAutofit/>
          </a:bodyPr>
          <a:lstStyle/>
          <a:p>
            <a:pPr algn="r"/>
            <a:r>
              <a:rPr sz="10771" b="1" spc="1077">
                <a:solidFill>
                  <a:srgbClr val="FFD27A"/>
                </a:solidFill>
                <a:latin typeface="Microsoft YaHei"/>
                <a:ea typeface="微软雅黑"/>
              </a:rPr>
              <a:t>运行二处</a:t>
            </a:r>
          </a:p>
        </p:txBody>
      </p:sp>
      <p:sp>
        <p:nvSpPr>
          <p:cNvPr id="16" name="简介卡8"/>
          <p:cNvSpPr/>
          <p:nvPr/>
        </p:nvSpPr>
        <p:spPr>
          <a:xfrm>
            <a:off x="32684845" y="2160000"/>
            <a:ext cx="15555155" cy="13680000"/>
          </a:xfrm>
          <a:prstGeom prst="roundRect">
            <a:avLst>
              <a:gd name="adj" fmla="val 3157"/>
            </a:avLst>
          </a:prstGeom>
          <a:solidFill>
            <a:srgbClr val="FFFFFF">
              <a:alpha val="96000"/>
            </a:srgbClr>
          </a:solidFill>
          <a:ln>
            <a:noFill/>
          </a:ln>
        </p:spPr>
        <p:txBody>
          <a:bodyPr rtlCol="0" anchor="ctr"/>
          <a:lstStyle/>
          <a:p>
            <a:pPr algn="ctr"/>
          </a:p>
        </p:txBody>
      </p:sp>
      <p:sp>
        <p:nvSpPr>
          <p:cNvPr id="17" name="简介标记8"/>
          <p:cNvSpPr/>
          <p:nvPr/>
        </p:nvSpPr>
        <p:spPr>
          <a:xfrm>
            <a:off x="33764845" y="3132000"/>
            <a:ext cx="252000" cy="1008000"/>
          </a:xfrm>
          <a:prstGeom prst="roundRect">
            <a:avLst/>
          </a:prstGeom>
          <a:solidFill>
            <a:srgbClr val="C8161D"/>
          </a:solidFill>
          <a:ln>
            <a:noFill/>
          </a:ln>
        </p:spPr>
        <p:txBody>
          <a:bodyPr rtlCol="0" anchor="ctr"/>
          <a:lstStyle/>
          <a:p>
            <a:pPr algn="ctr"/>
          </a:p>
        </p:txBody>
      </p:sp>
      <p:sp>
        <p:nvSpPr>
          <p:cNvPr id="18" name="简介标题8"/>
          <p:cNvSpPr txBox="1"/>
          <p:nvPr/>
        </p:nvSpPr>
        <p:spPr>
          <a:xfrm>
            <a:off x="34412845" y="3060000"/>
            <a:ext cx="12747155" cy="1152000"/>
          </a:xfrm>
          <a:prstGeom prst="rect">
            <a:avLst/>
          </a:prstGeom>
          <a:noFill/>
        </p:spPr>
        <p:txBody>
          <a:bodyPr wrap="square" lIns="0" rIns="0" tIns="0" bIns="0" anchor="ctr">
            <a:noAutofit/>
          </a:bodyPr>
          <a:lstStyle/>
          <a:p>
            <a:pPr algn="l"/>
            <a:r>
              <a:rPr sz="7370" b="1" spc="1105">
                <a:solidFill>
                  <a:srgbClr val="C8161D"/>
                </a:solidFill>
                <a:latin typeface="Microsoft YaHei"/>
                <a:ea typeface="微软雅黑"/>
              </a:rPr>
              <a:t>个人简介</a:t>
            </a:r>
          </a:p>
        </p:txBody>
      </p:sp>
      <p:sp>
        <p:nvSpPr>
          <p:cNvPr id="19" name="简介8"/>
          <p:cNvSpPr txBox="1"/>
          <p:nvPr/>
        </p:nvSpPr>
        <p:spPr>
          <a:xfrm>
            <a:off x="33764845" y="4680000"/>
            <a:ext cx="13395155" cy="10188000"/>
          </a:xfrm>
          <a:prstGeom prst="rect">
            <a:avLst/>
          </a:prstGeom>
          <a:noFill/>
        </p:spPr>
        <p:txBody>
          <a:bodyPr wrap="square" lIns="0" rIns="0" tIns="0" bIns="0" anchor="t">
            <a:noAutofit/>
          </a:bodyPr>
          <a:lstStyle/>
          <a:p>
            <a:pPr algn="just" marL="0" indent="1512000">
              <a:lnSpc>
                <a:spcPts val="9524"/>
              </a:lnSpc>
            </a:pPr>
            <a:r>
              <a:rPr sz="5952" b="0">
                <a:solidFill>
                  <a:srgbClr val="2A1A1A"/>
                </a:solidFill>
                <a:latin typeface="Microsoft YaHei"/>
                <a:ea typeface="微软雅黑"/>
              </a:rPr>
              <a:t>何韶然深入思考，充分质疑，消除主给水泵安全隐患。何韶然不轻易放过任何隐患，不盲目接受现有逻辑设计，在发现调试机组存在隐患后主动反馈一期生产机组，实现了运行经验指导调试和调试经验反哺运行的双向联动，用实际行动践行了核安全文化核心理念。</a:t>
            </a:r>
          </a:p>
        </p:txBody>
      </p:sp>
      <p:sp>
        <p:nvSpPr>
          <p:cNvPr id="20" name="返回8">
            <a:hlinkClick action="ppaction://hlinksldjump" r:id="rId3"/>
          </p:cNvPr>
          <p:cNvSpPr/>
          <p:nvPr/>
        </p:nvSpPr>
        <p:spPr>
          <a:xfrm>
            <a:off x="0" y="0"/>
            <a:ext cx="50400000" cy="18000000"/>
          </a:xfrm>
          <a:prstGeom prst="rect">
            <a:avLst/>
          </a:prstGeom>
          <a:solidFill>
            <a:srgbClr val="000000">
              <a:alpha val="0"/>
            </a:srgbClr>
          </a:solidFill>
          <a:ln>
            <a:noFill/>
          </a:ln>
        </p:spPr>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advClick="0">
        <p159:morph option="byObject"/>
      </p:transition>
    </mc:Choice>
    <mc:Fallback>
      <p:transition spd="slow" advClick="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