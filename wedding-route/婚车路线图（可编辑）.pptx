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459200" cy="117043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303省道"/>
          <p:cNvSpPr txBox="1"/>
          <p:nvPr/>
        </p:nvSpPr>
        <p:spPr>
          <a:xfrm rot="342636">
            <a:off x="5116844" y="2956813"/>
            <a:ext cx="1112093" cy="31619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872" b="0">
                <a:solidFill>
                  <a:srgbClr val="5B5B5B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303省道</a:t>
            </a:r>
          </a:p>
        </p:txBody>
      </p:sp>
      <p:sp>
        <p:nvSpPr>
          <p:cNvPr id="3" name="303省道"/>
          <p:cNvSpPr txBox="1"/>
          <p:nvPr/>
        </p:nvSpPr>
        <p:spPr>
          <a:xfrm rot="342636">
            <a:off x="10146044" y="3596893"/>
            <a:ext cx="1112093" cy="31619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872" b="0">
                <a:solidFill>
                  <a:srgbClr val="5B5B5B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303省道</a:t>
            </a:r>
          </a:p>
        </p:txBody>
      </p:sp>
      <p:sp>
        <p:nvSpPr>
          <p:cNvPr id="4" name="西环城路"/>
          <p:cNvSpPr txBox="1"/>
          <p:nvPr/>
        </p:nvSpPr>
        <p:spPr>
          <a:xfrm rot="2972266">
            <a:off x="10268905" y="6506640"/>
            <a:ext cx="1082649" cy="2918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728" b="0">
                <a:solidFill>
                  <a:srgbClr val="5B5B5B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西环城路</a:t>
            </a:r>
          </a:p>
        </p:txBody>
      </p:sp>
      <p:sp>
        <p:nvSpPr>
          <p:cNvPr id="5" name="德农环路"/>
          <p:cNvSpPr txBox="1"/>
          <p:nvPr/>
        </p:nvSpPr>
        <p:spPr>
          <a:xfrm rot="4781709">
            <a:off x="10172604" y="9034031"/>
            <a:ext cx="1082649" cy="2918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728" b="0">
                <a:solidFill>
                  <a:srgbClr val="5B5B5B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德农环路</a:t>
            </a:r>
          </a:p>
        </p:txBody>
      </p:sp>
      <p:sp>
        <p:nvSpPr>
          <p:cNvPr id="6" name="德农环路"/>
          <p:cNvSpPr txBox="1"/>
          <p:nvPr/>
        </p:nvSpPr>
        <p:spPr>
          <a:xfrm rot="810994">
            <a:off x="12263622" y="9869318"/>
            <a:ext cx="1082649" cy="2918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728" b="0">
                <a:solidFill>
                  <a:srgbClr val="5B5B5B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德农环路</a:t>
            </a:r>
          </a:p>
        </p:txBody>
      </p:sp>
      <p:sp>
        <p:nvSpPr>
          <p:cNvPr id="7" name="京哈高速"/>
          <p:cNvSpPr txBox="1"/>
          <p:nvPr/>
        </p:nvSpPr>
        <p:spPr>
          <a:xfrm rot="16866034">
            <a:off x="11382527" y="2916662"/>
            <a:ext cx="1082649" cy="2918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728" b="0">
                <a:solidFill>
                  <a:srgbClr val="5D6F9C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京哈高速</a:t>
            </a:r>
          </a:p>
        </p:txBody>
      </p:sp>
      <p:sp>
        <p:nvSpPr>
          <p:cNvPr id="8" name="京哈高速"/>
          <p:cNvSpPr txBox="1"/>
          <p:nvPr/>
        </p:nvSpPr>
        <p:spPr>
          <a:xfrm rot="17306097">
            <a:off x="8975721" y="9223603"/>
            <a:ext cx="1082649" cy="2918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728" b="0">
                <a:solidFill>
                  <a:srgbClr val="5D6F9C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京哈高速</a:t>
            </a:r>
          </a:p>
        </p:txBody>
      </p:sp>
      <p:sp>
        <p:nvSpPr>
          <p:cNvPr id="9" name="德农路"/>
          <p:cNvSpPr txBox="1"/>
          <p:nvPr/>
        </p:nvSpPr>
        <p:spPr>
          <a:xfrm rot="20986389">
            <a:off x="9151806" y="8210670"/>
            <a:ext cx="830275" cy="2918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728" b="0">
                <a:solidFill>
                  <a:srgbClr val="5B5B5B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德农路</a:t>
            </a:r>
          </a:p>
        </p:txBody>
      </p:sp>
      <p:sp>
        <p:nvSpPr>
          <p:cNvPr id="10" name="G102国道"/>
          <p:cNvSpPr txBox="1"/>
          <p:nvPr/>
        </p:nvSpPr>
        <p:spPr>
          <a:xfrm rot="18842470">
            <a:off x="12076860" y="9144409"/>
            <a:ext cx="1276136" cy="31619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872" b="0">
                <a:solidFill>
                  <a:srgbClr val="5B5B5B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G102国道</a:t>
            </a:r>
          </a:p>
        </p:txBody>
      </p:sp>
      <p:sp>
        <p:nvSpPr>
          <p:cNvPr id="11" name="天台镇"/>
          <p:cNvSpPr txBox="1"/>
          <p:nvPr/>
        </p:nvSpPr>
        <p:spPr>
          <a:xfrm>
            <a:off x="6471208" y="3898782"/>
            <a:ext cx="956462" cy="3405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2016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天台镇</a:t>
            </a:r>
          </a:p>
        </p:txBody>
      </p:sp>
      <p:sp>
        <p:nvSpPr>
          <p:cNvPr id="12" name="万金塔乡"/>
          <p:cNvSpPr txBox="1"/>
          <p:nvPr/>
        </p:nvSpPr>
        <p:spPr>
          <a:xfrm>
            <a:off x="640080" y="2511015"/>
            <a:ext cx="1082649" cy="2918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1728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万金塔乡</a:t>
            </a:r>
          </a:p>
        </p:txBody>
      </p:sp>
      <p:sp>
        <p:nvSpPr>
          <p:cNvPr id="13" name="德惠西站"/>
          <p:cNvSpPr txBox="1"/>
          <p:nvPr/>
        </p:nvSpPr>
        <p:spPr>
          <a:xfrm>
            <a:off x="12124944" y="6653247"/>
            <a:ext cx="1082649" cy="2918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1728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德惠西站</a:t>
            </a:r>
          </a:p>
        </p:txBody>
      </p:sp>
      <p:sp>
        <p:nvSpPr>
          <p:cNvPr id="14" name="龙凤采摘园"/>
          <p:cNvSpPr txBox="1"/>
          <p:nvPr/>
        </p:nvSpPr>
        <p:spPr>
          <a:xfrm>
            <a:off x="11337417" y="8052809"/>
            <a:ext cx="1282446" cy="2797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656" b="0">
                <a:solidFill>
                  <a:srgbClr val="3A9B3F"/>
                </a:solidFill>
                <a:latin typeface="微软雅黑"/>
                <a:ea typeface="微软雅黑"/>
                <a:cs typeface="微软雅黑"/>
              </a:rPr>
              <a:t>龙凤采摘园</a:t>
            </a:r>
          </a:p>
        </p:txBody>
      </p:sp>
      <p:sp>
        <p:nvSpPr>
          <p:cNvPr id="15" name="德惠市区"/>
          <p:cNvSpPr txBox="1"/>
          <p:nvPr/>
        </p:nvSpPr>
        <p:spPr>
          <a:xfrm>
            <a:off x="12004243" y="7024969"/>
            <a:ext cx="1503273" cy="36484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2160" b="1" spc="288">
                <a:solidFill>
                  <a:srgbClr val="8A8AA8"/>
                </a:solidFill>
                <a:latin typeface="微软雅黑"/>
                <a:ea typeface="微软雅黑"/>
                <a:cs typeface="微软雅黑"/>
              </a:rPr>
              <a:t>德惠市区</a:t>
            </a:r>
          </a:p>
        </p:txBody>
      </p:sp>
      <p:sp>
        <p:nvSpPr>
          <p:cNvPr id="16" name="红旗大市场"/>
          <p:cNvSpPr txBox="1"/>
          <p:nvPr/>
        </p:nvSpPr>
        <p:spPr>
          <a:xfrm>
            <a:off x="12399264" y="7413260"/>
            <a:ext cx="1229868" cy="2675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1584" b="0">
                <a:solidFill>
                  <a:srgbClr val="A03CC8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红旗大市场</a:t>
            </a:r>
          </a:p>
        </p:txBody>
      </p:sp>
      <p:sp>
        <p:nvSpPr>
          <p:cNvPr id="17" name="王三姐绿色生态园"/>
          <p:cNvSpPr txBox="1"/>
          <p:nvPr/>
        </p:nvSpPr>
        <p:spPr>
          <a:xfrm>
            <a:off x="14228064" y="6169676"/>
            <a:ext cx="1923897" cy="2675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1584" b="0">
                <a:solidFill>
                  <a:srgbClr val="3A9B3F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王三姐绿色生态园</a:t>
            </a:r>
          </a:p>
        </p:txBody>
      </p:sp>
      <p:sp>
        <p:nvSpPr>
          <p:cNvPr id="18" name="新郎家"/>
          <p:cNvSpPr txBox="1"/>
          <p:nvPr/>
        </p:nvSpPr>
        <p:spPr>
          <a:xfrm>
            <a:off x="2286000" y="1788924"/>
            <a:ext cx="1574779" cy="5788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3427" b="1">
                <a:solidFill>
                  <a:srgbClr val="1F49FF"/>
                </a:solidFill>
                <a:effectLst>
                  <a:glow rad="43525">
                    <a:srgbClr val="FFFFFF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新郎家</a:t>
            </a:r>
          </a:p>
        </p:txBody>
      </p:sp>
      <p:sp>
        <p:nvSpPr>
          <p:cNvPr id="19" name="中国石油万金塔派出所北加油站"/>
          <p:cNvSpPr txBox="1"/>
          <p:nvPr/>
        </p:nvSpPr>
        <p:spPr>
          <a:xfrm>
            <a:off x="2304288" y="2401287"/>
            <a:ext cx="3606393" cy="2918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1728" b="0">
                <a:solidFill>
                  <a:srgbClr val="2B3F9E"/>
                </a:solidFill>
                <a:effectLst>
                  <a:glow rad="27432">
                    <a:srgbClr val="FFF7FA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中国石油万金塔派出所北加油站</a:t>
            </a:r>
          </a:p>
        </p:txBody>
      </p:sp>
      <p:sp>
        <p:nvSpPr>
          <p:cNvPr id="20" name="新娘家"/>
          <p:cNvSpPr txBox="1"/>
          <p:nvPr/>
        </p:nvSpPr>
        <p:spPr>
          <a:xfrm>
            <a:off x="11082528" y="10861614"/>
            <a:ext cx="1628409" cy="59956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3550" b="1">
                <a:solidFill>
                  <a:srgbClr val="E8202C"/>
                </a:solidFill>
                <a:effectLst>
                  <a:glow rad="45079">
                    <a:srgbClr val="FFFFFF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新娘家</a:t>
            </a:r>
          </a:p>
        </p:txBody>
      </p:sp>
      <p:sp>
        <p:nvSpPr>
          <p:cNvPr id="21" name="腰周家"/>
          <p:cNvSpPr txBox="1"/>
          <p:nvPr/>
        </p:nvSpPr>
        <p:spPr>
          <a:xfrm>
            <a:off x="12545568" y="11010692"/>
            <a:ext cx="1082649" cy="38916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2304" b="1">
                <a:solidFill>
                  <a:srgbClr val="C2185B"/>
                </a:solidFill>
                <a:effectLst>
                  <a:glow rad="29260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腰周家</a:t>
            </a:r>
          </a:p>
        </p:txBody>
      </p:sp>
      <p:sp>
        <p:nvSpPr>
          <p:cNvPr id="22" name="德惠市人民政府"/>
          <p:cNvSpPr txBox="1"/>
          <p:nvPr/>
        </p:nvSpPr>
        <p:spPr>
          <a:xfrm>
            <a:off x="13927683" y="8540752"/>
            <a:ext cx="2575864" cy="41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2448" b="1">
                <a:solidFill>
                  <a:srgbClr val="D35400"/>
                </a:solidFill>
                <a:effectLst>
                  <a:glow rad="31089">
                    <a:srgbClr val="FFFFFF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德惠市人民政府</a:t>
            </a:r>
          </a:p>
        </p:txBody>
      </p:sp>
      <p:sp>
        <p:nvSpPr>
          <p:cNvPr id="23" name="婚车路线图"/>
          <p:cNvSpPr txBox="1"/>
          <p:nvPr/>
        </p:nvSpPr>
        <p:spPr>
          <a:xfrm>
            <a:off x="5606186" y="388371"/>
            <a:ext cx="5246827" cy="107507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6365" b="1" spc="720">
                <a:solidFill>
                  <a:srgbClr val="E8202C"/>
                </a:solidFill>
                <a:effectLst>
                  <a:glow rad="80832">
                    <a:srgbClr val="FFFFFF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婚车路线图</a:t>
            </a:r>
          </a:p>
        </p:txBody>
      </p:sp>
      <p:sp>
        <p:nvSpPr>
          <p:cNvPr id="24" name="万金塔加油站 → 腰周家 → 德惠市人民政府 → 万金塔加油站"/>
          <p:cNvSpPr txBox="1"/>
          <p:nvPr/>
        </p:nvSpPr>
        <p:spPr>
          <a:xfrm>
            <a:off x="4447367" y="1522402"/>
            <a:ext cx="7564465" cy="31619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872" b="0">
                <a:solidFill>
                  <a:srgbClr val="C2185B"/>
                </a:solidFill>
                <a:latin typeface="微软雅黑"/>
                <a:ea typeface="微软雅黑"/>
                <a:cs typeface="微软雅黑"/>
              </a:rPr>
              <a:t>万金塔加油站 → 腰周家 → 德惠市人民政府 → 万金塔加油站</a:t>
            </a:r>
          </a:p>
        </p:txBody>
      </p:sp>
      <p:sp>
        <p:nvSpPr>
          <p:cNvPr id="25" name="北"/>
          <p:cNvSpPr txBox="1"/>
          <p:nvPr/>
        </p:nvSpPr>
        <p:spPr>
          <a:xfrm>
            <a:off x="14541703" y="364955"/>
            <a:ext cx="451713" cy="4378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2592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北</a:t>
            </a:r>
          </a:p>
        </p:txBody>
      </p:sp>
      <p:sp>
        <p:nvSpPr>
          <p:cNvPr id="26" name="图 例"/>
          <p:cNvSpPr txBox="1"/>
          <p:nvPr/>
        </p:nvSpPr>
        <p:spPr>
          <a:xfrm>
            <a:off x="14165610" y="2066800"/>
            <a:ext cx="1002731" cy="41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2448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图 例</a:t>
            </a:r>
          </a:p>
        </p:txBody>
      </p:sp>
      <p:sp>
        <p:nvSpPr>
          <p:cNvPr id="27" name="去新娘家"/>
          <p:cNvSpPr txBox="1"/>
          <p:nvPr/>
        </p:nvSpPr>
        <p:spPr>
          <a:xfrm>
            <a:off x="14100048" y="2821381"/>
            <a:ext cx="1124711" cy="30403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18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去新娘家</a:t>
            </a:r>
          </a:p>
        </p:txBody>
      </p:sp>
      <p:sp>
        <p:nvSpPr>
          <p:cNvPr id="28" name="去德惠市人民政府"/>
          <p:cNvSpPr txBox="1"/>
          <p:nvPr/>
        </p:nvSpPr>
        <p:spPr>
          <a:xfrm>
            <a:off x="14100048" y="3333445"/>
            <a:ext cx="2176271" cy="30403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18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去德惠市人民政府</a:t>
            </a:r>
          </a:p>
        </p:txBody>
      </p:sp>
      <p:sp>
        <p:nvSpPr>
          <p:cNvPr id="29" name="回新郎家"/>
          <p:cNvSpPr txBox="1"/>
          <p:nvPr/>
        </p:nvSpPr>
        <p:spPr>
          <a:xfrm>
            <a:off x="14100048" y="3845509"/>
            <a:ext cx="1124711" cy="30403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18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回新郎家</a:t>
            </a:r>
          </a:p>
        </p:txBody>
      </p:sp>
      <p:sp>
        <p:nvSpPr>
          <p:cNvPr id="30" name="新郎"/>
          <p:cNvSpPr txBox="1"/>
          <p:nvPr/>
        </p:nvSpPr>
        <p:spPr>
          <a:xfrm>
            <a:off x="1103680" y="7065788"/>
            <a:ext cx="535838" cy="2675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584" b="0">
                <a:solidFill>
                  <a:srgbClr val="B07A8C"/>
                </a:solidFill>
                <a:latin typeface="微软雅黑"/>
                <a:ea typeface="微软雅黑"/>
                <a:cs typeface="微软雅黑"/>
              </a:rPr>
              <a:t>新郎</a:t>
            </a:r>
          </a:p>
        </p:txBody>
      </p:sp>
      <p:sp>
        <p:nvSpPr>
          <p:cNvPr id="31" name="谢拾雨"/>
          <p:cNvSpPr txBox="1"/>
          <p:nvPr/>
        </p:nvSpPr>
        <p:spPr>
          <a:xfrm>
            <a:off x="609447" y="7363955"/>
            <a:ext cx="1524304" cy="5594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3312" b="0">
                <a:solidFill>
                  <a:srgbClr val="1F49FF"/>
                </a:solidFill>
                <a:latin typeface="楷体"/>
                <a:ea typeface="楷体"/>
                <a:cs typeface="楷体"/>
              </a:rPr>
              <a:t>谢拾雨</a:t>
            </a:r>
          </a:p>
        </p:txBody>
      </p:sp>
      <p:sp>
        <p:nvSpPr>
          <p:cNvPr id="32" name="新娘"/>
          <p:cNvSpPr txBox="1"/>
          <p:nvPr/>
        </p:nvSpPr>
        <p:spPr>
          <a:xfrm>
            <a:off x="2932480" y="7065788"/>
            <a:ext cx="535838" cy="2675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584" b="0">
                <a:solidFill>
                  <a:srgbClr val="B07A8C"/>
                </a:solidFill>
                <a:latin typeface="微软雅黑"/>
                <a:ea typeface="微软雅黑"/>
                <a:cs typeface="微软雅黑"/>
              </a:rPr>
              <a:t>新娘</a:t>
            </a:r>
          </a:p>
        </p:txBody>
      </p:sp>
      <p:sp>
        <p:nvSpPr>
          <p:cNvPr id="33" name="周心语"/>
          <p:cNvSpPr txBox="1"/>
          <p:nvPr/>
        </p:nvSpPr>
        <p:spPr>
          <a:xfrm>
            <a:off x="2438247" y="7363955"/>
            <a:ext cx="1524304" cy="5594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3312" b="0">
                <a:solidFill>
                  <a:srgbClr val="E8202C"/>
                </a:solidFill>
                <a:latin typeface="楷体"/>
                <a:ea typeface="楷体"/>
                <a:cs typeface="楷体"/>
              </a:rPr>
              <a:t>周心语</a:t>
            </a:r>
          </a:p>
        </p:txBody>
      </p:sp>
      <p:sp>
        <p:nvSpPr>
          <p:cNvPr id="34" name="2026.10.28"/>
          <p:cNvSpPr txBox="1"/>
          <p:nvPr/>
        </p:nvSpPr>
        <p:spPr>
          <a:xfrm>
            <a:off x="419709" y="8308567"/>
            <a:ext cx="3732580" cy="70536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4176" b="1">
                <a:solidFill>
                  <a:srgbClr val="E8202C"/>
                </a:solidFill>
                <a:latin typeface="微软雅黑"/>
                <a:ea typeface="微软雅黑"/>
                <a:cs typeface="微软雅黑"/>
              </a:rPr>
              <a:t>2026.10.28</a:t>
            </a:r>
          </a:p>
        </p:txBody>
      </p:sp>
      <p:sp>
        <p:nvSpPr>
          <p:cNvPr id="35" name="农历九月十九 · 星期三"/>
          <p:cNvSpPr txBox="1"/>
          <p:nvPr/>
        </p:nvSpPr>
        <p:spPr>
          <a:xfrm>
            <a:off x="773033" y="9038770"/>
            <a:ext cx="3025932" cy="31619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872" b="0">
                <a:solidFill>
                  <a:srgbClr val="E8457A"/>
                </a:solidFill>
                <a:latin typeface="微软雅黑"/>
                <a:ea typeface="微软雅黑"/>
                <a:cs typeface="微软雅黑"/>
              </a:rPr>
              <a:t>农历九月十九 · 星期三</a:t>
            </a:r>
          </a:p>
        </p:txBody>
      </p:sp>
      <p:sp>
        <p:nvSpPr>
          <p:cNvPr id="36" name="时间安排"/>
          <p:cNvSpPr txBox="1"/>
          <p:nvPr/>
        </p:nvSpPr>
        <p:spPr>
          <a:xfrm>
            <a:off x="5324276" y="4998404"/>
            <a:ext cx="1970166" cy="47551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2815" b="1" spc="432">
                <a:solidFill>
                  <a:srgbClr val="E8202C"/>
                </a:solidFill>
                <a:latin typeface="微软雅黑"/>
                <a:ea typeface="微软雅黑"/>
                <a:cs typeface="微软雅黑"/>
              </a:rPr>
              <a:t>时间安排</a:t>
            </a:r>
          </a:p>
        </p:txBody>
      </p:sp>
      <p:sp>
        <p:nvSpPr>
          <p:cNvPr id="37" name="5:00 – 5:20"/>
          <p:cNvSpPr txBox="1"/>
          <p:nvPr/>
        </p:nvSpPr>
        <p:spPr>
          <a:xfrm>
            <a:off x="5047488" y="5770120"/>
            <a:ext cx="2432852" cy="41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2448" b="1">
                <a:solidFill>
                  <a:srgbClr val="E8202C"/>
                </a:solidFill>
                <a:latin typeface="微软雅黑"/>
                <a:ea typeface="微软雅黑"/>
                <a:cs typeface="微软雅黑"/>
              </a:rPr>
              <a:t>5:00 – 5:20</a:t>
            </a:r>
          </a:p>
        </p:txBody>
      </p:sp>
      <p:sp>
        <p:nvSpPr>
          <p:cNvPr id="38" name="到达万金塔集结扎花"/>
          <p:cNvSpPr txBox="1"/>
          <p:nvPr/>
        </p:nvSpPr>
        <p:spPr>
          <a:xfrm>
            <a:off x="5047488" y="6212214"/>
            <a:ext cx="2723083" cy="3405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2016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到达万金塔集结扎花</a:t>
            </a:r>
          </a:p>
        </p:txBody>
      </p:sp>
      <p:sp>
        <p:nvSpPr>
          <p:cNvPr id="39" name="5:30"/>
          <p:cNvSpPr txBox="1"/>
          <p:nvPr/>
        </p:nvSpPr>
        <p:spPr>
          <a:xfrm>
            <a:off x="5047488" y="6794248"/>
            <a:ext cx="931224" cy="41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2448" b="1">
                <a:solidFill>
                  <a:srgbClr val="E8202C"/>
                </a:solidFill>
                <a:latin typeface="微软雅黑"/>
                <a:ea typeface="微软雅黑"/>
                <a:cs typeface="微软雅黑"/>
              </a:rPr>
              <a:t>5:30</a:t>
            </a:r>
          </a:p>
        </p:txBody>
      </p:sp>
      <p:sp>
        <p:nvSpPr>
          <p:cNvPr id="40" name="从万金塔出发（男方）"/>
          <p:cNvSpPr txBox="1"/>
          <p:nvPr/>
        </p:nvSpPr>
        <p:spPr>
          <a:xfrm>
            <a:off x="5047488" y="7236342"/>
            <a:ext cx="3017520" cy="3405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2016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从万金塔出发（男方）</a:t>
            </a:r>
          </a:p>
        </p:txBody>
      </p:sp>
      <p:sp>
        <p:nvSpPr>
          <p:cNvPr id="41" name="6:30"/>
          <p:cNvSpPr txBox="1"/>
          <p:nvPr/>
        </p:nvSpPr>
        <p:spPr>
          <a:xfrm>
            <a:off x="5047488" y="7818376"/>
            <a:ext cx="931224" cy="41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2448" b="1">
                <a:solidFill>
                  <a:srgbClr val="E8202C"/>
                </a:solidFill>
                <a:latin typeface="微软雅黑"/>
                <a:ea typeface="微软雅黑"/>
                <a:cs typeface="微软雅黑"/>
              </a:rPr>
              <a:t>6:30</a:t>
            </a:r>
          </a:p>
        </p:txBody>
      </p:sp>
      <p:sp>
        <p:nvSpPr>
          <p:cNvPr id="42" name="到达腰周家（女方）"/>
          <p:cNvSpPr txBox="1"/>
          <p:nvPr/>
        </p:nvSpPr>
        <p:spPr>
          <a:xfrm>
            <a:off x="5047488" y="8260470"/>
            <a:ext cx="2723083" cy="3405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2016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到达腰周家（女方）</a:t>
            </a:r>
          </a:p>
        </p:txBody>
      </p:sp>
      <p:sp>
        <p:nvSpPr>
          <p:cNvPr id="43" name="8:00"/>
          <p:cNvSpPr txBox="1"/>
          <p:nvPr/>
        </p:nvSpPr>
        <p:spPr>
          <a:xfrm>
            <a:off x="5047488" y="8842504"/>
            <a:ext cx="931224" cy="41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2448" b="1">
                <a:solidFill>
                  <a:srgbClr val="E8202C"/>
                </a:solidFill>
                <a:latin typeface="微软雅黑"/>
                <a:ea typeface="微软雅黑"/>
                <a:cs typeface="微软雅黑"/>
              </a:rPr>
              <a:t>8:00</a:t>
            </a:r>
          </a:p>
        </p:txBody>
      </p:sp>
      <p:sp>
        <p:nvSpPr>
          <p:cNvPr id="44" name="从腰周家出发返回万金塔"/>
          <p:cNvSpPr txBox="1"/>
          <p:nvPr/>
        </p:nvSpPr>
        <p:spPr>
          <a:xfrm>
            <a:off x="5047488" y="9284598"/>
            <a:ext cx="3311956" cy="3405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2016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从腰周家出发返回万金塔</a:t>
            </a:r>
          </a:p>
        </p:txBody>
      </p:sp>
      <p:sp>
        <p:nvSpPr>
          <p:cNvPr id="45" name="途经德惠市人民政府"/>
          <p:cNvSpPr txBox="1"/>
          <p:nvPr/>
        </p:nvSpPr>
        <p:spPr>
          <a:xfrm>
            <a:off x="5047488" y="9653540"/>
            <a:ext cx="2155240" cy="2675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1584" b="0">
                <a:solidFill>
                  <a:srgbClr val="9A7F88"/>
                </a:solidFill>
                <a:latin typeface="微软雅黑"/>
                <a:ea typeface="微软雅黑"/>
                <a:cs typeface="微软雅黑"/>
              </a:rPr>
              <a:t>途经德惠市人民政府</a:t>
            </a:r>
          </a:p>
        </p:txBody>
      </p:sp>
      <p:sp>
        <p:nvSpPr>
          <p:cNvPr id="46" name="感谢各位朋友，请按图示路线行驶"/>
          <p:cNvSpPr txBox="1"/>
          <p:nvPr/>
        </p:nvSpPr>
        <p:spPr>
          <a:xfrm>
            <a:off x="1828800" y="10443764"/>
            <a:ext cx="5120640" cy="38916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2304" b="1">
                <a:solidFill>
                  <a:srgbClr val="E8457A"/>
                </a:solidFill>
                <a:latin typeface="微软雅黑"/>
                <a:ea typeface="微软雅黑"/>
                <a:cs typeface="微软雅黑"/>
              </a:rPr>
              <a:t>感谢各位朋友，请按图示路线行驶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