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287000" cy="13716000"/>
  <p:notesSz cx="13716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使用说明" id="{f7b593f9-1ec1-c327-f260-6ee7b0ac8e66}">
          <p14:sldIdLst>
            <p14:sldId id="256"/>
            <p14:sldId id="257"/>
            <p14:sldId id="258"/>
            <p14:sldId id="259"/>
          </p14:sldIdLst>
        </p14:section>
        <p14:section name="封面模板" id="{c6f666d5-c5b9-59bd-d346-9932ec1b8853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 A「暗夜画廊」使用方法：
1. 左侧缩略图右键这一页 →「复制幻灯片」，在副本上改，原模板留着下次用。
2. 换照片：右键照片 →「更改图片」→ 选新照片；或者选中照片按 Delete，再点画框中间的图标插入，会自动裁成画框大小。
3. 调位置：双击照片 →「裁剪」，拖动照片让表盘居中。可在「开始 → 选择 → 选择窗格」显示「构图参考线」对位，导出前再隐藏。
4. 直接点文字修改：店名、期数、品牌、型号、服务项目。字多了会自动缩小。
5. 导出：文件 → 导出 → 更改文件类型 → PNG → 仅当前幻灯片（1080×1440）。
   WPS：文件 → 输出为图片 → 当前页；或 另存为 → PNG。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 B「象牙画册」使用方法：
1. 左侧缩略图右键这一页 →「复制幻灯片」，在副本上改，原模板留着下次用。
2. 换照片：右键照片 →「更改图片」→ 选新照片；或者选中照片按 Delete，再点画框中间的图标插入，会自动裁成画框大小。
3. 调位置：双击照片 →「裁剪」，拖动照片让表盘居中。可在「开始 → 选择 → 选择窗格」显示「构图参考线」对位，导出前再隐藏。
4. 直接点文字修改：店名、期数、品牌、型号、服务项目。字多了会自动缩小。
5. 导出：文件 → 导出 → 更改文件类型 → PNG → 仅当前幻灯片（1080×1440）。
   WPS：文件 → 输出为图片 → 当前页；或 另存为 → PNG。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 C「维修档案」使用方法：
1. 左侧缩略图右键这一页 →「复制幻灯片」，在副本上改，原模板留着下次用。
2. 换照片：右键照片 →「更改图片」→ 选新照片；或者选中照片按 Delete，再点画框中间的图标插入，会自动裁成画框大小。
3. 调位置：双击照片 →「裁剪」，拖动照片让表盘居中。可在「开始 → 选择 → 选择窗格」显示「构图参考线」对位，导出前再隐藏。
4. 直接点文字修改：店名、期数、品牌、型号、服务项目。字多了会自动缩小。
5. 导出：文件 → 导出 → 更改文件类型 → PNG → 仅当前幻灯片（1080×1440）。
   WPS：文件 → 输出为图片 → 当前页；或 另存为 → PNG。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_NOI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_IVORY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_DOSSI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NOI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14400" y="1676400"/>
            <a:ext cx="8458200" cy="78867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dirty="0"/>
            </a:lvl1pPr>
          </a:lstStyle>
          <a:p>
            <a:pPr indent="0" marL="0">
              <a:buNone/>
            </a:pPr>
            <a:r>
              <a:rPr lang="zh-CN" dirty="0">
                <a:solidFill>
                  <a:srgbClr val="000000"/>
                </a:solidFill>
              </a:rPr>
              <a:t>点图标插入手表照片</a:t>
            </a:r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IVOR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609600" y="609600"/>
            <a:ext cx="9067800" cy="906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dirty="0"/>
            </a:lvl1pPr>
          </a:lstStyle>
          <a:p>
            <a:pPr indent="0" marL="0">
              <a:buNone/>
            </a:pPr>
            <a:r>
              <a:rPr lang="zh-CN" dirty="0">
                <a:solidFill>
                  <a:srgbClr val="000000"/>
                </a:solidFill>
              </a:rPr>
              <a:t>点图标插入手表照片</a:t>
            </a:r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OSSI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685800" y="1524000"/>
            <a:ext cx="8915400" cy="769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dirty="0"/>
            </a:lvl1pPr>
          </a:lstStyle>
          <a:p>
            <a:pPr indent="0" marL="0">
              <a:buNone/>
            </a:pPr>
            <a:r>
              <a:rPr lang="zh-CN" dirty="0">
                <a:solidFill>
                  <a:srgbClr val="000000"/>
                </a:solidFill>
              </a:rPr>
              <a:t>点图标插入手表照片</a:t>
            </a:r>
            <a:endParaRPr lang="zh-CN" dirty="0"/>
          </a:p>
        </p:txBody>
      </p:sp>
      <p:sp>
        <p:nvSpPr>
          <p:cNvPr id="3" name="Text 0"/>
          <p:cNvSpPr/>
          <p:nvPr/>
        </p:nvSpPr>
        <p:spPr>
          <a:xfrm>
            <a:off x="2286000" y="7048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100" spc="1200" kern="0" dirty="0">
                <a:solidFill>
                  <a:srgbClr val="ECE6DA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SERVICE  RECORD</a:t>
            </a:r>
            <a:endParaRPr lang="zh-CN" sz="2100" dirty="0"/>
          </a:p>
        </p:txBody>
      </p:sp>
      <p:sp>
        <p:nvSpPr>
          <p:cNvPr id="4" name="Text 1"/>
          <p:cNvSpPr/>
          <p:nvPr/>
        </p:nvSpPr>
        <p:spPr>
          <a:xfrm>
            <a:off x="685800" y="10934700"/>
            <a:ext cx="2381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spc="400" kern="0" dirty="0">
                <a:solidFill>
                  <a:srgbClr val="B0925F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BRAND  品牌</a:t>
            </a:r>
            <a:endParaRPr lang="zh-CN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1525250"/>
            <a:ext cx="2381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800" spc="400" kern="0" dirty="0">
                <a:solidFill>
                  <a:srgbClr val="B0925F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SERVICE  项目</a:t>
            </a:r>
            <a:endParaRPr lang="zh-CN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685800"/>
            <a:ext cx="8915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sz="4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defRPr>
            </a:lvl1pPr>
          </a:lstStyle>
          <a:p>
            <a:pPr algn="l" indent="0" marL="0">
              <a:buNone/>
            </a:pPr>
            <a:endParaRPr lang="zh-CN" sz="4000" dirty="0"/>
          </a:p>
        </p:txBody>
      </p:sp>
      <p:sp>
        <p:nvSpPr>
          <p:cNvPr id="3" name="Text 0"/>
          <p:cNvSpPr/>
          <p:nvPr/>
        </p:nvSpPr>
        <p:spPr>
          <a:xfrm>
            <a:off x="685800" y="1312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名表维修 · 抖音封面模板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zh-CN"/>
              <a:t>1005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68580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sz="4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三种画框风格，选一种用到底</a:t>
            </a:r>
            <a:endParaRPr lang="zh-CN" sz="4000" dirty="0"/>
          </a:p>
        </p:txBody>
      </p:sp>
      <p:sp>
        <p:nvSpPr>
          <p:cNvPr id="3" name="说明"/>
          <p:cNvSpPr txBox="1"/>
          <p:nvPr/>
        </p:nvSpPr>
        <p:spPr>
          <a:xfrm>
            <a:off x="685800" y="1572768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9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照片放进画框，文字都在照片外面，不压表。你们用柔光灯把表拍好，套进画框、改几个字就是一张封面。</a:t>
            </a:r>
            <a:endParaRPr lang="zh-CN" sz="1900" dirty="0"/>
          </a:p>
        </p:txBody>
      </p:sp>
      <p:pic>
        <p:nvPicPr>
          <p:cNvPr id="4" name="风格A预览" descr="封面风格 A「暗夜画廊」示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2834640" cy="37792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6428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A  暗夜画廊</a:t>
            </a:r>
            <a:pPr indent="0" marL="0">
              <a:buNone/>
            </a:pPr>
            <a:r>
              <a:rPr lang="zh-CN" sz="15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  推荐</a:t>
            </a:r>
            <a:endParaRPr lang="zh-CN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6903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黑卡纸配香槟金细线，像画廊里的展品，最稳重</a:t>
            </a:r>
            <a:endParaRPr lang="zh-CN" sz="1400" dirty="0"/>
          </a:p>
        </p:txBody>
      </p:sp>
      <p:pic>
        <p:nvPicPr>
          <p:cNvPr id="7" name="风格B预览" descr="封面风格 B「象牙画册」示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514600"/>
            <a:ext cx="2834640" cy="37792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726180" y="6428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B  象牙画册</a:t>
            </a:r>
            <a:endParaRPr lang="zh-CN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3726180" y="6903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米白纸张质感，像拍卖图录，在深色主页里最显眼</a:t>
            </a:r>
            <a:endParaRPr lang="zh-CN" sz="1400" dirty="0"/>
          </a:p>
        </p:txBody>
      </p:sp>
      <p:pic>
        <p:nvPicPr>
          <p:cNvPr id="10" name="风格C预览" descr="封面风格 C「维修档案」示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14600"/>
            <a:ext cx="2834640" cy="377921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6560" y="6428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1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C  维修档案</a:t>
            </a:r>
            <a:endParaRPr lang="zh-CN" sz="2100" dirty="0"/>
          </a:p>
        </p:txBody>
      </p:sp>
      <p:sp>
        <p:nvSpPr>
          <p:cNvPr id="12" name="Text 7"/>
          <p:cNvSpPr txBox="1"/>
          <p:nvPr/>
        </p:nvSpPr>
        <p:spPr>
          <a:xfrm>
            <a:off x="6766560" y="6903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取景框加维修档案表格，突出专业维修</a:t>
            </a:r>
            <a:endParaRPr lang="zh-CN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8092440"/>
            <a:ext cx="8915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4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字体都可免费商用</a:t>
            </a:r>
            <a:endParaRPr lang="zh-CN" sz="2400" dirty="0"/>
          </a:p>
        </p:txBody>
      </p:sp>
      <p:sp>
        <p:nvSpPr>
          <p:cNvPr id="14" name="Shape 9"/>
          <p:cNvSpPr/>
          <p:nvPr/>
        </p:nvSpPr>
        <p:spPr>
          <a:xfrm>
            <a:off x="685800" y="8778240"/>
            <a:ext cx="8915400" cy="804672"/>
          </a:xfrm>
          <a:prstGeom prst="roundRect">
            <a:avLst>
              <a:gd name="adj" fmla="val 9091"/>
            </a:avLst>
          </a:prstGeom>
          <a:solidFill>
            <a:srgbClr val="1C1C20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14400" y="87782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600" dirty="0">
                <a:solidFill>
                  <a:srgbClr val="E8D9B8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海马150 GMT</a:t>
            </a:r>
            <a:endParaRPr lang="zh-CN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877824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思源宋体 SemiBold</a:t>
            </a:r>
            <a:endParaRPr lang="zh-CN" sz="1600" dirty="0"/>
          </a:p>
          <a:p>
            <a:pPr indent="0" marL="0">
              <a:buNone/>
            </a:pPr>
            <a:r>
              <a:rPr lang="zh-CN" sz="12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型号大标题 · Noto Serif SC</a:t>
            </a:r>
            <a:endParaRPr lang="zh-CN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87782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dirty="0">
                <a:solidFill>
                  <a:srgbClr val="C4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 OFL 1.1</a:t>
            </a:r>
            <a:endParaRPr lang="zh-CN" sz="1200" dirty="0"/>
          </a:p>
        </p:txBody>
      </p:sp>
      <p:sp>
        <p:nvSpPr>
          <p:cNvPr id="18" name="Shape 13"/>
          <p:cNvSpPr/>
          <p:nvPr/>
        </p:nvSpPr>
        <p:spPr>
          <a:xfrm>
            <a:off x="685800" y="9710928"/>
            <a:ext cx="8915400" cy="804672"/>
          </a:xfrm>
          <a:prstGeom prst="roundRect">
            <a:avLst>
              <a:gd name="adj" fmla="val 9091"/>
            </a:avLst>
          </a:prstGeom>
          <a:solidFill>
            <a:srgbClr val="1C1C2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14400" y="97109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600" dirty="0">
                <a:solidFill>
                  <a:srgbClr val="E8D9B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洗油大保养 · 外观修复</a:t>
            </a:r>
            <a:endParaRPr lang="zh-CN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971092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思源宋体 Regular</a:t>
            </a:r>
            <a:endParaRPr lang="zh-CN" sz="1600" dirty="0"/>
          </a:p>
          <a:p>
            <a:pPr indent="0" marL="0">
              <a:buNone/>
            </a:pPr>
            <a:r>
              <a:rPr lang="zh-CN" sz="12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服务项目、店名 · Noto Serif SC</a:t>
            </a:r>
            <a:endParaRPr lang="zh-CN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0" y="9710928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dirty="0">
                <a:solidFill>
                  <a:srgbClr val="C4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 OFL 1.1</a:t>
            </a:r>
            <a:endParaRPr lang="zh-CN" sz="1200" dirty="0"/>
          </a:p>
        </p:txBody>
      </p:sp>
      <p:sp>
        <p:nvSpPr>
          <p:cNvPr id="22" name="Shape 17"/>
          <p:cNvSpPr/>
          <p:nvPr/>
        </p:nvSpPr>
        <p:spPr>
          <a:xfrm>
            <a:off x="685800" y="10643616"/>
            <a:ext cx="8915400" cy="804672"/>
          </a:xfrm>
          <a:prstGeom prst="roundRect">
            <a:avLst>
              <a:gd name="adj" fmla="val 9091"/>
            </a:avLst>
          </a:prstGeom>
          <a:solidFill>
            <a:srgbClr val="1C1C20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14400" y="1064361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600" dirty="0">
                <a:solidFill>
                  <a:srgbClr val="E8D9B8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OMEGA · LONGINES</a:t>
            </a:r>
            <a:endParaRPr lang="zh-CN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754880" y="1064361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Cormorant Garamond</a:t>
            </a:r>
            <a:endParaRPr lang="zh-CN" sz="1600" dirty="0"/>
          </a:p>
          <a:p>
            <a:pPr indent="0" marL="0">
              <a:buNone/>
            </a:pPr>
            <a:r>
              <a:rPr lang="zh-CN" sz="12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英文品牌名 · Cormorant</a:t>
            </a:r>
            <a:endParaRPr lang="zh-CN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001000" y="10643616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dirty="0">
                <a:solidFill>
                  <a:srgbClr val="C4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 OFL 1.1</a:t>
            </a:r>
            <a:endParaRPr lang="zh-CN" sz="1200" dirty="0"/>
          </a:p>
        </p:txBody>
      </p:sp>
      <p:sp>
        <p:nvSpPr>
          <p:cNvPr id="26" name="Shape 21"/>
          <p:cNvSpPr/>
          <p:nvPr/>
        </p:nvSpPr>
        <p:spPr>
          <a:xfrm>
            <a:off x="685800" y="11576304"/>
            <a:ext cx="8915400" cy="804672"/>
          </a:xfrm>
          <a:prstGeom prst="roundRect">
            <a:avLst>
              <a:gd name="adj" fmla="val 9091"/>
            </a:avLst>
          </a:prstGeom>
          <a:solidFill>
            <a:srgbClr val="1C1C20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14400" y="1157630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600" i="1" dirty="0">
                <a:solidFill>
                  <a:srgbClr val="E8D9B8"/>
                </a:solidFill>
                <a:latin typeface="Cormorant Garamond Medium" pitchFamily="34" charset="0"/>
                <a:ea typeface="Noto Serif SC" pitchFamily="34" charset="-122"/>
                <a:cs typeface="Noto Serif SC" pitchFamily="34" charset="-120"/>
              </a:rPr>
              <a:t>N° 023</a:t>
            </a:r>
            <a:endParaRPr lang="zh-CN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4754880" y="1157630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6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Cormorant Garamond Italic</a:t>
            </a:r>
            <a:endParaRPr lang="zh-CN" sz="1600" dirty="0"/>
          </a:p>
          <a:p>
            <a:pPr indent="0" marL="0">
              <a:buNone/>
            </a:pPr>
            <a:r>
              <a:rPr lang="zh-CN" sz="12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期数编号 · Cormorant</a:t>
            </a:r>
            <a:endParaRPr lang="zh-CN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001000" y="11576304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200" dirty="0">
                <a:solidFill>
                  <a:srgbClr val="C4A8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 OFL 1.1</a:t>
            </a:r>
            <a:endParaRPr lang="zh-CN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" y="12573000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字体在 fonts 文件夹，第一次用前先安装。</a:t>
            </a:r>
            <a:endParaRPr lang="zh-C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zh-CN"/>
              <a:t>1</a:t>
            </a:fld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68580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sz="4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主页效果：统一后的九宫格</a:t>
            </a:r>
            <a:endParaRPr lang="zh-CN" sz="4000" dirty="0"/>
          </a:p>
        </p:txBody>
      </p:sp>
      <p:sp>
        <p:nvSpPr>
          <p:cNvPr id="3" name="说明"/>
          <p:cNvSpPr txBox="1"/>
          <p:nvPr/>
        </p:nvSpPr>
        <p:spPr>
          <a:xfrm>
            <a:off x="685800" y="1572768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9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下图用模板 A「暗夜画廊」套了你们的表（照片取自发来的截图，仅作示意）。</a:t>
            </a:r>
            <a:endParaRPr lang="zh-CN" sz="1900" dirty="0"/>
          </a:p>
        </p:txBody>
      </p:sp>
      <p:pic>
        <p:nvPicPr>
          <p:cNvPr id="4" name="主页效果图" descr="套用模板 A 后的抖音主页九宫格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31720"/>
            <a:ext cx="6583680" cy="8272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2606040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1</a:t>
            </a:r>
            <a:endParaRPr lang="zh-CN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3319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标题克制</a:t>
            </a:r>
            <a:endParaRPr lang="zh-CN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 2–6 个字，用宋体，不描边、不用亮黄，高级感来自留白。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7178040" y="5029200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2</a:t>
            </a:r>
            <a:endParaRPr lang="zh-CN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5742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文字不压照片</a:t>
            </a:r>
            <a:endParaRPr lang="zh-CN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62179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照片完整干净，品牌、型号、服务都放在画框里。</a:t>
            </a:r>
            <a:endParaRPr lang="zh-CN" sz="1400" dirty="0"/>
          </a:p>
        </p:txBody>
      </p:sp>
      <p:sp>
        <p:nvSpPr>
          <p:cNvPr id="11" name="Text 8"/>
          <p:cNvSpPr/>
          <p:nvPr/>
        </p:nvSpPr>
        <p:spPr>
          <a:xfrm>
            <a:off x="7178040" y="7452360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3</a:t>
            </a:r>
            <a:endParaRPr lang="zh-CN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81655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避开点赞数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86410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主页左下角会被点赞数挡住，模板在那里留了空。</a:t>
            </a:r>
            <a:endParaRPr lang="zh-CN" sz="1400" dirty="0"/>
          </a:p>
        </p:txBody>
      </p:sp>
      <p:sp>
        <p:nvSpPr>
          <p:cNvPr id="14" name="Text 11"/>
          <p:cNvSpPr/>
          <p:nvPr/>
        </p:nvSpPr>
        <p:spPr>
          <a:xfrm>
            <a:off x="7178040" y="9875520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4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10588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光线角度统一</a:t>
            </a:r>
            <a:endParaRPr lang="zh-CN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11064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每块表同样的柔光、同样的角度，主页才整齐。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zh-CN"/>
              <a:t>2</a:t>
            </a:fld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68580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sz="4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出一张封面的流程</a:t>
            </a:r>
            <a:endParaRPr lang="zh-CN" sz="4000" dirty="0"/>
          </a:p>
        </p:txBody>
      </p:sp>
      <p:sp>
        <p:nvSpPr>
          <p:cNvPr id="3" name="说明"/>
          <p:cNvSpPr txBox="1"/>
          <p:nvPr/>
        </p:nvSpPr>
        <p:spPr>
          <a:xfrm>
            <a:off x="685800" y="1572768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9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步只做一次，以后每次从第 2 步开始，几分钟一张。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53288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1</a:t>
            </a:r>
            <a:endParaRPr lang="zh-CN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51460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安装字体（只做一次）</a:t>
            </a:r>
            <a:endParaRPr lang="zh-CN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6324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fonts 文件夹，双击 4 个字体文件 → 点「安装」（Mac 用「字体册」）。装好后重开 PPT / WPS，否则字体会被替换成默认字体。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99592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2</a:t>
            </a:r>
            <a:endParaRPr lang="zh-CN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97764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复制一页模板</a:t>
            </a:r>
            <a:endParaRPr lang="zh-CN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452628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左侧缩略图右键选好的模板页 →「复制幻灯片」，在副本上改，原模板留着下次用。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45896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3</a:t>
            </a:r>
            <a:endParaRPr lang="zh-CN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544068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换手表照片</a:t>
            </a:r>
            <a:endParaRPr lang="zh-CN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598932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右键照片 →「更改图片」→ 选新照片。或者选中照片按 Delete，再点画框中间的图标插入，会自动裁成画框大小。</a:t>
            </a:r>
            <a:endParaRPr lang="zh-CN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92200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4</a:t>
            </a:r>
            <a:endParaRPr lang="zh-CN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690372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调位置</a:t>
            </a:r>
            <a:endParaRPr lang="zh-CN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745236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双击照片 →「裁剪」，拖动照片让表盘居中。可在选择窗格里显示「构图参考线」对位，对好后一定再隐藏，否则会被导出。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838504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5</a:t>
            </a:r>
            <a:endParaRPr lang="zh-CN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836676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改文字</a:t>
            </a:r>
            <a:endParaRPr lang="zh-CN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891540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点文字直接改店名、期数、品牌、型号、服务项目；型号 2–6 个字最好看。</a:t>
            </a:r>
            <a:endParaRPr lang="zh-CN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984808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6</a:t>
            </a:r>
            <a:endParaRPr lang="zh-CN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982980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导出图片</a:t>
            </a:r>
            <a:endParaRPr lang="zh-CN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1037844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PowerPoint：文件 → 导出 → 更改文件类型 → PNG → 仅当前幻灯片，得到 1080×1440。</a:t>
            </a:r>
            <a:endParaRPr lang="zh-CN" sz="1500" dirty="0"/>
          </a:p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WPS：文件 → 输出为图片 → 当前页（或 另存为 → PNG）。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11311128"/>
            <a:ext cx="566928" cy="566928"/>
          </a:xfrm>
          <a:prstGeom prst="ellipse">
            <a:avLst/>
          </a:prstGeom>
          <a:solidFill>
            <a:srgbClr val="C4A8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2000" dirty="0">
                <a:solidFill>
                  <a:srgbClr val="111111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7</a:t>
            </a:r>
            <a:endParaRPr lang="zh-CN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11292840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2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发抖音时设为封面</a:t>
            </a:r>
            <a:endParaRPr lang="zh-CN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1184148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sz="15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发布页点「选封面」→ 从相册上传这张图，主页九宫格显示的就是它。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zh-CN"/>
              <a:t>3</a:t>
            </a:fld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685800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sz="4000" dirty="0">
                <a:solidFill>
                  <a:srgbClr val="FFFFF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拍摄建议：柔光 + 统一角度</a:t>
            </a:r>
            <a:endParaRPr lang="zh-CN" sz="4000" dirty="0"/>
          </a:p>
        </p:txBody>
      </p:sp>
      <p:sp>
        <p:nvSpPr>
          <p:cNvPr id="3" name="说明"/>
          <p:cNvSpPr txBox="1"/>
          <p:nvPr/>
        </p:nvSpPr>
        <p:spPr>
          <a:xfrm>
            <a:off x="685800" y="1572768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900" dirty="0">
                <a:solidFill>
                  <a:srgbClr val="A7A3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画框接近正方形，手机竖拍的照片上下会被裁掉一些。表放正中、四周留空，套进去就刚好。</a:t>
            </a:r>
            <a:endParaRPr lang="zh-CN" sz="1900" dirty="0"/>
          </a:p>
        </p:txBody>
      </p:sp>
      <p:pic>
        <p:nvPicPr>
          <p:cNvPr id="4" name="裁切示意" descr="手机竖拍照片套进画框时，上下会被裁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4206240" cy="5608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66360" y="2514600"/>
            <a:ext cx="4434840" cy="2743200"/>
          </a:xfrm>
          <a:prstGeom prst="roundRect">
            <a:avLst>
              <a:gd name="adj" fmla="val 3333"/>
            </a:avLst>
          </a:prstGeom>
          <a:solidFill>
            <a:srgbClr val="1C1C20"/>
          </a:solidFill>
          <a:ln/>
        </p:spPr>
      </p:sp>
      <p:pic>
        <p:nvPicPr>
          <p:cNvPr id="6" name="俯视图" descr="俯视图：表盘向左转约 25 度，手机正对表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560320"/>
            <a:ext cx="4692316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66360" y="5440680"/>
            <a:ext cx="4434840" cy="2743200"/>
          </a:xfrm>
          <a:prstGeom prst="roundRect">
            <a:avLst>
              <a:gd name="adj" fmla="val 3333"/>
            </a:avLst>
          </a:prstGeom>
          <a:solidFill>
            <a:srgbClr val="1C1C20"/>
          </a:solidFill>
          <a:ln/>
        </p:spPr>
      </p:sp>
      <p:pic>
        <p:nvPicPr>
          <p:cNvPr id="8" name="侧视图" descr="侧视图：柔光灯在左上方，镜头略高于表盘中心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486400"/>
            <a:ext cx="4692316" cy="2651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85800" y="8869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光线</a:t>
            </a:r>
            <a:endParaRPr lang="zh-CN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463040" y="8869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一盏柔光灯（带柔光箱）从左上 45° 打，右侧放白卡给表壳补一道高光，关掉顶灯防反光。</a:t>
            </a:r>
            <a:endParaRPr lang="zh-CN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5257800" y="88696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背景</a:t>
            </a:r>
            <a:endParaRPr lang="zh-CN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035040" y="8869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黑色或深灰植绒布，表离背景 30 cm 以上，背景才干净。</a:t>
            </a:r>
            <a:endParaRPr lang="zh-CN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9875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角度</a:t>
            </a:r>
            <a:endParaRPr lang="zh-CN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9875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表立在表枕上，表盘向左转约 25°，露出右侧表冠。</a:t>
            </a:r>
            <a:endParaRPr lang="zh-CN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257800" y="9875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高度</a:t>
            </a:r>
            <a:endParaRPr lang="zh-CN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9875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镜头与表盘中心同高或略高 5–10°，不要从正上方俯拍。</a:t>
            </a:r>
            <a:endParaRPr lang="zh-CN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10881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构图</a:t>
            </a:r>
            <a:endParaRPr lang="zh-CN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10881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手机竖拍 3:4，表盘放正中，约占画面宽度六成，上下多留空。</a:t>
            </a:r>
            <a:endParaRPr lang="zh-CN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10881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镜头</a:t>
            </a:r>
            <a:endParaRPr lang="zh-CN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108813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2× 长焦，距离 20–30 cm，表盘不变形。</a:t>
            </a:r>
            <a:endParaRPr lang="zh-CN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118872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细节</a:t>
            </a:r>
            <a:endParaRPr lang="zh-CN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118872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表镜擦干净、指针调到 10:10、点表盘对焦，曝光略降让背景更黑。</a:t>
            </a:r>
            <a:endParaRPr lang="zh-CN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257800" y="118872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800" dirty="0">
                <a:solidFill>
                  <a:srgbClr val="C4A876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统一</a:t>
            </a:r>
            <a:endParaRPr lang="zh-CN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035040" y="118872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350" dirty="0">
                <a:solidFill>
                  <a:srgbClr val="F2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每块表同一套灯位和角度，九宫格才整齐。</a:t>
            </a:r>
            <a:endParaRPr lang="zh-CN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13121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zh-CN"/>
              <a:t>4</a:t>
            </a:fld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手表照片（右键→更改图片）" descr="手表照片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914400" y="1676400"/>
            <a:ext cx="8458200" cy="7886700"/>
          </a:xfrm>
          <a:prstGeom prst="rect">
            <a:avLst/>
          </a:prstGeom>
        </p:spPr>
      </p:pic>
      <p:pic>
        <p:nvPicPr>
          <p:cNvPr id="3" name="构图参考线（导出前隐藏）" hidden="1" descr="构图参考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6400"/>
            <a:ext cx="8458200" cy="7886700"/>
          </a:xfrm>
          <a:prstGeom prst="rect">
            <a:avLst/>
          </a:prstGeom>
        </p:spPr>
      </p:pic>
      <p:sp>
        <p:nvSpPr>
          <p:cNvPr id="4" name="店名（英文）"/>
          <p:cNvSpPr txBox="1"/>
          <p:nvPr/>
        </p:nvSpPr>
        <p:spPr>
          <a:xfrm>
            <a:off x="2286000" y="7239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950" spc="700" kern="0" dirty="0">
                <a:solidFill>
                  <a:srgbClr val="C4A876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WATCH SERVICE ATELIER</a:t>
            </a:r>
            <a:endParaRPr lang="zh-CN" sz="1950" dirty="0"/>
          </a:p>
        </p:txBody>
      </p:sp>
      <p:sp>
        <p:nvSpPr>
          <p:cNvPr id="5" name="店名"/>
          <p:cNvSpPr txBox="1"/>
          <p:nvPr/>
        </p:nvSpPr>
        <p:spPr>
          <a:xfrm>
            <a:off x="2286000" y="11049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650" spc="600" kern="0" dirty="0">
                <a:solidFill>
                  <a:srgbClr val="8F877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名表维修工作室</a:t>
            </a:r>
            <a:endParaRPr lang="zh-CN" sz="1650" dirty="0"/>
          </a:p>
        </p:txBody>
      </p:sp>
      <p:sp>
        <p:nvSpPr>
          <p:cNvPr id="6" name="品牌"/>
          <p:cNvSpPr txBox="1"/>
          <p:nvPr/>
        </p:nvSpPr>
        <p:spPr>
          <a:xfrm>
            <a:off x="1333500" y="99250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sz="2850" spc="1000" kern="0" dirty="0">
                <a:solidFill>
                  <a:srgbClr val="C4A876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OMEGA</a:t>
            </a:r>
            <a:endParaRPr lang="zh-CN" sz="2850" dirty="0"/>
          </a:p>
        </p:txBody>
      </p:sp>
      <p:sp>
        <p:nvSpPr>
          <p:cNvPr id="7" name="主标题（型号）"/>
          <p:cNvSpPr txBox="1"/>
          <p:nvPr/>
        </p:nvSpPr>
        <p:spPr>
          <a:xfrm>
            <a:off x="762000" y="10401300"/>
            <a:ext cx="8763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sz="7200" dirty="0">
                <a:solidFill>
                  <a:srgbClr val="F2EDE4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海马150 GMT</a:t>
            </a:r>
            <a:endParaRPr lang="zh-CN" sz="7200" dirty="0"/>
          </a:p>
        </p:txBody>
      </p:sp>
      <p:sp>
        <p:nvSpPr>
          <p:cNvPr id="8" name="服务项目"/>
          <p:cNvSpPr txBox="1"/>
          <p:nvPr/>
        </p:nvSpPr>
        <p:spPr>
          <a:xfrm>
            <a:off x="1333500" y="1163955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sz="2250" spc="500" kern="0" dirty="0">
                <a:solidFill>
                  <a:srgbClr val="A39B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洗油大保养 · 外观修复</a:t>
            </a:r>
            <a:endParaRPr lang="zh-CN" sz="2250" dirty="0"/>
          </a:p>
        </p:txBody>
      </p:sp>
      <p:sp>
        <p:nvSpPr>
          <p:cNvPr id="9" name="期数"/>
          <p:cNvSpPr txBox="1"/>
          <p:nvPr/>
        </p:nvSpPr>
        <p:spPr>
          <a:xfrm>
            <a:off x="7048500" y="12553950"/>
            <a:ext cx="24003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3000" i="1" dirty="0">
                <a:solidFill>
                  <a:srgbClr val="C4A876"/>
                </a:solidFill>
                <a:latin typeface="Cormorant Garamond Medium" pitchFamily="34" charset="0"/>
                <a:ea typeface="Noto Serif SC" pitchFamily="34" charset="-122"/>
                <a:cs typeface="Noto Serif SC" pitchFamily="34" charset="-120"/>
              </a:rPr>
              <a:t>N° 023</a:t>
            </a:r>
            <a:endParaRPr lang="zh-CN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手表照片（右键→更改图片）" descr="手表照片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609600" y="609600"/>
            <a:ext cx="9067800" cy="9067800"/>
          </a:xfrm>
          <a:prstGeom prst="rect">
            <a:avLst/>
          </a:prstGeom>
        </p:spPr>
      </p:pic>
      <p:pic>
        <p:nvPicPr>
          <p:cNvPr id="3" name="构图参考线（导出前隐藏）" hidden="1" descr="构图参考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9067800" cy="9067800"/>
          </a:xfrm>
          <a:prstGeom prst="rect">
            <a:avLst/>
          </a:prstGeom>
        </p:spPr>
      </p:pic>
      <p:sp>
        <p:nvSpPr>
          <p:cNvPr id="4" name="品牌"/>
          <p:cNvSpPr txBox="1"/>
          <p:nvPr/>
        </p:nvSpPr>
        <p:spPr>
          <a:xfrm>
            <a:off x="609600" y="99631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2400" spc="900" kern="0" dirty="0">
                <a:solidFill>
                  <a:srgbClr val="8A6A3B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OMEGA</a:t>
            </a:r>
            <a:endParaRPr lang="zh-CN" sz="2400" dirty="0"/>
          </a:p>
        </p:txBody>
      </p:sp>
      <p:sp>
        <p:nvSpPr>
          <p:cNvPr id="5" name="主标题（型号）"/>
          <p:cNvSpPr txBox="1"/>
          <p:nvPr/>
        </p:nvSpPr>
        <p:spPr>
          <a:xfrm>
            <a:off x="609600" y="10363200"/>
            <a:ext cx="6667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6900" dirty="0">
                <a:solidFill>
                  <a:srgbClr val="16140F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海马150 GMT</a:t>
            </a:r>
            <a:endParaRPr lang="zh-CN" sz="6900" dirty="0"/>
          </a:p>
        </p:txBody>
      </p:sp>
      <p:sp>
        <p:nvSpPr>
          <p:cNvPr id="6" name="服务项目"/>
          <p:cNvSpPr txBox="1"/>
          <p:nvPr/>
        </p:nvSpPr>
        <p:spPr>
          <a:xfrm>
            <a:off x="609600" y="114871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2250" spc="300" kern="0" dirty="0">
                <a:solidFill>
                  <a:srgbClr val="4A45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洗油大保养 · 外观修复</a:t>
            </a:r>
            <a:endParaRPr lang="zh-CN" sz="2250" dirty="0"/>
          </a:p>
        </p:txBody>
      </p:sp>
      <p:sp>
        <p:nvSpPr>
          <p:cNvPr id="7" name="N°"/>
          <p:cNvSpPr txBox="1"/>
          <p:nvPr/>
        </p:nvSpPr>
        <p:spPr>
          <a:xfrm>
            <a:off x="8001000" y="1002030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2700" i="1" dirty="0">
                <a:solidFill>
                  <a:srgbClr val="8A6A3B"/>
                </a:solidFill>
                <a:latin typeface="Cormorant Garamond Medium" pitchFamily="34" charset="0"/>
                <a:ea typeface="Noto Serif SC" pitchFamily="34" charset="-122"/>
                <a:cs typeface="Noto Serif SC" pitchFamily="34" charset="-120"/>
              </a:rPr>
              <a:t>N°</a:t>
            </a:r>
            <a:endParaRPr lang="zh-CN" sz="2700" dirty="0"/>
          </a:p>
        </p:txBody>
      </p:sp>
      <p:sp>
        <p:nvSpPr>
          <p:cNvPr id="8" name="期数"/>
          <p:cNvSpPr txBox="1"/>
          <p:nvPr/>
        </p:nvSpPr>
        <p:spPr>
          <a:xfrm>
            <a:off x="7239000" y="10287000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0350" i="1" dirty="0">
                <a:solidFill>
                  <a:srgbClr val="8A6A3B"/>
                </a:solidFill>
                <a:latin typeface="Cormorant Garamond Medium" pitchFamily="34" charset="0"/>
                <a:ea typeface="Noto Serif SC" pitchFamily="34" charset="-122"/>
                <a:cs typeface="Noto Serif SC" pitchFamily="34" charset="-120"/>
              </a:rPr>
              <a:t>023</a:t>
            </a:r>
            <a:endParaRPr lang="zh-CN" sz="10350" dirty="0"/>
          </a:p>
        </p:txBody>
      </p:sp>
      <p:sp>
        <p:nvSpPr>
          <p:cNvPr id="9" name="店名"/>
          <p:cNvSpPr txBox="1"/>
          <p:nvPr/>
        </p:nvSpPr>
        <p:spPr>
          <a:xfrm>
            <a:off x="3810000" y="12439650"/>
            <a:ext cx="586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650" spc="400" kern="0" dirty="0">
                <a:solidFill>
                  <a:srgbClr val="4A45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名表维修工作室</a:t>
            </a:r>
            <a:pPr algn="r" indent="0" marL="0">
              <a:buNone/>
            </a:pPr>
            <a:r>
              <a:rPr lang="zh-CN" sz="1575" spc="400" kern="0" dirty="0">
                <a:solidFill>
                  <a:srgbClr val="4A453D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  ·  WATCH SERVICE ATELIER</a:t>
            </a:r>
            <a:endParaRPr lang="zh-CN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手表照片（右键→更改图片）" descr="手表照片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tretch>
            <a:fillRect/>
          </a:stretch>
        </p:blipFill>
        <p:spPr>
          <a:xfrm>
            <a:off x="685800" y="1524000"/>
            <a:ext cx="8915400" cy="7696200"/>
          </a:xfrm>
          <a:prstGeom prst="rect">
            <a:avLst/>
          </a:prstGeom>
        </p:spPr>
      </p:pic>
      <p:pic>
        <p:nvPicPr>
          <p:cNvPr id="3" name="构图参考线（导出前隐藏）" hidden="1" descr="构图参考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8915400" cy="7696200"/>
          </a:xfrm>
          <a:prstGeom prst="rect">
            <a:avLst/>
          </a:prstGeom>
        </p:spPr>
      </p:pic>
      <p:sp>
        <p:nvSpPr>
          <p:cNvPr id="4" name="期数"/>
          <p:cNvSpPr txBox="1"/>
          <p:nvPr/>
        </p:nvSpPr>
        <p:spPr>
          <a:xfrm>
            <a:off x="7239000" y="62865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3150" i="1" dirty="0">
                <a:solidFill>
                  <a:srgbClr val="B0925F"/>
                </a:solidFill>
                <a:latin typeface="Cormorant Garamond Medium" pitchFamily="34" charset="0"/>
                <a:ea typeface="Noto Serif SC" pitchFamily="34" charset="-122"/>
                <a:cs typeface="Noto Serif SC" pitchFamily="34" charset="-120"/>
              </a:rPr>
              <a:t>N° 023</a:t>
            </a:r>
            <a:endParaRPr lang="zh-CN" sz="3150" dirty="0"/>
          </a:p>
        </p:txBody>
      </p:sp>
      <p:sp>
        <p:nvSpPr>
          <p:cNvPr id="5" name="主标题（型号）"/>
          <p:cNvSpPr txBox="1"/>
          <p:nvPr/>
        </p:nvSpPr>
        <p:spPr>
          <a:xfrm>
            <a:off x="685800" y="9601200"/>
            <a:ext cx="8915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6600" dirty="0">
                <a:solidFill>
                  <a:srgbClr val="EDE8E0"/>
                </a:solidFill>
                <a:latin typeface="Noto Serif SC SemiBold" pitchFamily="34" charset="0"/>
                <a:ea typeface="Noto Serif SC SemiBold" pitchFamily="34" charset="-122"/>
                <a:cs typeface="Noto Serif SC SemiBold" pitchFamily="34" charset="-120"/>
              </a:rPr>
              <a:t>海马150 GMT</a:t>
            </a:r>
            <a:endParaRPr lang="zh-CN" sz="6600" dirty="0"/>
          </a:p>
        </p:txBody>
      </p:sp>
      <p:sp>
        <p:nvSpPr>
          <p:cNvPr id="6" name="品牌"/>
          <p:cNvSpPr txBox="1"/>
          <p:nvPr/>
        </p:nvSpPr>
        <p:spPr>
          <a:xfrm>
            <a:off x="3143250" y="10934700"/>
            <a:ext cx="6457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2250" dirty="0">
                <a:solidFill>
                  <a:srgbClr val="D9D3C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OMEGA</a:t>
            </a:r>
            <a:endParaRPr lang="zh-CN" sz="2250" dirty="0"/>
          </a:p>
        </p:txBody>
      </p:sp>
      <p:sp>
        <p:nvSpPr>
          <p:cNvPr id="7" name="服务项目"/>
          <p:cNvSpPr txBox="1"/>
          <p:nvPr/>
        </p:nvSpPr>
        <p:spPr>
          <a:xfrm>
            <a:off x="3143250" y="11525250"/>
            <a:ext cx="6457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zh-CN" sz="2250" dirty="0">
                <a:solidFill>
                  <a:srgbClr val="D9D3C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洗油大保养 · 外观修复</a:t>
            </a:r>
            <a:endParaRPr lang="zh-CN" sz="2250" dirty="0"/>
          </a:p>
        </p:txBody>
      </p:sp>
      <p:sp>
        <p:nvSpPr>
          <p:cNvPr id="8" name="店名"/>
          <p:cNvSpPr txBox="1"/>
          <p:nvPr/>
        </p:nvSpPr>
        <p:spPr>
          <a:xfrm>
            <a:off x="3810000" y="12553950"/>
            <a:ext cx="579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sz="1650" spc="400" kern="0" dirty="0">
                <a:solidFill>
                  <a:srgbClr val="8A85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名表维修工作室</a:t>
            </a:r>
            <a:pPr algn="r" indent="0" marL="0">
              <a:buNone/>
            </a:pPr>
            <a:r>
              <a:rPr lang="zh-CN" sz="1575" spc="400" kern="0" dirty="0">
                <a:solidFill>
                  <a:srgbClr val="8A857C"/>
                </a:solidFill>
                <a:latin typeface="Cormorant Garamond SemiBold" pitchFamily="34" charset="0"/>
                <a:ea typeface="Noto Serif SC" pitchFamily="34" charset="-122"/>
                <a:cs typeface="Noto Serif SC" pitchFamily="34" charset="-120"/>
              </a:rPr>
              <a:t>  ·  WATCH SERVICE ATELIER</a:t>
            </a:r>
            <a:endParaRPr lang="zh-CN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抖音封面模板 · 名表维修</dc:title>
  <dc:subject>PptxGenJS Presentation</dc:subject>
  <dc:creator>PptxGenJS</dc:creator>
  <cp:lastModifiedBy>PptxGenJS</cp:lastModifiedBy>
  <cp:revision>1</cp:revision>
  <dcterms:created xsi:type="dcterms:W3CDTF">2026-10-23T23:26:15Z</dcterms:created>
  <dcterms:modified xsi:type="dcterms:W3CDTF">2026-10-23T23:26:15Z</dcterms:modified>
</cp:coreProperties>
</file>