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0287000" cy="13716000"/>
  <p:notesSz cx="13716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使用说明" id="{9961c0f6-fc8d-78b9-dc21-1c585664bfce}">
          <p14:sldIdLst>
            <p14:sldId id="256"/>
            <p14:sldId id="257"/>
            <p14:sldId id="258"/>
            <p14:sldId id="259"/>
          </p14:sldIdLst>
        </p14:section>
        <p14:section name="封面模板" id="{65176ce3-18c7-3a13-095f-7edd591898bd}">
          <p14:sldIdLst>
            <p14:sldId id="260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模板 A「黑金典藏」使用方法：
1. 左侧缩略图右键这一页 →「复制幻灯片」，在副本上改，原模板留着下次用。
2. 点表盘位置选中照片 → 右键「更改图片」→ 选新照片。位置不准就用「裁剪」拖动对齐。
   点不中照片时：开始 → 选择 → 选择窗格，点「手表照片」。
   对位时可在选择窗格里显示「构图参考线」，导出前一定要再隐藏。
3. 直接点文字修改：店名、期数、品牌、型号、服务项目。字多了会自动缩小。
4. 导出：文件 → 导出 → 更改文件类型 → PNG → 仅当前幻灯片（1080×1440）。
   WPS：文件 → 输出为图片 → 当前页；或 另存为 → PNG。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模板 B「工坊硬核」使用方法：
1. 左侧缩略图右键这一页 →「复制幻灯片」，在副本上改，原模板留着下次用。
2. 点表盘位置选中照片 → 右键「更改图片」→ 选新照片。位置不准就用「裁剪」拖动对齐。
   点不中照片时：开始 → 选择 → 选择窗格，点「手表照片」。
   对位时可在选择窗格里显示「构图参考线」，导出前一定要再隐藏。
3. 直接点文字修改：店名、期数、品牌、型号、服务项目。字多了会自动缩小。
4. 导出：文件 → 导出 → 更改文件类型 → PNG → 仅当前幻灯片（1080×1440）。
   WPS：文件 → 输出为图片 → 当前页；或 另存为 → PNG。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模板 C「斜带寄修」使用方法：
1. 左侧缩略图右键这一页 →「复制幻灯片」，在副本上改，原模板留着下次用。
2. 点表盘位置选中照片 → 右键「更改图片」→ 选新照片。位置不准就用「裁剪」拖动对齐。
   点不中照片时：开始 → 选择 → 选择窗格，点「手表照片」。
   对位时可在选择窗格里显示「构图参考线」，导出前一定要再隐藏。
3. 直接点文字修改：店名、期数、品牌、型号、服务项目。字多了会自动缩小。
4. 导出：文件 → 导出 → 更改文件类型 → PNG → 仅当前幻灯片（1080×1440）。
   WPS：文件 → 输出为图片 → 当前页；或 另存为 → PNG。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hasCustomPrompt="1"/>
          </p:nvPr>
        </p:nvSpPr>
        <p:spPr>
          <a:xfrm>
            <a:off x="0" y="0"/>
            <a:ext cx="10287000" cy="1371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点图标插入手表照片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UIDE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685800"/>
            <a:ext cx="8915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rgbClr val="FFFFFF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685800" y="13121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名表维修 · 抖音封面模板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1312164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E6A64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1312164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E6A64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685800"/>
            <a:ext cx="8915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sz="4000" dirty="0">
                <a:solidFill>
                  <a:srgbClr val="FFFFFF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三种封面风格，选一种用到底</a:t>
            </a:r>
            <a:endParaRPr lang="zh-CN" sz="4000" dirty="0"/>
          </a:p>
        </p:txBody>
      </p:sp>
      <p:sp>
        <p:nvSpPr>
          <p:cNvPr id="3" name="说明"/>
          <p:cNvSpPr txBox="1"/>
          <p:nvPr/>
        </p:nvSpPr>
        <p:spPr>
          <a:xfrm>
            <a:off x="685800" y="1572768"/>
            <a:ext cx="8915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9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整个主页统一一种风格、统一拍摄角度，九宫格才整齐。每次只需换照片、改文字，导出就是 1080×1440 的抖音封面。</a:t>
            </a:r>
            <a:endParaRPr lang="zh-CN" sz="1900" dirty="0"/>
          </a:p>
        </p:txBody>
      </p:sp>
      <p:pic>
        <p:nvPicPr>
          <p:cNvPr id="4" name="风格A预览" descr="封面风格 A「黑金典藏」示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514600"/>
            <a:ext cx="2834640" cy="377921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64282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sz="2200" dirty="0">
                <a:solidFill>
                  <a:srgbClr val="FFFFFF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A  黑金典藏</a:t>
            </a:r>
            <a:pPr indent="0" marL="0">
              <a:buNone/>
            </a:pPr>
            <a:r>
              <a:rPr lang="zh-CN" sz="1600" dirty="0">
                <a:solidFill>
                  <a:srgbClr val="D6B36E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  推荐</a:t>
            </a:r>
            <a:endParaRPr lang="zh-CN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690372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4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高级感最强，适合劳力士、百达翡丽这类高端表</a:t>
            </a:r>
            <a:endParaRPr lang="zh-CN" sz="1400" dirty="0"/>
          </a:p>
        </p:txBody>
      </p:sp>
      <p:pic>
        <p:nvPicPr>
          <p:cNvPr id="7" name="风格B预览" descr="封面风格 B「工坊硬核」示例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180" y="2514600"/>
            <a:ext cx="2834640" cy="377921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726180" y="64282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sz="2200" dirty="0">
                <a:solidFill>
                  <a:srgbClr val="FFFFFF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B  工坊硬核</a:t>
            </a:r>
            <a:endParaRPr lang="zh-CN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3726180" y="690372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4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延续你们现在的黄字风格，最醒目</a:t>
            </a:r>
            <a:endParaRPr lang="zh-CN" sz="1400" dirty="0"/>
          </a:p>
        </p:txBody>
      </p:sp>
      <p:pic>
        <p:nvPicPr>
          <p:cNvPr id="10" name="风格C预览" descr="封面风格 C「斜带寄修」示例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2514600"/>
            <a:ext cx="2834640" cy="377921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766560" y="64282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sz="2200" dirty="0">
                <a:solidFill>
                  <a:srgbClr val="FFFFFF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C  斜带寄修</a:t>
            </a:r>
            <a:endParaRPr lang="zh-CN" sz="2200" dirty="0"/>
          </a:p>
        </p:txBody>
      </p:sp>
      <p:sp>
        <p:nvSpPr>
          <p:cNvPr id="12" name="Text 7"/>
          <p:cNvSpPr txBox="1"/>
          <p:nvPr/>
        </p:nvSpPr>
        <p:spPr>
          <a:xfrm>
            <a:off x="6766560" y="690372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4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参考图里的斜带元素，动感、有辨识度</a:t>
            </a:r>
            <a:endParaRPr lang="zh-CN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85800" y="8092440"/>
            <a:ext cx="8915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sz="2400" dirty="0">
                <a:solidFill>
                  <a:srgbClr val="FFFFFF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字体都可免费商用</a:t>
            </a:r>
            <a:endParaRPr lang="zh-CN" sz="2400" dirty="0"/>
          </a:p>
        </p:txBody>
      </p:sp>
      <p:sp>
        <p:nvSpPr>
          <p:cNvPr id="14" name="Shape 9"/>
          <p:cNvSpPr/>
          <p:nvPr/>
        </p:nvSpPr>
        <p:spPr>
          <a:xfrm>
            <a:off x="685800" y="8778240"/>
            <a:ext cx="8915400" cy="804672"/>
          </a:xfrm>
          <a:prstGeom prst="roundRect">
            <a:avLst>
              <a:gd name="adj" fmla="val 9091"/>
            </a:avLst>
          </a:prstGeom>
          <a:solidFill>
            <a:srgbClr val="1C1C20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914400" y="8778240"/>
            <a:ext cx="3749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sz="3000" dirty="0">
                <a:gradFill flip="none" rotWithShape="1">
                  <a:gsLst>
                    <a:gs pos="0">
                      <a:srgbClr val="FFF3D6"/>
                    </a:gs>
                    <a:gs pos="50000">
                      <a:srgbClr val="E6C47E"/>
                    </a:gs>
                    <a:gs pos="100000">
                      <a:srgbClr val="B38842"/>
                    </a:gs>
                  </a:gsLst>
                  <a:lin ang="5400000" scaled="1"/>
                </a:gradFill>
                <a:latin typeface="Noto Serif SC Black" pitchFamily="34" charset="0"/>
                <a:ea typeface="Noto Serif SC Black" pitchFamily="34" charset="-122"/>
                <a:cs typeface="Noto Serif SC Black" pitchFamily="34" charset="-120"/>
              </a:rPr>
              <a:t>海马150 GMT</a:t>
            </a:r>
            <a:endParaRPr lang="zh-CN" sz="3000" dirty="0"/>
          </a:p>
        </p:txBody>
      </p:sp>
      <p:sp>
        <p:nvSpPr>
          <p:cNvPr id="16" name="Text 11"/>
          <p:cNvSpPr txBox="1"/>
          <p:nvPr/>
        </p:nvSpPr>
        <p:spPr>
          <a:xfrm>
            <a:off x="4754880" y="8778240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sz="1700" dirty="0">
                <a:solidFill>
                  <a:srgbClr val="FFFFFF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思源宋体 Black</a:t>
            </a:r>
            <a:endParaRPr lang="zh-CN" sz="1700" dirty="0"/>
          </a:p>
          <a:p>
            <a:pPr indent="0" marL="0">
              <a:buNone/>
            </a:pPr>
            <a:r>
              <a:rPr lang="zh-CN" sz="12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 A 标题 · Noto Serif SC · Google / Adobe</a:t>
            </a:r>
            <a:endParaRPr lang="zh-CN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8778240"/>
            <a:ext cx="1417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sz="1200" dirty="0">
                <a:solidFill>
                  <a:srgbClr val="D6B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SIL OFL 1.1</a:t>
            </a:r>
            <a:endParaRPr lang="zh-CN" sz="1200" dirty="0"/>
          </a:p>
        </p:txBody>
      </p:sp>
      <p:sp>
        <p:nvSpPr>
          <p:cNvPr id="18" name="Shape 13"/>
          <p:cNvSpPr/>
          <p:nvPr/>
        </p:nvSpPr>
        <p:spPr>
          <a:xfrm>
            <a:off x="685800" y="9710928"/>
            <a:ext cx="8915400" cy="804672"/>
          </a:xfrm>
          <a:prstGeom prst="roundRect">
            <a:avLst>
              <a:gd name="adj" fmla="val 9091"/>
            </a:avLst>
          </a:prstGeom>
          <a:solidFill>
            <a:srgbClr val="1C1C20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914400" y="9710928"/>
            <a:ext cx="3749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sz="3000" dirty="0">
                <a:gradFill flip="none" rotWithShape="1">
                  <a:gsLst>
                    <a:gs pos="0">
                      <a:srgbClr val="FFF3D6"/>
                    </a:gs>
                    <a:gs pos="50000">
                      <a:srgbClr val="E6C47E"/>
                    </a:gs>
                    <a:gs pos="100000">
                      <a:srgbClr val="B38842"/>
                    </a:gs>
                  </a:gsLst>
                  <a:lin ang="5400000" scaled="1"/>
                </a:gra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海马150 GMT</a:t>
            </a:r>
            <a:endParaRPr lang="zh-CN" sz="3000" dirty="0"/>
          </a:p>
        </p:txBody>
      </p:sp>
      <p:sp>
        <p:nvSpPr>
          <p:cNvPr id="20" name="Text 15"/>
          <p:cNvSpPr txBox="1"/>
          <p:nvPr/>
        </p:nvSpPr>
        <p:spPr>
          <a:xfrm>
            <a:off x="4754880" y="9710928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sz="1700" dirty="0">
                <a:solidFill>
                  <a:srgbClr val="FFFFFF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思源黑体 Black</a:t>
            </a:r>
            <a:endParaRPr lang="zh-CN" sz="1700" dirty="0"/>
          </a:p>
          <a:p>
            <a:pPr indent="0" marL="0">
              <a:buNone/>
            </a:pPr>
            <a:r>
              <a:rPr lang="zh-CN" sz="12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 B 标题 · Noto Sans SC · Google / Adobe</a:t>
            </a:r>
            <a:endParaRPr lang="zh-CN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8001000" y="9710928"/>
            <a:ext cx="1417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sz="1200" dirty="0">
                <a:solidFill>
                  <a:srgbClr val="D6B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SIL OFL 1.1</a:t>
            </a:r>
            <a:endParaRPr lang="zh-CN" sz="1200" dirty="0"/>
          </a:p>
        </p:txBody>
      </p:sp>
      <p:sp>
        <p:nvSpPr>
          <p:cNvPr id="22" name="Shape 17"/>
          <p:cNvSpPr/>
          <p:nvPr/>
        </p:nvSpPr>
        <p:spPr>
          <a:xfrm>
            <a:off x="685800" y="10643616"/>
            <a:ext cx="8915400" cy="804672"/>
          </a:xfrm>
          <a:prstGeom prst="roundRect">
            <a:avLst>
              <a:gd name="adj" fmla="val 9091"/>
            </a:avLst>
          </a:prstGeom>
          <a:solidFill>
            <a:srgbClr val="1C1C20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914400" y="10643616"/>
            <a:ext cx="3749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sz="3000" dirty="0">
                <a:gradFill flip="none" rotWithShape="1">
                  <a:gsLst>
                    <a:gs pos="0">
                      <a:srgbClr val="FFF3D6"/>
                    </a:gs>
                    <a:gs pos="50000">
                      <a:srgbClr val="E6C47E"/>
                    </a:gs>
                    <a:gs pos="100000">
                      <a:srgbClr val="B38842"/>
                    </a:gs>
                  </a:gsLst>
                  <a:lin ang="5400000" scaled="1"/>
                </a:gradFill>
                <a:latin typeface="Smiley Sans Oblique" pitchFamily="34" charset="0"/>
                <a:ea typeface="Smiley Sans Oblique" pitchFamily="34" charset="-122"/>
                <a:cs typeface="Smiley Sans Oblique" pitchFamily="34" charset="-120"/>
              </a:rPr>
              <a:t>海马150 GMT</a:t>
            </a:r>
            <a:endParaRPr lang="zh-CN" sz="3000" dirty="0"/>
          </a:p>
        </p:txBody>
      </p:sp>
      <p:sp>
        <p:nvSpPr>
          <p:cNvPr id="24" name="Text 19"/>
          <p:cNvSpPr txBox="1"/>
          <p:nvPr/>
        </p:nvSpPr>
        <p:spPr>
          <a:xfrm>
            <a:off x="4754880" y="10643616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sz="1700" dirty="0">
                <a:solidFill>
                  <a:srgbClr val="FFFFFF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得意黑</a:t>
            </a:r>
            <a:endParaRPr lang="zh-CN" sz="1700" dirty="0"/>
          </a:p>
          <a:p>
            <a:pPr indent="0" marL="0">
              <a:buNone/>
            </a:pPr>
            <a:r>
              <a:rPr lang="zh-CN" sz="12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 C 标题 · Smiley Sans · 锚坞</a:t>
            </a:r>
            <a:endParaRPr lang="zh-CN" sz="1700" dirty="0"/>
          </a:p>
        </p:txBody>
      </p:sp>
      <p:sp>
        <p:nvSpPr>
          <p:cNvPr id="25" name="Text 20"/>
          <p:cNvSpPr txBox="1"/>
          <p:nvPr/>
        </p:nvSpPr>
        <p:spPr>
          <a:xfrm>
            <a:off x="8001000" y="10643616"/>
            <a:ext cx="1417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sz="1200" dirty="0">
                <a:solidFill>
                  <a:srgbClr val="D6B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SIL OFL 1.1</a:t>
            </a:r>
            <a:endParaRPr lang="zh-CN" sz="1200" dirty="0"/>
          </a:p>
        </p:txBody>
      </p:sp>
      <p:sp>
        <p:nvSpPr>
          <p:cNvPr id="26" name="Shape 21"/>
          <p:cNvSpPr/>
          <p:nvPr/>
        </p:nvSpPr>
        <p:spPr>
          <a:xfrm>
            <a:off x="685800" y="11576304"/>
            <a:ext cx="8915400" cy="804672"/>
          </a:xfrm>
          <a:prstGeom prst="roundRect">
            <a:avLst>
              <a:gd name="adj" fmla="val 9091"/>
            </a:avLst>
          </a:prstGeom>
          <a:solidFill>
            <a:srgbClr val="1C1C20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914400" y="11576304"/>
            <a:ext cx="3749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sz="3000" b="1" dirty="0">
                <a:gradFill flip="none" rotWithShape="1">
                  <a:gsLst>
                    <a:gs pos="0">
                      <a:srgbClr val="FFF3D6"/>
                    </a:gs>
                    <a:gs pos="50000">
                      <a:srgbClr val="E6C47E"/>
                    </a:gs>
                    <a:gs pos="100000">
                      <a:srgbClr val="B38842"/>
                    </a:gs>
                  </a:gsLst>
                  <a:lin ang="5400000" scaled="1"/>
                </a:gradFill>
                <a:latin typeface="Cinzel" pitchFamily="34" charset="0"/>
                <a:ea typeface="Noto Serif SC Black" pitchFamily="34" charset="-122"/>
                <a:cs typeface="Cinzel" pitchFamily="34" charset="-120"/>
              </a:rPr>
              <a:t>OMEGA · ROLEX</a:t>
            </a:r>
            <a:endParaRPr lang="zh-CN" sz="3000" dirty="0"/>
          </a:p>
        </p:txBody>
      </p:sp>
      <p:sp>
        <p:nvSpPr>
          <p:cNvPr id="28" name="Text 23"/>
          <p:cNvSpPr txBox="1"/>
          <p:nvPr/>
        </p:nvSpPr>
        <p:spPr>
          <a:xfrm>
            <a:off x="4754880" y="11576304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sz="1700" dirty="0">
                <a:solidFill>
                  <a:srgbClr val="FFFFFF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Cinzel</a:t>
            </a:r>
            <a:endParaRPr lang="zh-CN" sz="1700" dirty="0"/>
          </a:p>
          <a:p>
            <a:pPr indent="0" marL="0">
              <a:buNone/>
            </a:pPr>
            <a:r>
              <a:rPr lang="zh-CN" sz="12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 A 英文品牌 · Cinzel · NDISCOVER</a:t>
            </a:r>
            <a:endParaRPr lang="zh-CN" sz="1700" dirty="0"/>
          </a:p>
        </p:txBody>
      </p:sp>
      <p:sp>
        <p:nvSpPr>
          <p:cNvPr id="29" name="Text 24"/>
          <p:cNvSpPr txBox="1"/>
          <p:nvPr/>
        </p:nvSpPr>
        <p:spPr>
          <a:xfrm>
            <a:off x="8001000" y="11576304"/>
            <a:ext cx="1417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sz="1200" dirty="0">
                <a:solidFill>
                  <a:srgbClr val="D6B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SIL OFL 1.1</a:t>
            </a:r>
            <a:endParaRPr lang="zh-CN" sz="1200" dirty="0"/>
          </a:p>
        </p:txBody>
      </p:sp>
      <p:sp>
        <p:nvSpPr>
          <p:cNvPr id="30" name="Text 25"/>
          <p:cNvSpPr txBox="1"/>
          <p:nvPr/>
        </p:nvSpPr>
        <p:spPr>
          <a:xfrm>
            <a:off x="685800" y="12573000"/>
            <a:ext cx="8915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300" dirty="0">
                <a:solidFill>
                  <a:srgbClr val="6E6A6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字体在 fonts 文件夹，第一次用前先安装。也可换成抖音官方的「抖音美好体」（免费商用）。</a:t>
            </a:r>
            <a:endParaRPr lang="zh-CN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1312164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E6A64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zh-CN"/>
              <a:t>1</a:t>
            </a:fld>
            <a:endParaRPr lang="zh-C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685800"/>
            <a:ext cx="8915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sz="4000" dirty="0">
                <a:solidFill>
                  <a:srgbClr val="FFFFFF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主页效果：统一后的九宫格</a:t>
            </a:r>
            <a:endParaRPr lang="zh-CN" sz="4000" dirty="0"/>
          </a:p>
        </p:txBody>
      </p:sp>
      <p:sp>
        <p:nvSpPr>
          <p:cNvPr id="3" name="说明"/>
          <p:cNvSpPr txBox="1"/>
          <p:nvPr/>
        </p:nvSpPr>
        <p:spPr>
          <a:xfrm>
            <a:off x="685800" y="1572768"/>
            <a:ext cx="8915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9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下图用模板 A 套了 9 块表（照片取自你们发来的截图，仅作示意）。</a:t>
            </a:r>
            <a:endParaRPr lang="zh-CN" sz="1900" dirty="0"/>
          </a:p>
        </p:txBody>
      </p:sp>
      <p:pic>
        <p:nvPicPr>
          <p:cNvPr id="4" name="主页效果图" descr="套用模板 A 后的抖音主页九宫格示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514600"/>
            <a:ext cx="6217920" cy="94450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78040" y="2606040"/>
            <a:ext cx="566928" cy="566928"/>
          </a:xfrm>
          <a:prstGeom prst="ellipse">
            <a:avLst/>
          </a:prstGeom>
          <a:solidFill>
            <a:srgbClr val="D6B3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sz="2200" dirty="0">
                <a:solidFill>
                  <a:srgbClr val="0B0A09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1</a:t>
            </a:r>
            <a:endParaRPr lang="zh-CN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178040" y="331927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2000" dirty="0">
                <a:solidFill>
                  <a:srgbClr val="FFFFFF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大标题要够大</a:t>
            </a:r>
            <a:endParaRPr lang="zh-CN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178040" y="37947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4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型号或昵称用 2–6 个字，缩略图里也能一眼看清。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7178040" y="5029200"/>
            <a:ext cx="566928" cy="566928"/>
          </a:xfrm>
          <a:prstGeom prst="ellipse">
            <a:avLst/>
          </a:prstGeom>
          <a:solidFill>
            <a:srgbClr val="D6B3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sz="2200" dirty="0">
                <a:solidFill>
                  <a:srgbClr val="0B0A09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2</a:t>
            </a:r>
            <a:endParaRPr lang="zh-CN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7178040" y="574243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2000" dirty="0">
                <a:solidFill>
                  <a:srgbClr val="FFFFFF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避开点赞数</a:t>
            </a:r>
            <a:endParaRPr lang="zh-CN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7178040" y="621792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4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主页左下角会被点赞数挡住，模板的文字都在它上面。</a:t>
            </a:r>
            <a:endParaRPr lang="zh-CN" sz="1400" dirty="0"/>
          </a:p>
        </p:txBody>
      </p:sp>
      <p:sp>
        <p:nvSpPr>
          <p:cNvPr id="11" name="Text 8"/>
          <p:cNvSpPr/>
          <p:nvPr/>
        </p:nvSpPr>
        <p:spPr>
          <a:xfrm>
            <a:off x="7178040" y="7452360"/>
            <a:ext cx="566928" cy="566928"/>
          </a:xfrm>
          <a:prstGeom prst="ellipse">
            <a:avLst/>
          </a:prstGeom>
          <a:solidFill>
            <a:srgbClr val="D6B3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sz="2200" dirty="0">
                <a:solidFill>
                  <a:srgbClr val="0B0A09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3</a:t>
            </a:r>
            <a:endParaRPr lang="zh-CN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7178040" y="816559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2000" dirty="0">
                <a:solidFill>
                  <a:srgbClr val="FFFFFF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角度统一</a:t>
            </a:r>
            <a:endParaRPr lang="zh-CN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178040" y="864108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4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每块表同一角度、同一位置拍，主页才整齐。</a:t>
            </a:r>
            <a:endParaRPr lang="zh-CN" sz="1400" dirty="0"/>
          </a:p>
        </p:txBody>
      </p:sp>
      <p:sp>
        <p:nvSpPr>
          <p:cNvPr id="14" name="Text 11"/>
          <p:cNvSpPr/>
          <p:nvPr/>
        </p:nvSpPr>
        <p:spPr>
          <a:xfrm>
            <a:off x="7178040" y="9875520"/>
            <a:ext cx="566928" cy="566928"/>
          </a:xfrm>
          <a:prstGeom prst="ellipse">
            <a:avLst/>
          </a:prstGeom>
          <a:solidFill>
            <a:srgbClr val="D6B3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sz="2200" dirty="0">
                <a:solidFill>
                  <a:srgbClr val="0B0A09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4</a:t>
            </a:r>
            <a:endParaRPr lang="zh-CN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7178040" y="1058875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2000" dirty="0">
                <a:solidFill>
                  <a:srgbClr val="FFFFFF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加期数编号</a:t>
            </a:r>
            <a:endParaRPr lang="zh-CN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7178040" y="1106424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4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NO.023 这类编号让主页像一个系列，粉丝愿意往下翻。</a:t>
            </a:r>
            <a:endParaRPr lang="zh-CN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1312164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E6A64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zh-CN"/>
              <a:t>2</a:t>
            </a:fld>
            <a:endParaRPr lang="zh-C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685800"/>
            <a:ext cx="8915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sz="4000" dirty="0">
                <a:solidFill>
                  <a:srgbClr val="FFFFFF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出一张封面的流程</a:t>
            </a:r>
            <a:endParaRPr lang="zh-CN" sz="4000" dirty="0"/>
          </a:p>
        </p:txBody>
      </p:sp>
      <p:sp>
        <p:nvSpPr>
          <p:cNvPr id="3" name="说明"/>
          <p:cNvSpPr txBox="1"/>
          <p:nvPr/>
        </p:nvSpPr>
        <p:spPr>
          <a:xfrm>
            <a:off x="685800" y="1572768"/>
            <a:ext cx="8915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9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步只做一次，以后每次从第 2 步开始，几分钟一张。</a:t>
            </a:r>
            <a:endParaRPr lang="zh-CN" sz="1900" dirty="0"/>
          </a:p>
        </p:txBody>
      </p:sp>
      <p:sp>
        <p:nvSpPr>
          <p:cNvPr id="4" name="Text 2"/>
          <p:cNvSpPr/>
          <p:nvPr/>
        </p:nvSpPr>
        <p:spPr>
          <a:xfrm>
            <a:off x="685800" y="2532888"/>
            <a:ext cx="566928" cy="566928"/>
          </a:xfrm>
          <a:prstGeom prst="ellipse">
            <a:avLst/>
          </a:prstGeom>
          <a:solidFill>
            <a:srgbClr val="D6B3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sz="2200" dirty="0">
                <a:solidFill>
                  <a:srgbClr val="0B0A09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1</a:t>
            </a:r>
            <a:endParaRPr lang="zh-CN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514600"/>
            <a:ext cx="8092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sz="2200" dirty="0">
                <a:solidFill>
                  <a:srgbClr val="FFFFFF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安装字体（只做一次）</a:t>
            </a:r>
            <a:endParaRPr lang="zh-CN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3063240"/>
            <a:ext cx="8092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sz="15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 fonts 文件夹，双击 4 个字体文件 → 点「安装」（Mac 用「字体册」）。装好后重开 PPT / WPS，否则字体会被替换成默认字体。</a:t>
            </a:r>
            <a:endParaRPr lang="zh-CN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3995928"/>
            <a:ext cx="566928" cy="566928"/>
          </a:xfrm>
          <a:prstGeom prst="ellipse">
            <a:avLst/>
          </a:prstGeom>
          <a:solidFill>
            <a:srgbClr val="D6B3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sz="2200" dirty="0">
                <a:solidFill>
                  <a:srgbClr val="0B0A09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2</a:t>
            </a:r>
            <a:endParaRPr lang="zh-CN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3977640"/>
            <a:ext cx="8092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sz="2200" dirty="0">
                <a:solidFill>
                  <a:srgbClr val="FFFFFF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复制一页模板</a:t>
            </a:r>
            <a:endParaRPr lang="zh-CN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4526280"/>
            <a:ext cx="8092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sz="15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左侧缩略图右键选好的模板页 →「复制幻灯片」，在副本上改，原模板留着下次用。</a:t>
            </a:r>
            <a:endParaRPr lang="zh-CN" sz="1500" dirty="0"/>
          </a:p>
        </p:txBody>
      </p:sp>
      <p:sp>
        <p:nvSpPr>
          <p:cNvPr id="10" name="Text 8"/>
          <p:cNvSpPr/>
          <p:nvPr/>
        </p:nvSpPr>
        <p:spPr>
          <a:xfrm>
            <a:off x="685800" y="5458968"/>
            <a:ext cx="566928" cy="566928"/>
          </a:xfrm>
          <a:prstGeom prst="ellipse">
            <a:avLst/>
          </a:prstGeom>
          <a:solidFill>
            <a:srgbClr val="D6B3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sz="2200" dirty="0">
                <a:solidFill>
                  <a:srgbClr val="0B0A09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3</a:t>
            </a:r>
            <a:endParaRPr lang="zh-CN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5440680"/>
            <a:ext cx="8092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sz="2200" dirty="0">
                <a:solidFill>
                  <a:srgbClr val="FFFFFF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换手表照片</a:t>
            </a:r>
            <a:endParaRPr lang="zh-CN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5989320"/>
            <a:ext cx="8092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sz="15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点表盘位置选中照片 → 右键「更改图片」→ 选新照片。位置不准用「图片格式 → 裁剪」拖动对齐。点不中照片时：开始 → 选择 → 选择窗格，点「手表照片」。</a:t>
            </a:r>
            <a:endParaRPr lang="zh-CN" sz="1500" dirty="0"/>
          </a:p>
        </p:txBody>
      </p:sp>
      <p:sp>
        <p:nvSpPr>
          <p:cNvPr id="13" name="Text 11"/>
          <p:cNvSpPr/>
          <p:nvPr/>
        </p:nvSpPr>
        <p:spPr>
          <a:xfrm>
            <a:off x="685800" y="6922008"/>
            <a:ext cx="566928" cy="566928"/>
          </a:xfrm>
          <a:prstGeom prst="ellipse">
            <a:avLst/>
          </a:prstGeom>
          <a:solidFill>
            <a:srgbClr val="D6B3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sz="2200" dirty="0">
                <a:solidFill>
                  <a:srgbClr val="0B0A09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4</a:t>
            </a:r>
            <a:endParaRPr lang="zh-CN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6903720"/>
            <a:ext cx="8092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sz="2200" dirty="0">
                <a:solidFill>
                  <a:srgbClr val="FFFFFF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对位置（可选）</a:t>
            </a:r>
            <a:endParaRPr lang="zh-CN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7452360"/>
            <a:ext cx="8092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sz="15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在选择窗格里点亮「构图参考线」，把表盘对进圆圈；对好后一定再把它隐藏，否则会被导出。</a:t>
            </a:r>
            <a:endParaRPr lang="zh-CN" sz="1500" dirty="0"/>
          </a:p>
        </p:txBody>
      </p:sp>
      <p:sp>
        <p:nvSpPr>
          <p:cNvPr id="16" name="Text 14"/>
          <p:cNvSpPr/>
          <p:nvPr/>
        </p:nvSpPr>
        <p:spPr>
          <a:xfrm>
            <a:off x="685800" y="8385048"/>
            <a:ext cx="566928" cy="566928"/>
          </a:xfrm>
          <a:prstGeom prst="ellipse">
            <a:avLst/>
          </a:prstGeom>
          <a:solidFill>
            <a:srgbClr val="D6B3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sz="2200" dirty="0">
                <a:solidFill>
                  <a:srgbClr val="0B0A09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5</a:t>
            </a:r>
            <a:endParaRPr lang="zh-CN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8366760"/>
            <a:ext cx="8092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sz="2200" dirty="0">
                <a:solidFill>
                  <a:srgbClr val="FFFFFF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改文字</a:t>
            </a:r>
            <a:endParaRPr lang="zh-CN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8915400"/>
            <a:ext cx="8092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sz="15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点文字直接改店名、期数、品牌、型号、服务项目；型号 2–8 个字最好。</a:t>
            </a:r>
            <a:endParaRPr lang="zh-CN" sz="1500" dirty="0"/>
          </a:p>
        </p:txBody>
      </p:sp>
      <p:sp>
        <p:nvSpPr>
          <p:cNvPr id="19" name="Text 17"/>
          <p:cNvSpPr/>
          <p:nvPr/>
        </p:nvSpPr>
        <p:spPr>
          <a:xfrm>
            <a:off x="685800" y="9848088"/>
            <a:ext cx="566928" cy="566928"/>
          </a:xfrm>
          <a:prstGeom prst="ellipse">
            <a:avLst/>
          </a:prstGeom>
          <a:solidFill>
            <a:srgbClr val="D6B3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sz="2200" dirty="0">
                <a:solidFill>
                  <a:srgbClr val="0B0A09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6</a:t>
            </a:r>
            <a:endParaRPr lang="zh-CN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9829800"/>
            <a:ext cx="8092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sz="2200" dirty="0">
                <a:solidFill>
                  <a:srgbClr val="FFFFFF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导出图片</a:t>
            </a:r>
            <a:endParaRPr lang="zh-CN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508760" y="10378440"/>
            <a:ext cx="8092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sz="15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PowerPoint：文件 → 导出 → 更改文件类型 → PNG → 仅当前幻灯片，得到 1080×1440。</a:t>
            </a:r>
            <a:endParaRPr lang="zh-CN" sz="1500" dirty="0"/>
          </a:p>
          <a:p>
            <a:pPr indent="0" marL="0">
              <a:lnSpc>
                <a:spcPct val="110000"/>
              </a:lnSpc>
              <a:buNone/>
            </a:pPr>
            <a:r>
              <a:rPr lang="zh-CN" sz="15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WPS：文件 → 输出为图片 → 当前页（或 另存为 → PNG）。</a:t>
            </a:r>
            <a:endParaRPr lang="zh-CN" sz="1500" dirty="0"/>
          </a:p>
        </p:txBody>
      </p:sp>
      <p:sp>
        <p:nvSpPr>
          <p:cNvPr id="22" name="Text 20"/>
          <p:cNvSpPr/>
          <p:nvPr/>
        </p:nvSpPr>
        <p:spPr>
          <a:xfrm>
            <a:off x="685800" y="11311128"/>
            <a:ext cx="566928" cy="566928"/>
          </a:xfrm>
          <a:prstGeom prst="ellipse">
            <a:avLst/>
          </a:prstGeom>
          <a:solidFill>
            <a:srgbClr val="D6B3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sz="2200" dirty="0">
                <a:solidFill>
                  <a:srgbClr val="0B0A09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7</a:t>
            </a:r>
            <a:endParaRPr lang="zh-CN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1508760" y="11292840"/>
            <a:ext cx="8092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sz="2200" dirty="0">
                <a:solidFill>
                  <a:srgbClr val="FFFFFF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发抖音时设为封面</a:t>
            </a:r>
            <a:endParaRPr lang="zh-CN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1508760" y="11841480"/>
            <a:ext cx="8092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sz="15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发布页点「选封面」→ 从相册上传这张图，主页九宫格显示的就是它。</a:t>
            </a:r>
            <a:endParaRPr lang="zh-CN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1312164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E6A64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zh-CN"/>
              <a:t>3</a:t>
            </a:fld>
            <a:endParaRPr lang="zh-C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685800"/>
            <a:ext cx="8915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sz="4000" dirty="0">
                <a:solidFill>
                  <a:srgbClr val="FFFFFF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拍摄规范：以后都按这个角度拍</a:t>
            </a:r>
            <a:endParaRPr lang="zh-CN" sz="4000" dirty="0"/>
          </a:p>
        </p:txBody>
      </p:sp>
      <p:sp>
        <p:nvSpPr>
          <p:cNvPr id="3" name="说明"/>
          <p:cNvSpPr txBox="1"/>
          <p:nvPr/>
        </p:nvSpPr>
        <p:spPr>
          <a:xfrm>
            <a:off x="685800" y="1572768"/>
            <a:ext cx="8915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9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在你们现在的拍法（黑背景、表立起来、侧转露出表冠）基础上定成标准，每块表都一样。</a:t>
            </a:r>
            <a:endParaRPr lang="zh-CN" sz="1900" dirty="0"/>
          </a:p>
        </p:txBody>
      </p:sp>
      <p:pic>
        <p:nvPicPr>
          <p:cNvPr id="4" name="构图示意" descr="标准构图：表盘在青色圆圈内，虚线以下为文字区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514600"/>
            <a:ext cx="4206240" cy="5608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818388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2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青色圆圈 = 表盘位置；虚线以下 = 文字区；红色 = 会被抖音界面挡住</a:t>
            </a:r>
            <a:endParaRPr lang="zh-CN" sz="1200" dirty="0"/>
          </a:p>
        </p:txBody>
      </p:sp>
      <p:sp>
        <p:nvSpPr>
          <p:cNvPr id="6" name="Shape 3"/>
          <p:cNvSpPr/>
          <p:nvPr/>
        </p:nvSpPr>
        <p:spPr>
          <a:xfrm>
            <a:off x="5166360" y="2514600"/>
            <a:ext cx="4434840" cy="2743200"/>
          </a:xfrm>
          <a:prstGeom prst="roundRect">
            <a:avLst>
              <a:gd name="adj" fmla="val 3333"/>
            </a:avLst>
          </a:prstGeom>
          <a:solidFill>
            <a:srgbClr val="1C1C20"/>
          </a:solidFill>
          <a:ln/>
        </p:spPr>
      </p:sp>
      <p:pic>
        <p:nvPicPr>
          <p:cNvPr id="7" name="俯视图" descr="俯视图：表盘向左转约 25 度，手机正对表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560320"/>
            <a:ext cx="4692316" cy="26517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166360" y="5440680"/>
            <a:ext cx="4434840" cy="2743200"/>
          </a:xfrm>
          <a:prstGeom prst="roundRect">
            <a:avLst>
              <a:gd name="adj" fmla="val 3333"/>
            </a:avLst>
          </a:prstGeom>
          <a:solidFill>
            <a:srgbClr val="1C1C20"/>
          </a:solidFill>
          <a:ln/>
        </p:spPr>
      </p:sp>
      <p:pic>
        <p:nvPicPr>
          <p:cNvPr id="9" name="侧视图" descr="侧视图：镜头略高于表盘中心 5 到 10 度，距离 20 到 30 厘米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5486400"/>
            <a:ext cx="4692316" cy="26517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85800" y="886968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800" dirty="0">
                <a:solidFill>
                  <a:srgbClr val="D6B36E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背景</a:t>
            </a:r>
            <a:endParaRPr lang="zh-CN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1463040" y="886968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350" dirty="0">
                <a:solidFill>
                  <a:srgbClr val="F6F1E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黑色植绒布（吸光布），表离背景 30 cm 以上，背景才够黑。</a:t>
            </a:r>
            <a:endParaRPr lang="zh-CN" sz="1350" dirty="0"/>
          </a:p>
        </p:txBody>
      </p:sp>
      <p:sp>
        <p:nvSpPr>
          <p:cNvPr id="12" name="Text 7"/>
          <p:cNvSpPr txBox="1"/>
          <p:nvPr/>
        </p:nvSpPr>
        <p:spPr>
          <a:xfrm>
            <a:off x="5257800" y="886968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800" dirty="0">
                <a:solidFill>
                  <a:srgbClr val="D6B36E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摆放</a:t>
            </a:r>
            <a:endParaRPr lang="zh-CN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6035040" y="886968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350" dirty="0">
                <a:solidFill>
                  <a:srgbClr val="F6F1E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表立在表枕或支架上，表盘正面朝镜头。</a:t>
            </a:r>
            <a:endParaRPr lang="zh-CN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987552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800" dirty="0">
                <a:solidFill>
                  <a:srgbClr val="D6B36E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角度</a:t>
            </a:r>
            <a:endParaRPr lang="zh-CN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1463040" y="987552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350" dirty="0">
                <a:solidFill>
                  <a:srgbClr val="F6F1E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表盘向左转约 25°，露出右侧表冠和表壳侧面。</a:t>
            </a:r>
            <a:endParaRPr lang="zh-CN" sz="1350" dirty="0"/>
          </a:p>
        </p:txBody>
      </p:sp>
      <p:sp>
        <p:nvSpPr>
          <p:cNvPr id="16" name="Text 11"/>
          <p:cNvSpPr txBox="1"/>
          <p:nvPr/>
        </p:nvSpPr>
        <p:spPr>
          <a:xfrm>
            <a:off x="5257800" y="987552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800" dirty="0">
                <a:solidFill>
                  <a:srgbClr val="D6B36E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高度</a:t>
            </a:r>
            <a:endParaRPr lang="zh-CN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035040" y="987552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350" dirty="0">
                <a:solidFill>
                  <a:srgbClr val="F6F1E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镜头与表盘中心同高或略高 5–10°，不要从正上方俯拍。</a:t>
            </a:r>
            <a:endParaRPr lang="zh-CN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685800" y="1088136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800" dirty="0">
                <a:solidFill>
                  <a:srgbClr val="D6B36E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构图</a:t>
            </a:r>
            <a:endParaRPr lang="zh-CN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1463040" y="1088136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350" dirty="0">
                <a:solidFill>
                  <a:srgbClr val="F6F1E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手机竖拍 3:4，表盘在画面上半部、约占宽度一半，下半部留给文字。</a:t>
            </a:r>
            <a:endParaRPr lang="zh-CN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5257800" y="1088136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800" dirty="0">
                <a:solidFill>
                  <a:srgbClr val="D6B36E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镜头</a:t>
            </a:r>
            <a:endParaRPr lang="zh-CN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6035040" y="1088136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350" dirty="0">
                <a:solidFill>
                  <a:srgbClr val="F6F1E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2× 长焦，距离 20–30 cm，表盘不变形。</a:t>
            </a:r>
            <a:endParaRPr lang="zh-CN" sz="1350" dirty="0"/>
          </a:p>
        </p:txBody>
      </p:sp>
      <p:sp>
        <p:nvSpPr>
          <p:cNvPr id="22" name="Text 17"/>
          <p:cNvSpPr txBox="1"/>
          <p:nvPr/>
        </p:nvSpPr>
        <p:spPr>
          <a:xfrm>
            <a:off x="685800" y="1188720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800" dirty="0">
                <a:solidFill>
                  <a:srgbClr val="D6B36E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光线</a:t>
            </a:r>
            <a:endParaRPr lang="zh-CN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1463040" y="118872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350" dirty="0">
                <a:solidFill>
                  <a:srgbClr val="F6F1E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一盏柔光灯从左上 45° 打光，右侧放白卡或灯条给表壳边缘补高光，关掉顶灯防反光。</a:t>
            </a:r>
            <a:endParaRPr lang="zh-CN" sz="1350" dirty="0"/>
          </a:p>
        </p:txBody>
      </p:sp>
      <p:sp>
        <p:nvSpPr>
          <p:cNvPr id="24" name="Text 19"/>
          <p:cNvSpPr txBox="1"/>
          <p:nvPr/>
        </p:nvSpPr>
        <p:spPr>
          <a:xfrm>
            <a:off x="5257800" y="1188720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800" dirty="0">
                <a:solidFill>
                  <a:srgbClr val="D6B36E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细节</a:t>
            </a:r>
            <a:endParaRPr lang="zh-CN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6035040" y="118872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350" dirty="0">
                <a:solidFill>
                  <a:srgbClr val="F6F1E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表镜擦干净、指针调到 10:10、点表盘对焦，曝光略降让背景纯黑。</a:t>
            </a:r>
            <a:endParaRPr lang="zh-CN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1312164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E6A64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zh-CN"/>
              <a:t>4</a:t>
            </a:fld>
            <a:endParaRPr lang="zh-C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手表照片（右键→更改图片）" descr="手表照片">    </p:cNvPr>
          <p:cNvPicPr>
            <a:picLocks noChangeAspect="1"/>
          </p:cNvPicPr>
          <p:nvPr>
            <p:ph idx="100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遮罩（勿删）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3238500"/>
          </a:xfrm>
          <a:prstGeom prst="rect">
            <a:avLst/>
          </a:prstGeom>
        </p:spPr>
      </p:pic>
      <p:pic>
        <p:nvPicPr>
          <p:cNvPr id="4" name="遮罩（勿删）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38500"/>
            <a:ext cx="2857500" cy="4000500"/>
          </a:xfrm>
          <a:prstGeom prst="rect">
            <a:avLst/>
          </a:prstGeom>
        </p:spPr>
      </p:pic>
      <p:pic>
        <p:nvPicPr>
          <p:cNvPr id="5" name="遮罩（勿删）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9500" y="3238500"/>
            <a:ext cx="2857500" cy="4000500"/>
          </a:xfrm>
          <a:prstGeom prst="rect">
            <a:avLst/>
          </a:prstGeom>
        </p:spPr>
      </p:pic>
      <p:pic>
        <p:nvPicPr>
          <p:cNvPr id="6" name="遮罩（勿删）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7239000"/>
            <a:ext cx="10287000" cy="6477000"/>
          </a:xfrm>
          <a:prstGeom prst="rect">
            <a:avLst/>
          </a:prstGeom>
        </p:spPr>
      </p:pic>
      <p:pic>
        <p:nvPicPr>
          <p:cNvPr id="7" name="构图参考线（导出前隐藏）" hidden="1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8" name="店名"/>
          <p:cNvSpPr txBox="1"/>
          <p:nvPr/>
        </p:nvSpPr>
        <p:spPr>
          <a:xfrm>
            <a:off x="2762250" y="495300"/>
            <a:ext cx="4762500" cy="57150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25400" dir="5400000">
              <a:srgbClr val="000000">
                <a:alpha val="6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sz="2550" spc="200" kern="0" dirty="0">
                <a:solidFill>
                  <a:srgbClr val="F6F1E7"/>
                </a:solidFill>
                <a:latin typeface="Noto Serif SC Black" pitchFamily="34" charset="0"/>
                <a:ea typeface="Noto Serif SC Black" pitchFamily="34" charset="-122"/>
                <a:cs typeface="Noto Serif SC Black" pitchFamily="34" charset="-120"/>
              </a:rPr>
              <a:t>XX名表维修</a:t>
            </a:r>
            <a:endParaRPr lang="zh-CN" sz="2550" dirty="0"/>
          </a:p>
        </p:txBody>
      </p:sp>
      <p:sp>
        <p:nvSpPr>
          <p:cNvPr id="9" name="期数"/>
          <p:cNvSpPr txBox="1"/>
          <p:nvPr/>
        </p:nvSpPr>
        <p:spPr>
          <a:xfrm>
            <a:off x="7581900" y="476250"/>
            <a:ext cx="2095500" cy="60960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25400" dir="5400000">
              <a:srgbClr val="000000">
                <a:alpha val="6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sz="3300" b="1" dirty="0">
                <a:solidFill>
                  <a:srgbClr val="D6B36E"/>
                </a:solidFill>
                <a:latin typeface="Cinzel" pitchFamily="34" charset="0"/>
                <a:ea typeface="Noto Serif SC Black" pitchFamily="34" charset="-122"/>
                <a:cs typeface="Cinzel" pitchFamily="34" charset="-120"/>
              </a:rPr>
              <a:t>NO.023</a:t>
            </a:r>
            <a:endParaRPr lang="zh-CN" sz="3300" dirty="0"/>
          </a:p>
        </p:txBody>
      </p:sp>
      <p:sp>
        <p:nvSpPr>
          <p:cNvPr id="10" name="品牌"/>
          <p:cNvSpPr txBox="1"/>
          <p:nvPr/>
        </p:nvSpPr>
        <p:spPr>
          <a:xfrm>
            <a:off x="571500" y="8343900"/>
            <a:ext cx="9144000" cy="68580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5400000">
              <a:srgbClr val="000000">
                <a:alpha val="65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CN" sz="3300" b="1" spc="600" kern="0" dirty="0">
                <a:solidFill>
                  <a:srgbClr val="D6B36E"/>
                </a:solidFill>
                <a:latin typeface="Cinzel" pitchFamily="34" charset="0"/>
                <a:ea typeface="Noto Serif SC Black" pitchFamily="34" charset="-122"/>
                <a:cs typeface="Cinzel" pitchFamily="34" charset="-120"/>
              </a:rPr>
              <a:t>OMEGA · 欧米茄</a:t>
            </a:r>
            <a:endParaRPr lang="zh-CN" sz="3300" dirty="0"/>
          </a:p>
        </p:txBody>
      </p:sp>
      <p:sp>
        <p:nvSpPr>
          <p:cNvPr id="11" name="主标题（型号）"/>
          <p:cNvSpPr txBox="1"/>
          <p:nvPr/>
        </p:nvSpPr>
        <p:spPr>
          <a:xfrm>
            <a:off x="285750" y="9029700"/>
            <a:ext cx="9715500" cy="209550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63500" dir="5400000">
              <a:srgbClr val="000000">
                <a:alpha val="75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CN" sz="12300" dirty="0">
                <a:gradFill flip="none" rotWithShape="1">
                  <a:gsLst>
                    <a:gs pos="0">
                      <a:srgbClr val="FFF3D6"/>
                    </a:gs>
                    <a:gs pos="50000">
                      <a:srgbClr val="E6C47E"/>
                    </a:gs>
                    <a:gs pos="100000">
                      <a:srgbClr val="B38842"/>
                    </a:gs>
                  </a:gsLst>
                  <a:lin ang="5400000" scaled="1"/>
                </a:gradFill>
                <a:latin typeface="Noto Serif SC Black" pitchFamily="34" charset="0"/>
                <a:ea typeface="Noto Serif SC Black" pitchFamily="34" charset="-122"/>
                <a:cs typeface="Noto Serif SC Black" pitchFamily="34" charset="-120"/>
              </a:rPr>
              <a:t>海马150 GMT</a:t>
            </a:r>
            <a:endParaRPr lang="zh-CN" sz="12300" dirty="0"/>
          </a:p>
        </p:txBody>
      </p:sp>
      <p:sp>
        <p:nvSpPr>
          <p:cNvPr id="12" name="服务项目"/>
          <p:cNvSpPr/>
          <p:nvPr/>
        </p:nvSpPr>
        <p:spPr>
          <a:xfrm>
            <a:off x="1619250" y="11258550"/>
            <a:ext cx="7048500" cy="800100"/>
          </a:xfrm>
          <a:prstGeom prst="rect">
            <a:avLst/>
          </a:prstGeom>
          <a:solidFill>
            <a:srgbClr val="000000">
              <a:alpha val="45000"/>
            </a:srgbClr>
          </a:solidFill>
          <a:ln w="19050">
            <a:solidFill>
              <a:srgbClr val="D6B36E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CN" sz="3450" spc="300" kern="0" dirty="0">
                <a:solidFill>
                  <a:srgbClr val="F6F1E7"/>
                </a:solidFill>
                <a:latin typeface="Noto Serif SC Black" pitchFamily="34" charset="0"/>
                <a:ea typeface="Noto Serif SC Black" pitchFamily="34" charset="-122"/>
                <a:cs typeface="Noto Serif SC Black" pitchFamily="34" charset="-120"/>
              </a:rPr>
              <a:t>洗油大保养 · 外观修复</a:t>
            </a:r>
            <a:endParaRPr lang="zh-CN" sz="3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手表照片（右键→更改图片）" descr="手表照片">    </p:cNvPr>
          <p:cNvPicPr>
            <a:picLocks noChangeAspect="1"/>
          </p:cNvPicPr>
          <p:nvPr>
            <p:ph idx="100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遮罩（勿删）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3238500"/>
          </a:xfrm>
          <a:prstGeom prst="rect">
            <a:avLst/>
          </a:prstGeom>
        </p:spPr>
      </p:pic>
      <p:pic>
        <p:nvPicPr>
          <p:cNvPr id="4" name="遮罩（勿删）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38500"/>
            <a:ext cx="2857500" cy="4000500"/>
          </a:xfrm>
          <a:prstGeom prst="rect">
            <a:avLst/>
          </a:prstGeom>
        </p:spPr>
      </p:pic>
      <p:pic>
        <p:nvPicPr>
          <p:cNvPr id="5" name="遮罩（勿删）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9500" y="3238500"/>
            <a:ext cx="2857500" cy="4000500"/>
          </a:xfrm>
          <a:prstGeom prst="rect">
            <a:avLst/>
          </a:prstGeom>
        </p:spPr>
      </p:pic>
      <p:pic>
        <p:nvPicPr>
          <p:cNvPr id="6" name="遮罩（勿删）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7239000"/>
            <a:ext cx="10287000" cy="6477000"/>
          </a:xfrm>
          <a:prstGeom prst="rect">
            <a:avLst/>
          </a:prstGeom>
        </p:spPr>
      </p:pic>
      <p:pic>
        <p:nvPicPr>
          <p:cNvPr id="7" name="构图参考线（导出前隐藏）" hidden="1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8" name="期数"/>
          <p:cNvSpPr/>
          <p:nvPr/>
        </p:nvSpPr>
        <p:spPr>
          <a:xfrm>
            <a:off x="7734300" y="476250"/>
            <a:ext cx="2019300" cy="704850"/>
          </a:xfrm>
          <a:prstGeom prst="rect">
            <a:avLst/>
          </a:prstGeom>
          <a:solidFill>
            <a:srgbClr val="FFD60A"/>
          </a:solidFill>
          <a:ln/>
        </p:spPr>
        <p:txBody>
          <a:bodyPr wrap="none" lIns="0" tIns="101600" rIns="101600" bIns="0" rtlCol="0" anchor="ctr">
            <a:spAutoFit/>
          </a:bodyPr>
          <a:lstStyle/>
          <a:p>
            <a:pPr algn="r" indent="0" marL="0">
              <a:buNone/>
            </a:pPr>
            <a:r>
              <a:rPr lang="zh-CN" sz="3000" dirty="0">
                <a:solidFill>
                  <a:srgbClr val="0B0A09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第023期</a:t>
            </a:r>
            <a:endParaRPr lang="zh-CN" sz="3000" dirty="0"/>
          </a:p>
        </p:txBody>
      </p:sp>
      <p:sp>
        <p:nvSpPr>
          <p:cNvPr id="9" name="店名"/>
          <p:cNvSpPr txBox="1"/>
          <p:nvPr/>
        </p:nvSpPr>
        <p:spPr>
          <a:xfrm>
            <a:off x="2762250" y="542925"/>
            <a:ext cx="4762500" cy="57150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25400" dir="5400000">
              <a:srgbClr val="000000">
                <a:alpha val="6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sz="2550" dirty="0">
                <a:solidFill>
                  <a:srgbClr val="FFFFFF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XX名表维修</a:t>
            </a:r>
            <a:endParaRPr lang="zh-CN" sz="2550" dirty="0"/>
          </a:p>
        </p:txBody>
      </p:sp>
      <p:sp>
        <p:nvSpPr>
          <p:cNvPr id="10" name="品牌"/>
          <p:cNvSpPr txBox="1"/>
          <p:nvPr/>
        </p:nvSpPr>
        <p:spPr>
          <a:xfrm>
            <a:off x="609600" y="8286750"/>
            <a:ext cx="9048750" cy="76200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5400000">
              <a:srgbClr val="000000">
                <a:alpha val="65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zh-CN" sz="4200" dirty="0">
                <a:solidFill>
                  <a:srgbClr val="FFFFFF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OMEGA 欧米茄</a:t>
            </a:r>
            <a:endParaRPr lang="zh-CN" sz="4200" dirty="0"/>
          </a:p>
        </p:txBody>
      </p:sp>
      <p:sp>
        <p:nvSpPr>
          <p:cNvPr id="11" name="主标题（型号）"/>
          <p:cNvSpPr txBox="1"/>
          <p:nvPr/>
        </p:nvSpPr>
        <p:spPr>
          <a:xfrm>
            <a:off x="533400" y="8991600"/>
            <a:ext cx="9334500" cy="215265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101600" dir="5400000">
              <a:srgbClr val="000000">
                <a:alpha val="90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zh-CN" sz="12600" dirty="0">
                <a:ln w="38100">
                  <a:solidFill>
                    <a:srgbClr val="000000"/>
                  </a:solidFill>
                </a:ln>
                <a:solidFill>
                  <a:srgbClr val="FFD60A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海马150 GMT</a:t>
            </a:r>
            <a:endParaRPr lang="zh-CN" sz="12600" dirty="0"/>
          </a:p>
        </p:txBody>
      </p:sp>
      <p:sp>
        <p:nvSpPr>
          <p:cNvPr id="12" name="服务项目"/>
          <p:cNvSpPr/>
          <p:nvPr/>
        </p:nvSpPr>
        <p:spPr>
          <a:xfrm>
            <a:off x="609600" y="11277600"/>
            <a:ext cx="6096000" cy="800100"/>
          </a:xfrm>
          <a:prstGeom prst="rect">
            <a:avLst/>
          </a:prstGeom>
          <a:solidFill>
            <a:srgbClr val="FFD60A"/>
          </a:solidFill>
          <a:ln/>
        </p:spPr>
        <p:txBody>
          <a:bodyPr wrap="none" lIns="0" tIns="127000" rIns="127000" bIns="0" rtlCol="0" anchor="ctr">
            <a:spAutoFit/>
          </a:bodyPr>
          <a:lstStyle/>
          <a:p>
            <a:pPr algn="ctr" indent="0" marL="0">
              <a:buNone/>
            </a:pPr>
            <a:r>
              <a:rPr lang="zh-CN" sz="3750" dirty="0">
                <a:solidFill>
                  <a:srgbClr val="0B0A09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洗油大保养 + 外观修复</a:t>
            </a:r>
            <a:endParaRPr lang="zh-CN" sz="3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手表照片（右键→更改图片）" descr="手表照片">    </p:cNvPr>
          <p:cNvPicPr>
            <a:picLocks noChangeAspect="1"/>
          </p:cNvPicPr>
          <p:nvPr>
            <p:ph idx="100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遮罩（勿删）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3238500"/>
          </a:xfrm>
          <a:prstGeom prst="rect">
            <a:avLst/>
          </a:prstGeom>
        </p:spPr>
      </p:pic>
      <p:pic>
        <p:nvPicPr>
          <p:cNvPr id="4" name="遮罩（勿删）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38500"/>
            <a:ext cx="2857500" cy="4000500"/>
          </a:xfrm>
          <a:prstGeom prst="rect">
            <a:avLst/>
          </a:prstGeom>
        </p:spPr>
      </p:pic>
      <p:pic>
        <p:nvPicPr>
          <p:cNvPr id="5" name="遮罩（勿删）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9500" y="3238500"/>
            <a:ext cx="2857500" cy="4000500"/>
          </a:xfrm>
          <a:prstGeom prst="rect">
            <a:avLst/>
          </a:prstGeom>
        </p:spPr>
      </p:pic>
      <p:pic>
        <p:nvPicPr>
          <p:cNvPr id="6" name="遮罩（勿删）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7239000"/>
            <a:ext cx="10287000" cy="6477000"/>
          </a:xfrm>
          <a:prstGeom prst="rect">
            <a:avLst/>
          </a:prstGeom>
        </p:spPr>
      </p:pic>
      <p:pic>
        <p:nvPicPr>
          <p:cNvPr id="7" name="构图参考线（导出前隐藏）" hidden="1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8" name="店名"/>
          <p:cNvSpPr txBox="1"/>
          <p:nvPr/>
        </p:nvSpPr>
        <p:spPr>
          <a:xfrm>
            <a:off x="2762250" y="495300"/>
            <a:ext cx="4762500" cy="60960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25400" dir="5400000">
              <a:srgbClr val="000000">
                <a:alpha val="6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sz="3150" dirty="0">
                <a:solidFill>
                  <a:srgbClr val="FFFFFF"/>
                </a:solidFill>
                <a:latin typeface="Smiley Sans Oblique" pitchFamily="34" charset="0"/>
                <a:ea typeface="Smiley Sans Oblique" pitchFamily="34" charset="-122"/>
                <a:cs typeface="Smiley Sans Oblique" pitchFamily="34" charset="-120"/>
              </a:rPr>
              <a:t>XX名表维修</a:t>
            </a:r>
            <a:endParaRPr lang="zh-CN" sz="3150" dirty="0"/>
          </a:p>
        </p:txBody>
      </p:sp>
      <p:sp>
        <p:nvSpPr>
          <p:cNvPr id="9" name="期数"/>
          <p:cNvSpPr txBox="1"/>
          <p:nvPr/>
        </p:nvSpPr>
        <p:spPr>
          <a:xfrm>
            <a:off x="7581900" y="419100"/>
            <a:ext cx="2133600" cy="76200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25400" dir="5400000">
              <a:srgbClr val="000000">
                <a:alpha val="6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sz="5100" dirty="0">
                <a:solidFill>
                  <a:srgbClr val="E9C77B"/>
                </a:solidFill>
                <a:latin typeface="Smiley Sans Oblique" pitchFamily="34" charset="0"/>
                <a:ea typeface="Smiley Sans Oblique" pitchFamily="34" charset="-122"/>
                <a:cs typeface="Smiley Sans Oblique" pitchFamily="34" charset="-120"/>
              </a:rPr>
              <a:t>NO.023</a:t>
            </a:r>
            <a:endParaRPr lang="zh-CN" sz="5100" dirty="0"/>
          </a:p>
        </p:txBody>
      </p:sp>
      <p:sp>
        <p:nvSpPr>
          <p:cNvPr id="10" name="斜带（服务项目）"/>
          <p:cNvSpPr/>
          <p:nvPr/>
        </p:nvSpPr>
        <p:spPr>
          <a:xfrm rot="-540000">
            <a:off x="-2000250" y="7239000"/>
            <a:ext cx="14287500" cy="990600"/>
          </a:xfrm>
          <a:prstGeom prst="rect">
            <a:avLst/>
          </a:prstGeom>
          <a:solidFill>
            <a:srgbClr val="E9C77B"/>
          </a:solidFill>
          <a:ln/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sz="4650" spc="400" kern="0" dirty="0">
                <a:solidFill>
                  <a:srgbClr val="1A1408"/>
                </a:solidFill>
                <a:latin typeface="Smiley Sans Oblique" pitchFamily="34" charset="0"/>
                <a:ea typeface="Smiley Sans Oblique" pitchFamily="34" charset="-122"/>
                <a:cs typeface="Smiley Sans Oblique" pitchFamily="34" charset="-120"/>
              </a:rPr>
              <a:t>洗油大保养 · 外观修复</a:t>
            </a:r>
            <a:endParaRPr lang="zh-CN" sz="4650" dirty="0"/>
          </a:p>
        </p:txBody>
      </p:sp>
      <p:sp>
        <p:nvSpPr>
          <p:cNvPr id="11" name="主标题（型号）"/>
          <p:cNvSpPr txBox="1"/>
          <p:nvPr/>
        </p:nvSpPr>
        <p:spPr>
          <a:xfrm>
            <a:off x="533400" y="9124950"/>
            <a:ext cx="9334500" cy="203835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63500" dir="5400000">
              <a:srgbClr val="000000">
                <a:alpha val="80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zh-CN" sz="13800" dirty="0">
                <a:solidFill>
                  <a:srgbClr val="FFFFFF"/>
                </a:solidFill>
                <a:latin typeface="Smiley Sans Oblique" pitchFamily="34" charset="0"/>
                <a:ea typeface="Smiley Sans Oblique" pitchFamily="34" charset="-122"/>
                <a:cs typeface="Smiley Sans Oblique" pitchFamily="34" charset="-120"/>
              </a:rPr>
              <a:t>海马150 GMT</a:t>
            </a:r>
            <a:endParaRPr lang="zh-CN" sz="13800" dirty="0"/>
          </a:p>
        </p:txBody>
      </p:sp>
      <p:sp>
        <p:nvSpPr>
          <p:cNvPr id="12" name="品牌"/>
          <p:cNvSpPr txBox="1"/>
          <p:nvPr/>
        </p:nvSpPr>
        <p:spPr>
          <a:xfrm>
            <a:off x="609600" y="11163300"/>
            <a:ext cx="9048750" cy="76200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5400000">
              <a:srgbClr val="000000">
                <a:alpha val="65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zh-CN" sz="4350" dirty="0">
                <a:solidFill>
                  <a:srgbClr val="E9C77B"/>
                </a:solidFill>
                <a:latin typeface="Smiley Sans Oblique" pitchFamily="34" charset="0"/>
                <a:ea typeface="Smiley Sans Oblique" pitchFamily="34" charset="-122"/>
                <a:cs typeface="Smiley Sans Oblique" pitchFamily="34" charset="-120"/>
              </a:rPr>
              <a:t>OMEGA 欧米茄</a:t>
            </a:r>
            <a:endParaRPr lang="zh-CN" sz="4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SC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抖音封面模板 · 名表维修</dc:title>
  <dc:subject>PptxGenJS Presentation</dc:subject>
  <dc:creator>PptxGenJS</dc:creator>
  <cp:lastModifiedBy>PptxGenJS</cp:lastModifiedBy>
  <cp:revision>1</cp:revision>
  <dcterms:created xsi:type="dcterms:W3CDTF">2026-10-23T14:54:22Z</dcterms:created>
  <dcterms:modified xsi:type="dcterms:W3CDTF">2026-10-23T14:54:22Z</dcterms:modified>
</cp:coreProperties>
</file>